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1" baseline="0" cap="none" i="0" spc="0" strike="noStrike" sz="2500" u="none" kumimoji="0" normalizeH="0">
        <a:ln>
          <a:noFill/>
        </a:ln>
        <a:solidFill>
          <a:srgbClr val="0F172A"/>
        </a:solidFill>
        <a:effectLst/>
        <a:uFillTx/>
        <a:latin typeface="+mj-lt"/>
        <a:ea typeface="+mj-ea"/>
        <a:cs typeface="+mj-cs"/>
        <a:sym typeface="Aptos"/>
      </a:defRPr>
    </a:lvl1pPr>
    <a:lvl2pPr marL="0" marR="0" indent="457200" algn="l" defTabSz="914400" rtl="0" fontAlgn="auto" latinLnBrk="0" hangingPunct="0">
      <a:lnSpc>
        <a:spcPct val="100000"/>
      </a:lnSpc>
      <a:spcBef>
        <a:spcPts val="0"/>
      </a:spcBef>
      <a:spcAft>
        <a:spcPts val="0"/>
      </a:spcAft>
      <a:buClrTx/>
      <a:buSzTx/>
      <a:buFontTx/>
      <a:buNone/>
      <a:tabLst/>
      <a:defRPr b="1" baseline="0" cap="none" i="0" spc="0" strike="noStrike" sz="2500" u="none" kumimoji="0" normalizeH="0">
        <a:ln>
          <a:noFill/>
        </a:ln>
        <a:solidFill>
          <a:srgbClr val="0F172A"/>
        </a:solidFill>
        <a:effectLst/>
        <a:uFillTx/>
        <a:latin typeface="+mj-lt"/>
        <a:ea typeface="+mj-ea"/>
        <a:cs typeface="+mj-cs"/>
        <a:sym typeface="Aptos"/>
      </a:defRPr>
    </a:lvl2pPr>
    <a:lvl3pPr marL="0" marR="0" indent="914400" algn="l" defTabSz="914400" rtl="0" fontAlgn="auto" latinLnBrk="0" hangingPunct="0">
      <a:lnSpc>
        <a:spcPct val="100000"/>
      </a:lnSpc>
      <a:spcBef>
        <a:spcPts val="0"/>
      </a:spcBef>
      <a:spcAft>
        <a:spcPts val="0"/>
      </a:spcAft>
      <a:buClrTx/>
      <a:buSzTx/>
      <a:buFontTx/>
      <a:buNone/>
      <a:tabLst/>
      <a:defRPr b="1" baseline="0" cap="none" i="0" spc="0" strike="noStrike" sz="2500" u="none" kumimoji="0" normalizeH="0">
        <a:ln>
          <a:noFill/>
        </a:ln>
        <a:solidFill>
          <a:srgbClr val="0F172A"/>
        </a:solidFill>
        <a:effectLst/>
        <a:uFillTx/>
        <a:latin typeface="+mj-lt"/>
        <a:ea typeface="+mj-ea"/>
        <a:cs typeface="+mj-cs"/>
        <a:sym typeface="Aptos"/>
      </a:defRPr>
    </a:lvl3pPr>
    <a:lvl4pPr marL="0" marR="0" indent="1371600" algn="l" defTabSz="914400" rtl="0" fontAlgn="auto" latinLnBrk="0" hangingPunct="0">
      <a:lnSpc>
        <a:spcPct val="100000"/>
      </a:lnSpc>
      <a:spcBef>
        <a:spcPts val="0"/>
      </a:spcBef>
      <a:spcAft>
        <a:spcPts val="0"/>
      </a:spcAft>
      <a:buClrTx/>
      <a:buSzTx/>
      <a:buFontTx/>
      <a:buNone/>
      <a:tabLst/>
      <a:defRPr b="1" baseline="0" cap="none" i="0" spc="0" strike="noStrike" sz="2500" u="none" kumimoji="0" normalizeH="0">
        <a:ln>
          <a:noFill/>
        </a:ln>
        <a:solidFill>
          <a:srgbClr val="0F172A"/>
        </a:solidFill>
        <a:effectLst/>
        <a:uFillTx/>
        <a:latin typeface="+mj-lt"/>
        <a:ea typeface="+mj-ea"/>
        <a:cs typeface="+mj-cs"/>
        <a:sym typeface="Aptos"/>
      </a:defRPr>
    </a:lvl4pPr>
    <a:lvl5pPr marL="0" marR="0" indent="1828800" algn="l" defTabSz="914400" rtl="0" fontAlgn="auto" latinLnBrk="0" hangingPunct="0">
      <a:lnSpc>
        <a:spcPct val="100000"/>
      </a:lnSpc>
      <a:spcBef>
        <a:spcPts val="0"/>
      </a:spcBef>
      <a:spcAft>
        <a:spcPts val="0"/>
      </a:spcAft>
      <a:buClrTx/>
      <a:buSzTx/>
      <a:buFontTx/>
      <a:buNone/>
      <a:tabLst/>
      <a:defRPr b="1" baseline="0" cap="none" i="0" spc="0" strike="noStrike" sz="2500" u="none" kumimoji="0" normalizeH="0">
        <a:ln>
          <a:noFill/>
        </a:ln>
        <a:solidFill>
          <a:srgbClr val="0F172A"/>
        </a:solidFill>
        <a:effectLst/>
        <a:uFillTx/>
        <a:latin typeface="+mj-lt"/>
        <a:ea typeface="+mj-ea"/>
        <a:cs typeface="+mj-cs"/>
        <a:sym typeface="Aptos"/>
      </a:defRPr>
    </a:lvl5pPr>
    <a:lvl6pPr marL="0" marR="0" indent="2286000" algn="l" defTabSz="914400" rtl="0" fontAlgn="auto" latinLnBrk="0" hangingPunct="0">
      <a:lnSpc>
        <a:spcPct val="100000"/>
      </a:lnSpc>
      <a:spcBef>
        <a:spcPts val="0"/>
      </a:spcBef>
      <a:spcAft>
        <a:spcPts val="0"/>
      </a:spcAft>
      <a:buClrTx/>
      <a:buSzTx/>
      <a:buFontTx/>
      <a:buNone/>
      <a:tabLst/>
      <a:defRPr b="1" baseline="0" cap="none" i="0" spc="0" strike="noStrike" sz="2500" u="none" kumimoji="0" normalizeH="0">
        <a:ln>
          <a:noFill/>
        </a:ln>
        <a:solidFill>
          <a:srgbClr val="0F172A"/>
        </a:solidFill>
        <a:effectLst/>
        <a:uFillTx/>
        <a:latin typeface="+mj-lt"/>
        <a:ea typeface="+mj-ea"/>
        <a:cs typeface="+mj-cs"/>
        <a:sym typeface="Aptos"/>
      </a:defRPr>
    </a:lvl6pPr>
    <a:lvl7pPr marL="0" marR="0" indent="2743200" algn="l" defTabSz="914400" rtl="0" fontAlgn="auto" latinLnBrk="0" hangingPunct="0">
      <a:lnSpc>
        <a:spcPct val="100000"/>
      </a:lnSpc>
      <a:spcBef>
        <a:spcPts val="0"/>
      </a:spcBef>
      <a:spcAft>
        <a:spcPts val="0"/>
      </a:spcAft>
      <a:buClrTx/>
      <a:buSzTx/>
      <a:buFontTx/>
      <a:buNone/>
      <a:tabLst/>
      <a:defRPr b="1" baseline="0" cap="none" i="0" spc="0" strike="noStrike" sz="2500" u="none" kumimoji="0" normalizeH="0">
        <a:ln>
          <a:noFill/>
        </a:ln>
        <a:solidFill>
          <a:srgbClr val="0F172A"/>
        </a:solidFill>
        <a:effectLst/>
        <a:uFillTx/>
        <a:latin typeface="+mj-lt"/>
        <a:ea typeface="+mj-ea"/>
        <a:cs typeface="+mj-cs"/>
        <a:sym typeface="Aptos"/>
      </a:defRPr>
    </a:lvl7pPr>
    <a:lvl8pPr marL="0" marR="0" indent="3200400" algn="l" defTabSz="914400" rtl="0" fontAlgn="auto" latinLnBrk="0" hangingPunct="0">
      <a:lnSpc>
        <a:spcPct val="100000"/>
      </a:lnSpc>
      <a:spcBef>
        <a:spcPts val="0"/>
      </a:spcBef>
      <a:spcAft>
        <a:spcPts val="0"/>
      </a:spcAft>
      <a:buClrTx/>
      <a:buSzTx/>
      <a:buFontTx/>
      <a:buNone/>
      <a:tabLst/>
      <a:defRPr b="1" baseline="0" cap="none" i="0" spc="0" strike="noStrike" sz="2500" u="none" kumimoji="0" normalizeH="0">
        <a:ln>
          <a:noFill/>
        </a:ln>
        <a:solidFill>
          <a:srgbClr val="0F172A"/>
        </a:solidFill>
        <a:effectLst/>
        <a:uFillTx/>
        <a:latin typeface="+mj-lt"/>
        <a:ea typeface="+mj-ea"/>
        <a:cs typeface="+mj-cs"/>
        <a:sym typeface="Aptos"/>
      </a:defRPr>
    </a:lvl8pPr>
    <a:lvl9pPr marL="0" marR="0" indent="3657600" algn="l" defTabSz="914400" rtl="0" fontAlgn="auto" latinLnBrk="0" hangingPunct="0">
      <a:lnSpc>
        <a:spcPct val="100000"/>
      </a:lnSpc>
      <a:spcBef>
        <a:spcPts val="0"/>
      </a:spcBef>
      <a:spcAft>
        <a:spcPts val="0"/>
      </a:spcAft>
      <a:buClrTx/>
      <a:buSzTx/>
      <a:buFontTx/>
      <a:buNone/>
      <a:tabLst/>
      <a:defRPr b="1" baseline="0" cap="none" i="0" spc="0" strike="noStrike" sz="2500" u="none" kumimoji="0" normalizeH="0">
        <a:ln>
          <a:noFill/>
        </a:ln>
        <a:solidFill>
          <a:srgbClr val="0F172A"/>
        </a:solidFill>
        <a:effectLst/>
        <a:uFillTx/>
        <a:latin typeface="+mj-lt"/>
        <a:ea typeface="+mj-ea"/>
        <a:cs typeface="+mj-cs"/>
        <a:sym typeface="Apto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48" name="Shape 48"/>
          <p:cNvSpPr/>
          <p:nvPr>
            <p:ph type="sldImg"/>
          </p:nvPr>
        </p:nvSpPr>
        <p:spPr>
          <a:xfrm>
            <a:off x="1143000" y="685800"/>
            <a:ext cx="4572000" cy="3429000"/>
          </a:xfrm>
          <a:prstGeom prst="rect">
            <a:avLst/>
          </a:prstGeom>
        </p:spPr>
        <p:txBody>
          <a:bodyPr/>
          <a:lstStyle/>
          <a:p>
            <a:pPr/>
          </a:p>
        </p:txBody>
      </p:sp>
      <p:sp>
        <p:nvSpPr>
          <p:cNvPr id="49" name="Shape 4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ptos"/>
      </a:defRPr>
    </a:lvl1pPr>
    <a:lvl2pPr indent="228600" latinLnBrk="0">
      <a:defRPr sz="1200">
        <a:latin typeface="+mj-lt"/>
        <a:ea typeface="+mj-ea"/>
        <a:cs typeface="+mj-cs"/>
        <a:sym typeface="Aptos"/>
      </a:defRPr>
    </a:lvl2pPr>
    <a:lvl3pPr indent="457200" latinLnBrk="0">
      <a:defRPr sz="1200">
        <a:latin typeface="+mj-lt"/>
        <a:ea typeface="+mj-ea"/>
        <a:cs typeface="+mj-cs"/>
        <a:sym typeface="Aptos"/>
      </a:defRPr>
    </a:lvl3pPr>
    <a:lvl4pPr indent="685800" latinLnBrk="0">
      <a:defRPr sz="1200">
        <a:latin typeface="+mj-lt"/>
        <a:ea typeface="+mj-ea"/>
        <a:cs typeface="+mj-cs"/>
        <a:sym typeface="Aptos"/>
      </a:defRPr>
    </a:lvl4pPr>
    <a:lvl5pPr indent="914400" latinLnBrk="0">
      <a:defRPr sz="1200">
        <a:latin typeface="+mj-lt"/>
        <a:ea typeface="+mj-ea"/>
        <a:cs typeface="+mj-cs"/>
        <a:sym typeface="Aptos"/>
      </a:defRPr>
    </a:lvl5pPr>
    <a:lvl6pPr indent="1143000" latinLnBrk="0">
      <a:defRPr sz="1200">
        <a:latin typeface="+mj-lt"/>
        <a:ea typeface="+mj-ea"/>
        <a:cs typeface="+mj-cs"/>
        <a:sym typeface="Aptos"/>
      </a:defRPr>
    </a:lvl6pPr>
    <a:lvl7pPr indent="1371600" latinLnBrk="0">
      <a:defRPr sz="1200">
        <a:latin typeface="+mj-lt"/>
        <a:ea typeface="+mj-ea"/>
        <a:cs typeface="+mj-cs"/>
        <a:sym typeface="Aptos"/>
      </a:defRPr>
    </a:lvl7pPr>
    <a:lvl8pPr indent="1600200" latinLnBrk="0">
      <a:defRPr sz="1200">
        <a:latin typeface="+mj-lt"/>
        <a:ea typeface="+mj-ea"/>
        <a:cs typeface="+mj-cs"/>
        <a:sym typeface="Aptos"/>
      </a:defRPr>
    </a:lvl8pPr>
    <a:lvl9pPr indent="1828800" latinLnBrk="0">
      <a:defRPr sz="1200">
        <a:latin typeface="+mj-lt"/>
        <a:ea typeface="+mj-ea"/>
        <a:cs typeface="+mj-cs"/>
        <a:sym typeface="Aptos"/>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 name="Shape 87"/>
          <p:cNvSpPr/>
          <p:nvPr>
            <p:ph type="sldImg"/>
          </p:nvPr>
        </p:nvSpPr>
        <p:spPr>
          <a:prstGeom prst="rect">
            <a:avLst/>
          </a:prstGeom>
        </p:spPr>
        <p:txBody>
          <a:bodyPr/>
          <a:lstStyle/>
          <a:p>
            <a:pPr/>
          </a:p>
        </p:txBody>
      </p:sp>
      <p:sp>
        <p:nvSpPr>
          <p:cNvPr id="88" name="Shape 88"/>
          <p:cNvSpPr/>
          <p:nvPr>
            <p:ph type="body" sz="quarter" idx="1"/>
          </p:nvPr>
        </p:nvSpPr>
        <p:spPr>
          <a:prstGeom prst="rect">
            <a:avLst/>
          </a:prstGeom>
        </p:spPr>
        <p:txBody>
          <a:bodyPr/>
          <a:lstStyle/>
          <a:p>
            <a:pPr/>
            <a:r>
              <a:t>Opening script:</a:t>
            </a:r>
          </a:p>
          <a:p>
            <a:pPr/>
          </a:p>
          <a:p>
            <a:pPr/>
            <a:r>
              <a:t>“This architecture is designed for subject-independent motor-imagery EEG classification. The easiest way to explain it is: first we extract useful frequency information, then we learn how the EEG channels interact, then we learn how the signal evolves over time, and finally we make the representation less dependent on the person who produced the EEG.”</a:t>
            </a:r>
          </a:p>
          <a:p>
            <a:pPr/>
          </a:p>
          <a:p>
            <a:pPr/>
            <a:r>
              <a:t>Panel cue: Point to the four pills and say Frequency → Spatial → Temporal → Attention.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Shape 153"/>
          <p:cNvSpPr/>
          <p:nvPr>
            <p:ph type="sldImg"/>
          </p:nvPr>
        </p:nvSpPr>
        <p:spPr>
          <a:prstGeom prst="rect">
            <a:avLst/>
          </a:prstGeom>
        </p:spPr>
        <p:txBody>
          <a:bodyPr/>
          <a:lstStyle/>
          <a:p>
            <a:pPr/>
          </a:p>
        </p:txBody>
      </p:sp>
      <p:sp>
        <p:nvSpPr>
          <p:cNvPr id="154" name="Shape 154"/>
          <p:cNvSpPr/>
          <p:nvPr>
            <p:ph type="body" sz="quarter" idx="1"/>
          </p:nvPr>
        </p:nvSpPr>
        <p:spPr>
          <a:prstGeom prst="rect">
            <a:avLst/>
          </a:prstGeom>
        </p:spPr>
        <p:txBody>
          <a:bodyPr/>
          <a:lstStyle/>
          <a:p>
            <a:pPr/>
            <a:r>
              <a:t>Explain the motivation in three words: Frequency, Space, Time — plus Subject Variability.</a:t>
            </a:r>
          </a:p>
          <a:p>
            <a:pPr/>
          </a:p>
          <a:p>
            <a:pPr/>
            <a:r>
              <a:t>Example: Two subjects may imagine the same left-hand movement, but their raw EEG amplitudes and channel patterns can look different. So the model should learn the motor-imagery pattern, not the identity of the person.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5" name="Shape 245"/>
          <p:cNvSpPr/>
          <p:nvPr>
            <p:ph type="sldImg"/>
          </p:nvPr>
        </p:nvSpPr>
        <p:spPr>
          <a:prstGeom prst="rect">
            <a:avLst/>
          </a:prstGeom>
        </p:spPr>
        <p:txBody>
          <a:bodyPr/>
          <a:lstStyle/>
          <a:p>
            <a:pPr/>
          </a:p>
        </p:txBody>
      </p:sp>
      <p:sp>
        <p:nvSpPr>
          <p:cNvPr id="246" name="Shape 246"/>
          <p:cNvSpPr/>
          <p:nvPr>
            <p:ph type="body" sz="quarter" idx="1"/>
          </p:nvPr>
        </p:nvSpPr>
        <p:spPr>
          <a:prstGeom prst="rect">
            <a:avLst/>
          </a:prstGeom>
        </p:spPr>
        <p:txBody>
          <a:bodyPr/>
          <a:lstStyle/>
          <a:p>
            <a:pPr/>
            <a:r>
              <a:t>This is the key slide to memorize. Say the pipeline in one breath:</a:t>
            </a:r>
          </a:p>
          <a:p>
            <a:pPr/>
          </a:p>
          <a:p>
            <a:pPr/>
            <a:r>
              <a:t>“Preprocess → normalize → learn frequency filters → learn channel relationships → pool frequency information → learn temporal patterns with BiGRU → reweight useful features with SE → obtain a 64-D representation → use task, domain, and contrastive objectives → adapt BatchNorm to the target EEG at test time.”</a:t>
            </a:r>
          </a:p>
          <a:p>
            <a:pPr/>
          </a:p>
          <a:p>
            <a:pPr/>
            <a:r>
              <a:t>The single-sentence logic is: Sinc learns WHAT frequencies matter; GNN learns WHERE information interacts; BiGRU learns HOW it evolves; SE learns WHICH latent features matter most; domain adaptation makes them more subject-independent.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2" name="Shape 272"/>
          <p:cNvSpPr/>
          <p:nvPr>
            <p:ph type="sldImg"/>
          </p:nvPr>
        </p:nvSpPr>
        <p:spPr>
          <a:prstGeom prst="rect">
            <a:avLst/>
          </a:prstGeom>
        </p:spPr>
        <p:txBody>
          <a:bodyPr/>
          <a:lstStyle/>
          <a:p>
            <a:pPr/>
          </a:p>
        </p:txBody>
      </p:sp>
      <p:sp>
        <p:nvSpPr>
          <p:cNvPr id="273" name="Shape 273"/>
          <p:cNvSpPr/>
          <p:nvPr>
            <p:ph type="body" sz="quarter" idx="1"/>
          </p:nvPr>
        </p:nvSpPr>
        <p:spPr>
          <a:prstGeom prst="rect">
            <a:avLst/>
          </a:prstGeom>
        </p:spPr>
        <p:txBody>
          <a:bodyPr/>
          <a:lstStyle/>
          <a:p>
            <a:pPr/>
            <a:r>
              <a:t>Simple explanation:</a:t>
            </a:r>
          </a:p>
          <a:p>
            <a:pPr/>
          </a:p>
          <a:p>
            <a:pPr/>
            <a:r>
              <a:t>“Think of each trial as 22 sensors recording brain activity for 3 seconds. At 250 Hz, each channel contributes 750 time samples. So the network receives a 22 by 750 trial.”</a:t>
            </a:r>
          </a:p>
          <a:p>
            <a:pPr/>
          </a:p>
          <a:p>
            <a:pPr/>
            <a:r>
              <a:t>Why normalize? Subjects can have very different EEG amplitude ranges. We want the network to focus on patterns rather than raw scale.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Shape 305"/>
          <p:cNvSpPr/>
          <p:nvPr>
            <p:ph type="sldImg"/>
          </p:nvPr>
        </p:nvSpPr>
        <p:spPr>
          <a:prstGeom prst="rect">
            <a:avLst/>
          </a:prstGeom>
        </p:spPr>
        <p:txBody>
          <a:bodyPr/>
          <a:lstStyle/>
          <a:p>
            <a:pPr/>
          </a:p>
        </p:txBody>
      </p:sp>
      <p:sp>
        <p:nvSpPr>
          <p:cNvPr id="306" name="Shape 306"/>
          <p:cNvSpPr/>
          <p:nvPr>
            <p:ph type="body" sz="quarter" idx="1"/>
          </p:nvPr>
        </p:nvSpPr>
        <p:spPr>
          <a:prstGeom prst="rect">
            <a:avLst/>
          </a:prstGeom>
        </p:spPr>
        <p:txBody>
          <a:bodyPr/>
          <a:lstStyle/>
          <a:p>
            <a:pPr/>
            <a:r>
              <a:t>Viva explanation:</a:t>
            </a:r>
          </a:p>
          <a:p>
            <a:pPr/>
          </a:p>
          <a:p>
            <a:pPr/>
            <a:r>
              <a:t>“The Sinc filter bank is the spectral front-end. We use 10 trainable filters. Each filter has a lower cutoff f1 and upper cutoff f2. Unlike fixed hand-designed bands, these cutoffs can be adjusted by backpropagation so the network learns frequency ranges that are useful for Left-vs-Right motor imagery.”</a:t>
            </a:r>
          </a:p>
          <a:p>
            <a:pPr/>
          </a:p>
          <a:p>
            <a:pPr/>
            <a:r>
              <a:t>Important: the example frequency bands shown visually are conceptual. Do not claim those exact final values unless you extract the trained f1/f2 parameters from the model.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5" name="Shape 355"/>
          <p:cNvSpPr/>
          <p:nvPr>
            <p:ph type="sldImg"/>
          </p:nvPr>
        </p:nvSpPr>
        <p:spPr>
          <a:prstGeom prst="rect">
            <a:avLst/>
          </a:prstGeom>
        </p:spPr>
        <p:txBody>
          <a:bodyPr/>
          <a:lstStyle/>
          <a:p>
            <a:pPr/>
          </a:p>
        </p:txBody>
      </p:sp>
      <p:sp>
        <p:nvSpPr>
          <p:cNvPr id="356" name="Shape 356"/>
          <p:cNvSpPr/>
          <p:nvPr>
            <p:ph type="body" sz="quarter" idx="1"/>
          </p:nvPr>
        </p:nvSpPr>
        <p:spPr>
          <a:prstGeom prst="rect">
            <a:avLst/>
          </a:prstGeom>
        </p:spPr>
        <p:txBody>
          <a:bodyPr/>
          <a:lstStyle/>
          <a:p>
            <a:pPr/>
            <a:r>
              <a:t>Simple explanation:</a:t>
            </a:r>
          </a:p>
          <a:p>
            <a:pPr/>
          </a:p>
          <a:p>
            <a:pPr/>
            <a:r>
              <a:t>“Each EEG channel is a graph node. The model learns a trial-specific adjacency matrix from the current EEG representation. Similar channels get stronger computational connections, and graph propagation lets one channel use information from other channels.”</a:t>
            </a:r>
          </a:p>
          <a:p>
            <a:pPr/>
          </a:p>
          <a:p>
            <a:pPr/>
            <a:r>
              <a:t>Key distinction: dynamic means the graph is sample-specific, not a fixed electrode map. Also, these learned edges are computational weights — they should not be presented as direct proof of biological connectivity.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6" name="Shape 386"/>
          <p:cNvSpPr/>
          <p:nvPr>
            <p:ph type="sldImg"/>
          </p:nvPr>
        </p:nvSpPr>
        <p:spPr>
          <a:prstGeom prst="rect">
            <a:avLst/>
          </a:prstGeom>
        </p:spPr>
        <p:txBody>
          <a:bodyPr/>
          <a:lstStyle/>
          <a:p>
            <a:pPr/>
          </a:p>
        </p:txBody>
      </p:sp>
      <p:sp>
        <p:nvSpPr>
          <p:cNvPr id="387" name="Shape 387"/>
          <p:cNvSpPr/>
          <p:nvPr>
            <p:ph type="body" sz="quarter" idx="1"/>
          </p:nvPr>
        </p:nvSpPr>
        <p:spPr>
          <a:prstGeom prst="rect">
            <a:avLst/>
          </a:prstGeom>
        </p:spPr>
        <p:txBody>
          <a:bodyPr/>
          <a:lstStyle/>
          <a:p>
            <a:pPr/>
            <a:r>
              <a:t>Viva answer:</a:t>
            </a:r>
          </a:p>
          <a:p>
            <a:pPr/>
          </a:p>
          <a:p>
            <a:pPr/>
            <a:r>
              <a:t>“BiGRU learns temporal dependencies in both directions. The forward GRU processes the sequence from early to late time; the backward GRU processes it from late to early time. With 32 units in each direction, the outputs are concatenated into 64 features.”</a:t>
            </a:r>
          </a:p>
          <a:p>
            <a:pPr/>
          </a:p>
          <a:p>
            <a:pPr/>
            <a:r>
              <a:t>“SE attention then reweights these 64 latent features. It is soft feature selection — it does not delete features, and its weights refer to latent features, not the original 22 EEG electrodes.”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1" name="Shape 411"/>
          <p:cNvSpPr/>
          <p:nvPr>
            <p:ph type="sldImg"/>
          </p:nvPr>
        </p:nvSpPr>
        <p:spPr>
          <a:prstGeom prst="rect">
            <a:avLst/>
          </a:prstGeom>
        </p:spPr>
        <p:txBody>
          <a:bodyPr/>
          <a:lstStyle/>
          <a:p>
            <a:pPr/>
          </a:p>
        </p:txBody>
      </p:sp>
      <p:sp>
        <p:nvSpPr>
          <p:cNvPr id="412" name="Shape 412"/>
          <p:cNvSpPr/>
          <p:nvPr>
            <p:ph type="body" sz="quarter" idx="1"/>
          </p:nvPr>
        </p:nvSpPr>
        <p:spPr>
          <a:prstGeom prst="rect">
            <a:avLst/>
          </a:prstGeom>
        </p:spPr>
        <p:txBody>
          <a:bodyPr/>
          <a:lstStyle/>
          <a:p>
            <a:pPr/>
            <a:r>
              <a:t>Explain the three branches:</a:t>
            </a:r>
          </a:p>
          <a:p>
            <a:pPr/>
          </a:p>
          <a:p>
            <a:pPr/>
            <a:r>
              <a:t>1) Task classifier: “Is this Left Fist or Right Fist?”</a:t>
            </a:r>
          </a:p>
          <a:p>
            <a:pPr/>
            <a:r>
              <a:t>2) Domain branch: “Which subject produced this feature?” The Gradient Reversal Layer reverses the gradient during backpropagation, so the feature extractor is pushed away from subject-specific cues.</a:t>
            </a:r>
          </a:p>
          <a:p>
            <a:pPr/>
            <a:r>
              <a:t>3) SupCon: “Pull same-class embeddings together and push different-class embeddings apart.”</a:t>
            </a:r>
          </a:p>
          <a:p>
            <a:pPr/>
          </a:p>
          <a:p>
            <a:pPr/>
            <a:r>
              <a:t>Panel-friendly summary: “One feature vector, three pressures — task discrimination, subject invariance, and feature separation.”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3" name="Shape 443"/>
          <p:cNvSpPr/>
          <p:nvPr>
            <p:ph type="sldImg"/>
          </p:nvPr>
        </p:nvSpPr>
        <p:spPr>
          <a:prstGeom prst="rect">
            <a:avLst/>
          </a:prstGeom>
        </p:spPr>
        <p:txBody>
          <a:bodyPr/>
          <a:lstStyle/>
          <a:p>
            <a:pPr/>
          </a:p>
        </p:txBody>
      </p:sp>
      <p:sp>
        <p:nvSpPr>
          <p:cNvPr id="444" name="Shape 444"/>
          <p:cNvSpPr/>
          <p:nvPr>
            <p:ph type="body" sz="quarter" idx="1"/>
          </p:nvPr>
        </p:nvSpPr>
        <p:spPr>
          <a:prstGeom prst="rect">
            <a:avLst/>
          </a:prstGeom>
        </p:spPr>
        <p:txBody>
          <a:bodyPr/>
          <a:lstStyle/>
          <a:p>
            <a:pPr/>
            <a:r>
              <a:t>Explain carefully:</a:t>
            </a:r>
          </a:p>
          <a:p>
            <a:pPr/>
          </a:p>
          <a:p>
            <a:pPr/>
            <a:r>
              <a:t>“The model is trained using task loss, domain adaptation loss, and supervised contrastive loss. At target time, unlabeled target EEG is used to update BatchNorm statistics in a no-gradient pass. Then the target trials are evaluated.”</a:t>
            </a:r>
          </a:p>
          <a:p>
            <a:pPr/>
          </a:p>
          <a:p>
            <a:pPr/>
            <a:r>
              <a:t>Very important panel wording: call this unsupervised test-time adaptation. Do not call it strict zero-calibration because target EEG is used to adapt the normalization statistics.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8" name="Shape 468"/>
          <p:cNvSpPr/>
          <p:nvPr>
            <p:ph type="sldImg"/>
          </p:nvPr>
        </p:nvSpPr>
        <p:spPr>
          <a:prstGeom prst="rect">
            <a:avLst/>
          </a:prstGeom>
        </p:spPr>
        <p:txBody>
          <a:bodyPr/>
          <a:lstStyle/>
          <a:p>
            <a:pPr/>
          </a:p>
        </p:txBody>
      </p:sp>
      <p:sp>
        <p:nvSpPr>
          <p:cNvPr id="469" name="Shape 469"/>
          <p:cNvSpPr/>
          <p:nvPr>
            <p:ph type="body" sz="quarter" idx="1"/>
          </p:nvPr>
        </p:nvSpPr>
        <p:spPr>
          <a:prstGeom prst="rect">
            <a:avLst/>
          </a:prstGeom>
        </p:spPr>
        <p:txBody>
          <a:bodyPr/>
          <a:lstStyle/>
          <a:p>
            <a:pPr/>
            <a:r>
              <a:t>Results script:</a:t>
            </a:r>
          </a:p>
          <a:p>
            <a:pPr/>
          </a:p>
          <a:p>
            <a:pPr/>
            <a:r>
              <a:t>“The evaluation used 10 held-out target subjects. Each target fold contains 45 trials, sampled from runs 4, 8, and 12. The mean accuracy is 80.44 ± 8.18%, mean Cohen’s kappa is 0.6089 ± 0.1635, and aggregate binary ROC-AUC is 0.8964.”</a:t>
            </a:r>
          </a:p>
          <a:p>
            <a:pPr/>
          </a:p>
          <a:p>
            <a:pPr/>
            <a:r>
              <a:t>If asked about variability: “Performance varies across subjects; for example S055 reached 95.56% while S095 reached 64.44%. This shows both the strength of the average result and the remaining cross-subject difficulty.”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2" name="Shape 552"/>
          <p:cNvSpPr/>
          <p:nvPr>
            <p:ph type="sldImg"/>
          </p:nvPr>
        </p:nvSpPr>
        <p:spPr>
          <a:prstGeom prst="rect">
            <a:avLst/>
          </a:prstGeom>
        </p:spPr>
        <p:txBody>
          <a:bodyPr/>
          <a:lstStyle/>
          <a:p>
            <a:pPr/>
          </a:p>
        </p:txBody>
      </p:sp>
      <p:sp>
        <p:nvSpPr>
          <p:cNvPr id="553" name="Shape 553"/>
          <p:cNvSpPr/>
          <p:nvPr>
            <p:ph type="body" sz="quarter" idx="1"/>
          </p:nvPr>
        </p:nvSpPr>
        <p:spPr>
          <a:prstGeom prst="rect">
            <a:avLst/>
          </a:prstGeom>
        </p:spPr>
        <p:txBody>
          <a:bodyPr/>
          <a:lstStyle/>
          <a:p>
            <a:pPr/>
            <a:r>
              <a:t>Present the results carefully. The integrated framework demonstrates strong held-out performance, but the current evaluation does not prove that one specific module is responsible for the gain. State that controlled ablations, same-protocol baselines, all-subject evaluation, and a separate AdaBN analysis are the next experiments.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2" name="Shape 572"/>
          <p:cNvSpPr/>
          <p:nvPr>
            <p:ph type="sldImg"/>
          </p:nvPr>
        </p:nvSpPr>
        <p:spPr>
          <a:prstGeom prst="rect">
            <a:avLst/>
          </a:prstGeom>
        </p:spPr>
        <p:txBody>
          <a:bodyPr/>
          <a:lstStyle/>
          <a:p>
            <a:pPr/>
          </a:p>
        </p:txBody>
      </p:sp>
      <p:sp>
        <p:nvSpPr>
          <p:cNvPr id="573" name="Shape 573"/>
          <p:cNvSpPr/>
          <p:nvPr>
            <p:ph type="body" sz="quarter" idx="1"/>
          </p:nvPr>
        </p:nvSpPr>
        <p:spPr>
          <a:prstGeom prst="rect">
            <a:avLst/>
          </a:prstGeom>
        </p:spPr>
        <p:txBody>
          <a:bodyPr/>
          <a:lstStyle/>
          <a:p>
            <a:pPr/>
            <a:r>
              <a:t>Conclude in three parts: what was built, what was demonstrated, and what comes next. End with the core message: subject-independent EEG needs joint treatment of spectral, spatial, temporal, and domain variation. Then say thank you and invite questions.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STER">
    <p:bg>
      <p:bgPr>
        <a:solidFill>
          <a:srgbClr val="F7F9FC"/>
        </a:solidFill>
      </p:bgPr>
    </p:bg>
    <p:spTree>
      <p:nvGrpSpPr>
        <p:cNvPr id="1" name=""/>
        <p:cNvGrpSpPr/>
        <p:nvPr/>
      </p:nvGrpSpPr>
      <p:grpSpPr>
        <a:xfrm>
          <a:off x="0" y="0"/>
          <a:ext cx="0" cy="0"/>
          <a:chOff x="0" y="0"/>
          <a:chExt cx="0" cy="0"/>
        </a:xfrm>
      </p:grpSpPr>
      <p:sp>
        <p:nvSpPr>
          <p:cNvPr id="18" name="Shape 0"/>
          <p:cNvSpPr/>
          <p:nvPr/>
        </p:nvSpPr>
        <p:spPr>
          <a:xfrm>
            <a:off x="-1" y="0"/>
            <a:ext cx="12191697" cy="109728"/>
          </a:xfrm>
          <a:prstGeom prst="rect">
            <a:avLst/>
          </a:prstGeom>
          <a:solidFill>
            <a:srgbClr val="164E63"/>
          </a:solidFill>
          <a:ln w="12700">
            <a:solidFill>
              <a:srgbClr val="164E63"/>
            </a:solidFill>
          </a:ln>
        </p:spPr>
        <p:txBody>
          <a:bodyPr lIns="45719" rIns="45719"/>
          <a:lstStyle/>
          <a:p>
            <a:pPr>
              <a:defRPr b="0" sz="1800">
                <a:solidFill>
                  <a:srgbClr val="000000"/>
                </a:solidFill>
              </a:defRPr>
            </a:pPr>
          </a:p>
        </p:txBody>
      </p:sp>
      <p:sp>
        <p:nvSpPr>
          <p:cNvPr id="19" name="Text 1"/>
          <p:cNvSpPr txBox="1"/>
          <p:nvPr/>
        </p:nvSpPr>
        <p:spPr>
          <a:xfrm>
            <a:off x="502919" y="6501892"/>
            <a:ext cx="6858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solidFill>
                  <a:srgbClr val="64748B"/>
                </a:solidFill>
              </a:defRPr>
            </a:lvl1pPr>
          </a:lstStyle>
          <a:p>
            <a:pPr/>
            <a:r>
              <a:t>Subject-Independent Motor-Imagery EEG</a:t>
            </a:r>
          </a:p>
        </p:txBody>
      </p:sp>
      <p:sp>
        <p:nvSpPr>
          <p:cNvPr id="20" name="Text 2"/>
          <p:cNvSpPr txBox="1"/>
          <p:nvPr/>
        </p:nvSpPr>
        <p:spPr>
          <a:xfrm>
            <a:off x="9646919" y="6501892"/>
            <a:ext cx="201168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800">
                <a:solidFill>
                  <a:srgbClr val="64748B"/>
                </a:solidFill>
              </a:defRPr>
            </a:lvl1pPr>
          </a:lstStyle>
          <a:p>
            <a:pPr/>
            <a:r>
              <a:t>Andhra  University </a:t>
            </a:r>
          </a:p>
        </p:txBody>
      </p:sp>
      <p:sp>
        <p:nvSpPr>
          <p:cNvPr id="21" name="Slide Number"/>
          <p:cNvSpPr txBox="1"/>
          <p:nvPr>
            <p:ph type="sldNum" sz="quarter" idx="2"/>
          </p:nvPr>
        </p:nvSpPr>
        <p:spPr>
          <a:xfrm>
            <a:off x="11722607" y="6446520"/>
            <a:ext cx="217151" cy="2184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STER">
    <p:spTree>
      <p:nvGrpSpPr>
        <p:cNvPr id="1" name=""/>
        <p:cNvGrpSpPr/>
        <p:nvPr/>
      </p:nvGrpSpPr>
      <p:grpSpPr>
        <a:xfrm>
          <a:off x="0" y="0"/>
          <a:ext cx="0" cy="0"/>
          <a:chOff x="0" y="0"/>
          <a:chExt cx="0" cy="0"/>
        </a:xfrm>
      </p:grpSpPr>
      <p:sp>
        <p:nvSpPr>
          <p:cNvPr id="28" name="Shape 0"/>
          <p:cNvSpPr/>
          <p:nvPr/>
        </p:nvSpPr>
        <p:spPr>
          <a:xfrm>
            <a:off x="0" y="0"/>
            <a:ext cx="109728" cy="6858000"/>
          </a:xfrm>
          <a:prstGeom prst="rect">
            <a:avLst/>
          </a:prstGeom>
          <a:solidFill>
            <a:srgbClr val="0F766E"/>
          </a:solidFill>
          <a:ln w="12700">
            <a:solidFill>
              <a:srgbClr val="0F766E"/>
            </a:solidFill>
          </a:ln>
        </p:spPr>
        <p:txBody>
          <a:bodyPr lIns="45719" rIns="45719"/>
          <a:lstStyle/>
          <a:p>
            <a:pPr>
              <a:defRPr b="0" sz="1800">
                <a:solidFill>
                  <a:srgbClr val="000000"/>
                </a:solidFill>
              </a:defRPr>
            </a:pPr>
          </a:p>
        </p:txBody>
      </p:sp>
      <p:sp>
        <p:nvSpPr>
          <p:cNvPr id="29" name="Shape 1"/>
          <p:cNvSpPr/>
          <p:nvPr/>
        </p:nvSpPr>
        <p:spPr>
          <a:xfrm>
            <a:off x="502919" y="6419088"/>
            <a:ext cx="11155682" cy="1"/>
          </a:xfrm>
          <a:prstGeom prst="line">
            <a:avLst/>
          </a:prstGeom>
          <a:ln w="8890">
            <a:solidFill>
              <a:srgbClr val="E2E8F0"/>
            </a:solidFill>
          </a:ln>
        </p:spPr>
        <p:txBody>
          <a:bodyPr lIns="45719" rIns="45719"/>
          <a:lstStyle/>
          <a:p>
            <a:pPr>
              <a:defRPr b="0" sz="1800">
                <a:solidFill>
                  <a:srgbClr val="000000"/>
                </a:solidFill>
              </a:defRPr>
            </a:pPr>
          </a:p>
        </p:txBody>
      </p:sp>
      <p:sp>
        <p:nvSpPr>
          <p:cNvPr id="30" name="Text 2"/>
          <p:cNvSpPr txBox="1"/>
          <p:nvPr/>
        </p:nvSpPr>
        <p:spPr>
          <a:xfrm>
            <a:off x="548639" y="6492240"/>
            <a:ext cx="10789922" cy="16459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700">
                <a:solidFill>
                  <a:srgbClr val="64748B"/>
                </a:solidFill>
              </a:defRPr>
            </a:lvl1pPr>
          </a:lstStyle>
          <a:p>
            <a:pPr/>
            <a:r>
              <a:t>Subject-independent MI EEG classification  •  Ashok Varma Bevara  </a:t>
            </a:r>
          </a:p>
        </p:txBody>
      </p:sp>
      <p:sp>
        <p:nvSpPr>
          <p:cNvPr id="31" name="Slide Number"/>
          <p:cNvSpPr txBox="1"/>
          <p:nvPr>
            <p:ph type="sldNum" sz="quarter" idx="2"/>
          </p:nvPr>
        </p:nvSpPr>
        <p:spPr>
          <a:xfrm>
            <a:off x="11475719" y="6473952"/>
            <a:ext cx="203025" cy="193041"/>
          </a:xfrm>
          <a:prstGeom prst="rect">
            <a:avLst/>
          </a:prstGeom>
        </p:spPr>
        <p:txBody>
          <a:bodyPr/>
          <a:lstStyle>
            <a:lvl1pPr>
              <a:defRPr sz="700"/>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STER">
    <p:bg>
      <p:bgPr>
        <a:solidFill>
          <a:srgbClr val="F7FAFC"/>
        </a:solidFill>
      </p:bgPr>
    </p:bg>
    <p:spTree>
      <p:nvGrpSpPr>
        <p:cNvPr id="1" name=""/>
        <p:cNvGrpSpPr/>
        <p:nvPr/>
      </p:nvGrpSpPr>
      <p:grpSpPr>
        <a:xfrm>
          <a:off x="0" y="0"/>
          <a:ext cx="0" cy="0"/>
          <a:chOff x="0" y="0"/>
          <a:chExt cx="0" cy="0"/>
        </a:xfrm>
      </p:grpSpPr>
      <p:sp>
        <p:nvSpPr>
          <p:cNvPr id="38" name="Shape 0"/>
          <p:cNvSpPr/>
          <p:nvPr/>
        </p:nvSpPr>
        <p:spPr>
          <a:xfrm>
            <a:off x="-1" y="-1"/>
            <a:ext cx="12191697" cy="73154"/>
          </a:xfrm>
          <a:prstGeom prst="rect">
            <a:avLst/>
          </a:prstGeom>
          <a:solidFill>
            <a:srgbClr val="145A6B"/>
          </a:solidFill>
          <a:ln w="12700">
            <a:solidFill>
              <a:srgbClr val="145A6B"/>
            </a:solidFill>
          </a:ln>
        </p:spPr>
        <p:txBody>
          <a:bodyPr lIns="45719" rIns="45719"/>
          <a:lstStyle/>
          <a:p>
            <a:pPr>
              <a:defRPr b="0" sz="1800">
                <a:solidFill>
                  <a:srgbClr val="000000"/>
                </a:solidFill>
              </a:defRPr>
            </a:pPr>
          </a:p>
        </p:txBody>
      </p:sp>
      <p:sp>
        <p:nvSpPr>
          <p:cNvPr id="39" name="Shape 1"/>
          <p:cNvSpPr/>
          <p:nvPr/>
        </p:nvSpPr>
        <p:spPr>
          <a:xfrm>
            <a:off x="502919" y="6510528"/>
            <a:ext cx="11155682" cy="1"/>
          </a:xfrm>
          <a:prstGeom prst="line">
            <a:avLst/>
          </a:prstGeom>
          <a:ln w="7620">
            <a:solidFill>
              <a:srgbClr val="D7E1E8"/>
            </a:solidFill>
          </a:ln>
        </p:spPr>
        <p:txBody>
          <a:bodyPr lIns="45719" rIns="45719"/>
          <a:lstStyle/>
          <a:p>
            <a:pPr>
              <a:defRPr b="0" sz="1800">
                <a:solidFill>
                  <a:srgbClr val="000000"/>
                </a:solidFill>
              </a:defRPr>
            </a:pPr>
          </a:p>
        </p:txBody>
      </p:sp>
      <p:sp>
        <p:nvSpPr>
          <p:cNvPr id="40" name="Text 2"/>
          <p:cNvSpPr txBox="1"/>
          <p:nvPr/>
        </p:nvSpPr>
        <p:spPr>
          <a:xfrm>
            <a:off x="502920" y="6584188"/>
            <a:ext cx="384048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solidFill>
                  <a:srgbClr val="6B7F90"/>
                </a:solidFill>
              </a:defRPr>
            </a:lvl1pPr>
          </a:lstStyle>
          <a:p>
            <a:pPr/>
            <a:r>
              <a:t>Subject-Independent Motor-Imagery EEG</a:t>
            </a:r>
          </a:p>
        </p:txBody>
      </p:sp>
      <p:sp>
        <p:nvSpPr>
          <p:cNvPr id="41" name="Text 3"/>
          <p:cNvSpPr txBox="1"/>
          <p:nvPr/>
        </p:nvSpPr>
        <p:spPr>
          <a:xfrm>
            <a:off x="10424159" y="6584188"/>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800">
                <a:solidFill>
                  <a:srgbClr val="6B7F90"/>
                </a:solidFill>
              </a:defRPr>
            </a:lvl1pPr>
          </a:lstStyle>
          <a:p>
            <a:pPr/>
            <a:r>
              <a:t>Andhra University</a:t>
            </a:r>
          </a:p>
        </p:txBody>
      </p:sp>
      <p:sp>
        <p:nvSpPr>
          <p:cNvPr id="42" name="Slide Number"/>
          <p:cNvSpPr txBox="1"/>
          <p:nvPr>
            <p:ph type="sldNum" sz="quarter" idx="2"/>
          </p:nvPr>
        </p:nvSpPr>
        <p:spPr>
          <a:xfrm>
            <a:off x="11631168" y="6556247"/>
            <a:ext cx="217151" cy="218441"/>
          </a:xfrm>
          <a:prstGeom prst="rect">
            <a:avLst/>
          </a:prstGeom>
        </p:spPr>
        <p:txBody>
          <a:bodyPr/>
          <a:lstStyle>
            <a:lvl1pPr>
              <a:defRPr>
                <a:solidFill>
                  <a:srgbClr val="6B7F9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737600" y="6356350"/>
            <a:ext cx="2844800" cy="368300"/>
          </a:xfrm>
          <a:prstGeom prst="rect">
            <a:avLst/>
          </a:prstGeom>
          <a:ln w="12700">
            <a:miter lim="400000"/>
          </a:ln>
        </p:spPr>
        <p:txBody>
          <a:bodyPr wrap="none" lIns="45719" rIns="45719">
            <a:spAutoFit/>
          </a:bodyPr>
          <a:lstStyle>
            <a:lvl1pPr>
              <a:defRPr b="0" sz="800">
                <a:solidFill>
                  <a:srgbClr val="64748B"/>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ptos"/>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ptos"/>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ptos"/>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ptos"/>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ptos"/>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ptos"/>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ptos"/>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ptos"/>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ptos"/>
        </a:defRPr>
      </a:lvl9pPr>
    </p:bodyStyle>
    <p:otherStyle>
      <a:lvl1pPr marL="0" marR="0" indent="0" algn="l"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Aptos"/>
        </a:defRPr>
      </a:lvl1pPr>
      <a:lvl2pPr marL="0" marR="0" indent="457200" algn="l"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Aptos"/>
        </a:defRPr>
      </a:lvl2pPr>
      <a:lvl3pPr marL="0" marR="0" indent="914400" algn="l"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Aptos"/>
        </a:defRPr>
      </a:lvl3pPr>
      <a:lvl4pPr marL="0" marR="0" indent="1371600" algn="l"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Aptos"/>
        </a:defRPr>
      </a:lvl4pPr>
      <a:lvl5pPr marL="0" marR="0" indent="1828800" algn="l"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Aptos"/>
        </a:defRPr>
      </a:lvl5pPr>
      <a:lvl6pPr marL="0" marR="0" indent="2286000" algn="l"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Aptos"/>
        </a:defRPr>
      </a:lvl6pPr>
      <a:lvl7pPr marL="0" marR="0" indent="2743200" algn="l"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Aptos"/>
        </a:defRPr>
      </a:lvl7pPr>
      <a:lvl8pPr marL="0" marR="0" indent="3200400" algn="l"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Aptos"/>
        </a:defRPr>
      </a:lvl8pPr>
      <a:lvl9pPr marL="0" marR="0" indent="3657600" algn="l"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Apto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 name="Shape 0"/>
          <p:cNvSpPr/>
          <p:nvPr/>
        </p:nvSpPr>
        <p:spPr>
          <a:xfrm>
            <a:off x="-1" y="122428"/>
            <a:ext cx="12191697" cy="6364224"/>
          </a:xfrm>
          <a:prstGeom prst="rect">
            <a:avLst/>
          </a:prstGeom>
          <a:solidFill>
            <a:srgbClr val="EAF3F5"/>
          </a:solidFill>
          <a:ln w="12700">
            <a:solidFill>
              <a:srgbClr val="EAF3F5"/>
            </a:solidFill>
          </a:ln>
        </p:spPr>
        <p:txBody>
          <a:bodyPr lIns="45719" rIns="45719"/>
          <a:lstStyle/>
          <a:p>
            <a:pPr>
              <a:defRPr b="0" sz="1800">
                <a:solidFill>
                  <a:srgbClr val="000000"/>
                </a:solidFill>
              </a:defRPr>
            </a:pPr>
          </a:p>
        </p:txBody>
      </p:sp>
      <p:sp>
        <p:nvSpPr>
          <p:cNvPr id="52" name="Shape 1"/>
          <p:cNvSpPr/>
          <p:nvPr/>
        </p:nvSpPr>
        <p:spPr>
          <a:xfrm>
            <a:off x="0" y="109728"/>
            <a:ext cx="3840480" cy="6364224"/>
          </a:xfrm>
          <a:prstGeom prst="rect">
            <a:avLst/>
          </a:prstGeom>
          <a:solidFill>
            <a:srgbClr val="164E63"/>
          </a:solidFill>
          <a:ln w="12700">
            <a:solidFill>
              <a:srgbClr val="164E63"/>
            </a:solidFill>
          </a:ln>
        </p:spPr>
        <p:txBody>
          <a:bodyPr lIns="45719" rIns="45719"/>
          <a:lstStyle/>
          <a:p>
            <a:pPr>
              <a:defRPr b="0" sz="1800">
                <a:solidFill>
                  <a:srgbClr val="000000"/>
                </a:solidFill>
              </a:defRPr>
            </a:pPr>
          </a:p>
        </p:txBody>
      </p:sp>
      <p:sp>
        <p:nvSpPr>
          <p:cNvPr id="53" name="Shape 4"/>
          <p:cNvSpPr/>
          <p:nvPr/>
        </p:nvSpPr>
        <p:spPr>
          <a:xfrm>
            <a:off x="640079" y="3246120"/>
            <a:ext cx="2468882" cy="1"/>
          </a:xfrm>
          <a:prstGeom prst="line">
            <a:avLst/>
          </a:prstGeom>
          <a:ln w="12700">
            <a:solidFill>
              <a:srgbClr val="71C7CE"/>
            </a:solidFill>
          </a:ln>
        </p:spPr>
        <p:txBody>
          <a:bodyPr lIns="45719" rIns="45719"/>
          <a:lstStyle/>
          <a:p>
            <a:pPr>
              <a:defRPr b="0" sz="1800">
                <a:solidFill>
                  <a:srgbClr val="000000"/>
                </a:solidFill>
              </a:defRPr>
            </a:pPr>
          </a:p>
        </p:txBody>
      </p:sp>
      <p:sp>
        <p:nvSpPr>
          <p:cNvPr id="54" name="Text 6"/>
          <p:cNvSpPr txBox="1"/>
          <p:nvPr/>
        </p:nvSpPr>
        <p:spPr>
          <a:xfrm>
            <a:off x="4137216" y="853122"/>
            <a:ext cx="7641209" cy="152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r>
              <a:t>Spectral-Spatial-Temporal Domain Adaptation with Learnable Sinc Filters, Dynamic Graph Modeling and BiGRU for Subject-</a:t>
            </a:r>
          </a:p>
          <a:p>
            <a:pPr algn="ctr"/>
            <a:r>
              <a:t>Independent Motor-Imagery EEG Classification</a:t>
            </a:r>
          </a:p>
        </p:txBody>
      </p:sp>
      <p:sp>
        <p:nvSpPr>
          <p:cNvPr id="55" name="Shape 7"/>
          <p:cNvSpPr/>
          <p:nvPr/>
        </p:nvSpPr>
        <p:spPr>
          <a:xfrm>
            <a:off x="4370832" y="3083560"/>
            <a:ext cx="1828801" cy="310897"/>
          </a:xfrm>
          <a:prstGeom prst="roundRect">
            <a:avLst>
              <a:gd name="adj" fmla="val 35294"/>
            </a:avLst>
          </a:prstGeom>
          <a:solidFill>
            <a:srgbClr val="2563EB"/>
          </a:solidFill>
          <a:ln w="12700">
            <a:solidFill>
              <a:srgbClr val="2563EB"/>
            </a:solidFill>
          </a:ln>
        </p:spPr>
        <p:txBody>
          <a:bodyPr lIns="45719" rIns="45719"/>
          <a:lstStyle/>
          <a:p>
            <a:pPr>
              <a:defRPr b="0" sz="1800">
                <a:solidFill>
                  <a:srgbClr val="000000"/>
                </a:solidFill>
              </a:defRPr>
            </a:pPr>
          </a:p>
        </p:txBody>
      </p:sp>
      <p:sp>
        <p:nvSpPr>
          <p:cNvPr id="56" name="Text 8"/>
          <p:cNvSpPr txBox="1"/>
          <p:nvPr/>
        </p:nvSpPr>
        <p:spPr>
          <a:xfrm>
            <a:off x="4370832" y="3155441"/>
            <a:ext cx="18288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defRPr>
            </a:lvl1pPr>
          </a:lstStyle>
          <a:p>
            <a:pPr/>
            <a:r>
              <a:t>SINC FILTERS</a:t>
            </a:r>
          </a:p>
        </p:txBody>
      </p:sp>
      <p:sp>
        <p:nvSpPr>
          <p:cNvPr id="57" name="Shape 9"/>
          <p:cNvSpPr/>
          <p:nvPr/>
        </p:nvSpPr>
        <p:spPr>
          <a:xfrm>
            <a:off x="6419088" y="3083560"/>
            <a:ext cx="1783080" cy="310897"/>
          </a:xfrm>
          <a:prstGeom prst="roundRect">
            <a:avLst>
              <a:gd name="adj" fmla="val 35294"/>
            </a:avLst>
          </a:prstGeom>
          <a:solidFill>
            <a:srgbClr val="7C3AED"/>
          </a:solidFill>
          <a:ln w="12700">
            <a:solidFill>
              <a:srgbClr val="7C3AED"/>
            </a:solidFill>
          </a:ln>
        </p:spPr>
        <p:txBody>
          <a:bodyPr lIns="45719" rIns="45719"/>
          <a:lstStyle/>
          <a:p>
            <a:pPr>
              <a:defRPr b="0" sz="1800">
                <a:solidFill>
                  <a:srgbClr val="000000"/>
                </a:solidFill>
              </a:defRPr>
            </a:pPr>
          </a:p>
        </p:txBody>
      </p:sp>
      <p:sp>
        <p:nvSpPr>
          <p:cNvPr id="58" name="Text 10"/>
          <p:cNvSpPr txBox="1"/>
          <p:nvPr/>
        </p:nvSpPr>
        <p:spPr>
          <a:xfrm>
            <a:off x="6419088" y="3155441"/>
            <a:ext cx="178307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defRPr>
            </a:lvl1pPr>
          </a:lstStyle>
          <a:p>
            <a:pPr/>
            <a:r>
              <a:t>DYNAMIC GNN</a:t>
            </a:r>
          </a:p>
        </p:txBody>
      </p:sp>
      <p:sp>
        <p:nvSpPr>
          <p:cNvPr id="59" name="Shape 11"/>
          <p:cNvSpPr/>
          <p:nvPr/>
        </p:nvSpPr>
        <p:spPr>
          <a:xfrm>
            <a:off x="8412480" y="3083560"/>
            <a:ext cx="1508761" cy="310897"/>
          </a:xfrm>
          <a:prstGeom prst="roundRect">
            <a:avLst>
              <a:gd name="adj" fmla="val 35294"/>
            </a:avLst>
          </a:prstGeom>
          <a:solidFill>
            <a:srgbClr val="16A34A"/>
          </a:solidFill>
          <a:ln w="12700">
            <a:solidFill>
              <a:srgbClr val="16A34A"/>
            </a:solidFill>
          </a:ln>
        </p:spPr>
        <p:txBody>
          <a:bodyPr lIns="45719" rIns="45719"/>
          <a:lstStyle/>
          <a:p>
            <a:pPr>
              <a:defRPr b="0" sz="1800">
                <a:solidFill>
                  <a:srgbClr val="000000"/>
                </a:solidFill>
              </a:defRPr>
            </a:pPr>
          </a:p>
        </p:txBody>
      </p:sp>
      <p:sp>
        <p:nvSpPr>
          <p:cNvPr id="60" name="Text 12"/>
          <p:cNvSpPr txBox="1"/>
          <p:nvPr/>
        </p:nvSpPr>
        <p:spPr>
          <a:xfrm>
            <a:off x="8412480" y="3155441"/>
            <a:ext cx="150876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defRPr>
            </a:lvl1pPr>
          </a:lstStyle>
          <a:p>
            <a:pPr/>
            <a:r>
              <a:t>BiGRU</a:t>
            </a:r>
          </a:p>
        </p:txBody>
      </p:sp>
      <p:sp>
        <p:nvSpPr>
          <p:cNvPr id="61" name="Shape 13"/>
          <p:cNvSpPr/>
          <p:nvPr/>
        </p:nvSpPr>
        <p:spPr>
          <a:xfrm>
            <a:off x="10149840" y="3083560"/>
            <a:ext cx="1097281" cy="310897"/>
          </a:xfrm>
          <a:prstGeom prst="roundRect">
            <a:avLst>
              <a:gd name="adj" fmla="val 35294"/>
            </a:avLst>
          </a:prstGeom>
          <a:solidFill>
            <a:srgbClr val="D97706"/>
          </a:solidFill>
          <a:ln w="12700">
            <a:solidFill>
              <a:srgbClr val="D97706"/>
            </a:solidFill>
          </a:ln>
        </p:spPr>
        <p:txBody>
          <a:bodyPr lIns="45719" rIns="45719"/>
          <a:lstStyle/>
          <a:p>
            <a:pPr>
              <a:defRPr b="0" sz="1800">
                <a:solidFill>
                  <a:srgbClr val="000000"/>
                </a:solidFill>
              </a:defRPr>
            </a:pPr>
          </a:p>
        </p:txBody>
      </p:sp>
      <p:sp>
        <p:nvSpPr>
          <p:cNvPr id="62" name="Text 14"/>
          <p:cNvSpPr txBox="1"/>
          <p:nvPr/>
        </p:nvSpPr>
        <p:spPr>
          <a:xfrm>
            <a:off x="10149840" y="3155441"/>
            <a:ext cx="10972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defRPr>
            </a:lvl1pPr>
          </a:lstStyle>
          <a:p>
            <a:pPr/>
            <a:r>
              <a:t>SE</a:t>
            </a:r>
          </a:p>
        </p:txBody>
      </p:sp>
      <p:sp>
        <p:nvSpPr>
          <p:cNvPr id="63" name="Shape 15"/>
          <p:cNvSpPr/>
          <p:nvPr/>
        </p:nvSpPr>
        <p:spPr>
          <a:xfrm>
            <a:off x="4541520" y="4038600"/>
            <a:ext cx="2240280" cy="1143000"/>
          </a:xfrm>
          <a:prstGeom prst="roundRect">
            <a:avLst>
              <a:gd name="adj" fmla="val 5600"/>
            </a:avLst>
          </a:prstGeom>
          <a:solidFill>
            <a:srgbClr val="FFFFFF"/>
          </a:solidFill>
          <a:ln w="12700">
            <a:solidFill>
              <a:srgbClr val="2563EB"/>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64" name="Text 16"/>
          <p:cNvSpPr txBox="1"/>
          <p:nvPr/>
        </p:nvSpPr>
        <p:spPr>
          <a:xfrm>
            <a:off x="4651247" y="4192269"/>
            <a:ext cx="2020825"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2563EB"/>
                </a:solidFill>
              </a:defRPr>
            </a:lvl1pPr>
          </a:lstStyle>
          <a:p>
            <a:pPr/>
            <a:r>
              <a:t>Frequency</a:t>
            </a:r>
          </a:p>
        </p:txBody>
      </p:sp>
      <p:sp>
        <p:nvSpPr>
          <p:cNvPr id="65" name="Text 17"/>
          <p:cNvSpPr txBox="1"/>
          <p:nvPr/>
        </p:nvSpPr>
        <p:spPr>
          <a:xfrm>
            <a:off x="4651247" y="4734813"/>
            <a:ext cx="202082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What bands matter?</a:t>
            </a:r>
          </a:p>
        </p:txBody>
      </p:sp>
      <p:sp>
        <p:nvSpPr>
          <p:cNvPr id="66" name="Shape 18"/>
          <p:cNvSpPr/>
          <p:nvPr/>
        </p:nvSpPr>
        <p:spPr>
          <a:xfrm>
            <a:off x="6964680" y="4038600"/>
            <a:ext cx="2240281" cy="1143000"/>
          </a:xfrm>
          <a:prstGeom prst="roundRect">
            <a:avLst>
              <a:gd name="adj" fmla="val 5600"/>
            </a:avLst>
          </a:prstGeom>
          <a:solidFill>
            <a:srgbClr val="FFFFFF"/>
          </a:solidFill>
          <a:ln w="12700">
            <a:solidFill>
              <a:srgbClr val="7C3AED"/>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67" name="Text 19"/>
          <p:cNvSpPr txBox="1"/>
          <p:nvPr/>
        </p:nvSpPr>
        <p:spPr>
          <a:xfrm>
            <a:off x="7074407" y="4192269"/>
            <a:ext cx="2020825"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7C3AED"/>
                </a:solidFill>
              </a:defRPr>
            </a:lvl1pPr>
          </a:lstStyle>
          <a:p>
            <a:pPr/>
            <a:r>
              <a:t>Spatial</a:t>
            </a:r>
          </a:p>
        </p:txBody>
      </p:sp>
      <p:sp>
        <p:nvSpPr>
          <p:cNvPr id="68" name="Text 20"/>
          <p:cNvSpPr txBox="1"/>
          <p:nvPr/>
        </p:nvSpPr>
        <p:spPr>
          <a:xfrm>
            <a:off x="7074407" y="4734813"/>
            <a:ext cx="202082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Which channels interact?</a:t>
            </a:r>
          </a:p>
        </p:txBody>
      </p:sp>
      <p:sp>
        <p:nvSpPr>
          <p:cNvPr id="69" name="Shape 21"/>
          <p:cNvSpPr/>
          <p:nvPr/>
        </p:nvSpPr>
        <p:spPr>
          <a:xfrm>
            <a:off x="9387840" y="4038600"/>
            <a:ext cx="2011681" cy="1143000"/>
          </a:xfrm>
          <a:prstGeom prst="roundRect">
            <a:avLst>
              <a:gd name="adj" fmla="val 5600"/>
            </a:avLst>
          </a:prstGeom>
          <a:solidFill>
            <a:srgbClr val="FFFFFF"/>
          </a:solidFill>
          <a:ln w="12700">
            <a:solidFill>
              <a:srgbClr val="16A34A"/>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70" name="Text 22"/>
          <p:cNvSpPr txBox="1"/>
          <p:nvPr/>
        </p:nvSpPr>
        <p:spPr>
          <a:xfrm>
            <a:off x="9497568" y="4192269"/>
            <a:ext cx="1792225"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16A34A"/>
                </a:solidFill>
              </a:defRPr>
            </a:lvl1pPr>
          </a:lstStyle>
          <a:p>
            <a:pPr/>
            <a:r>
              <a:t>Temporal</a:t>
            </a:r>
          </a:p>
        </p:txBody>
      </p:sp>
      <p:sp>
        <p:nvSpPr>
          <p:cNvPr id="71" name="Text 23"/>
          <p:cNvSpPr txBox="1"/>
          <p:nvPr/>
        </p:nvSpPr>
        <p:spPr>
          <a:xfrm>
            <a:off x="9497568" y="4734813"/>
            <a:ext cx="179222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How does EEG evolve?</a:t>
            </a:r>
          </a:p>
        </p:txBody>
      </p:sp>
      <p:sp>
        <p:nvSpPr>
          <p:cNvPr id="72" name="Text 24"/>
          <p:cNvSpPr txBox="1"/>
          <p:nvPr/>
        </p:nvSpPr>
        <p:spPr>
          <a:xfrm>
            <a:off x="4389120" y="5838190"/>
            <a:ext cx="64922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164E63"/>
                </a:solidFill>
              </a:defRPr>
            </a:lvl1pPr>
          </a:lstStyle>
          <a:p>
            <a:pPr/>
            <a:r>
              <a:t>Final goal: Classify Left Fist vs Right Fist across subjects</a:t>
            </a:r>
          </a:p>
        </p:txBody>
      </p:sp>
      <p:sp>
        <p:nvSpPr>
          <p:cNvPr id="73" name="Slide Number Placeholder 0"/>
          <p:cNvSpPr txBox="1"/>
          <p:nvPr>
            <p:ph type="sldNum" sz="quarter" idx="4294967295"/>
          </p:nvPr>
        </p:nvSpPr>
        <p:spPr>
          <a:xfrm>
            <a:off x="11722607" y="6446520"/>
            <a:ext cx="160646" cy="2184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4" name="Text 3"/>
          <p:cNvSpPr txBox="1"/>
          <p:nvPr/>
        </p:nvSpPr>
        <p:spPr>
          <a:xfrm>
            <a:off x="448438" y="5150802"/>
            <a:ext cx="713232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solidFill>
                  <a:srgbClr val="FFFFFF"/>
                </a:solidFill>
              </a:defRPr>
            </a:lvl1pPr>
          </a:lstStyle>
          <a:p>
            <a:pPr/>
            <a:r>
              <a:t>Ashok Varma Bevara </a:t>
            </a:r>
          </a:p>
        </p:txBody>
      </p:sp>
      <p:sp>
        <p:nvSpPr>
          <p:cNvPr id="75" name="Text 4"/>
          <p:cNvSpPr txBox="1"/>
          <p:nvPr/>
        </p:nvSpPr>
        <p:spPr>
          <a:xfrm>
            <a:off x="448438" y="5542724"/>
            <a:ext cx="713232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FFFFFF"/>
                </a:solidFill>
              </a:defRPr>
            </a:lvl1pPr>
          </a:lstStyle>
          <a:p>
            <a:pPr/>
            <a:r>
              <a:t>Andhra University College of Engineering</a:t>
            </a:r>
          </a:p>
        </p:txBody>
      </p:sp>
      <p:sp>
        <p:nvSpPr>
          <p:cNvPr id="76" name="Text 4"/>
          <p:cNvSpPr txBox="1"/>
          <p:nvPr/>
        </p:nvSpPr>
        <p:spPr>
          <a:xfrm>
            <a:off x="448438" y="5821616"/>
            <a:ext cx="713232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FFFFFF"/>
                </a:solidFill>
              </a:defRPr>
            </a:lvl1pPr>
          </a:lstStyle>
          <a:p>
            <a:pPr/>
            <a:r>
              <a:t>M Tech. CNIS</a:t>
            </a:r>
          </a:p>
        </p:txBody>
      </p:sp>
      <p:sp>
        <p:nvSpPr>
          <p:cNvPr id="77" name="Text 4"/>
          <p:cNvSpPr txBox="1"/>
          <p:nvPr/>
        </p:nvSpPr>
        <p:spPr>
          <a:xfrm>
            <a:off x="448438" y="6075108"/>
            <a:ext cx="713232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FFFFFF"/>
                </a:solidFill>
              </a:defRPr>
            </a:lvl1pPr>
          </a:lstStyle>
          <a:p>
            <a:pPr/>
            <a:r>
              <a:t>324206455003</a:t>
            </a:r>
          </a:p>
        </p:txBody>
      </p:sp>
      <p:sp>
        <p:nvSpPr>
          <p:cNvPr id="78" name="Text 3"/>
          <p:cNvSpPr txBox="1"/>
          <p:nvPr/>
        </p:nvSpPr>
        <p:spPr>
          <a:xfrm>
            <a:off x="448438" y="3821493"/>
            <a:ext cx="3657218"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solidFill>
                  <a:srgbClr val="FFFFFF"/>
                </a:solidFill>
              </a:defRPr>
            </a:lvl1pPr>
          </a:lstStyle>
          <a:p>
            <a:pPr/>
            <a:r>
              <a:t>Prof. V. Valli Kumari</a:t>
            </a:r>
          </a:p>
        </p:txBody>
      </p:sp>
      <p:sp>
        <p:nvSpPr>
          <p:cNvPr id="79" name="Text 4"/>
          <p:cNvSpPr txBox="1"/>
          <p:nvPr/>
        </p:nvSpPr>
        <p:spPr>
          <a:xfrm>
            <a:off x="448438" y="4213415"/>
            <a:ext cx="3657218"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FFFFFF"/>
                </a:solidFill>
              </a:defRPr>
            </a:lvl1pPr>
          </a:lstStyle>
          <a:p>
            <a:pPr/>
            <a:r>
              <a:t>Professor and HoD</a:t>
            </a:r>
          </a:p>
        </p:txBody>
      </p:sp>
      <p:sp>
        <p:nvSpPr>
          <p:cNvPr id="80" name="Text 4"/>
          <p:cNvSpPr txBox="1"/>
          <p:nvPr/>
        </p:nvSpPr>
        <p:spPr>
          <a:xfrm>
            <a:off x="448438" y="4492307"/>
            <a:ext cx="376415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FFFFFF"/>
                </a:solidFill>
              </a:defRPr>
            </a:lvl1pPr>
          </a:lstStyle>
          <a:p>
            <a:pPr/>
            <a:r>
              <a:t>Dept of Computer Science &amp; Systems Engineering</a:t>
            </a:r>
          </a:p>
        </p:txBody>
      </p:sp>
      <p:sp>
        <p:nvSpPr>
          <p:cNvPr id="81" name="Text 4"/>
          <p:cNvSpPr txBox="1"/>
          <p:nvPr/>
        </p:nvSpPr>
        <p:spPr>
          <a:xfrm>
            <a:off x="448438" y="3566160"/>
            <a:ext cx="713232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FFFFFF"/>
                </a:solidFill>
              </a:defRPr>
            </a:lvl1pPr>
          </a:lstStyle>
          <a:p>
            <a:pPr/>
            <a:r>
              <a:t>Under the Esteemed Guidance of :</a:t>
            </a:r>
          </a:p>
        </p:txBody>
      </p:sp>
      <p:sp>
        <p:nvSpPr>
          <p:cNvPr id="82" name="Text 4"/>
          <p:cNvSpPr txBox="1"/>
          <p:nvPr/>
        </p:nvSpPr>
        <p:spPr>
          <a:xfrm>
            <a:off x="448438" y="4938204"/>
            <a:ext cx="713232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FFFFFF"/>
                </a:solidFill>
              </a:defRPr>
            </a:lvl1pPr>
          </a:lstStyle>
          <a:p>
            <a:pPr/>
            <a:r>
              <a:t>Presented by:</a:t>
            </a:r>
          </a:p>
        </p:txBody>
      </p:sp>
      <p:sp>
        <p:nvSpPr>
          <p:cNvPr id="83" name="Text 8"/>
          <p:cNvSpPr txBox="1"/>
          <p:nvPr/>
        </p:nvSpPr>
        <p:spPr>
          <a:xfrm>
            <a:off x="292059" y="1871217"/>
            <a:ext cx="3230962" cy="5955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sz="1600">
                <a:solidFill>
                  <a:srgbClr val="FFFFFF"/>
                </a:solidFill>
                <a:latin typeface="Times New Roman"/>
                <a:ea typeface="Times New Roman"/>
                <a:cs typeface="Times New Roman"/>
                <a:sym typeface="Times New Roman"/>
              </a:defRPr>
            </a:lvl1pPr>
          </a:lstStyle>
          <a:p>
            <a:pPr/>
            <a:r>
              <a:t>ANDHRA UNIVERSITY COLLEGE OF ENGINEERING (A)</a:t>
            </a:r>
          </a:p>
        </p:txBody>
      </p:sp>
      <p:sp>
        <p:nvSpPr>
          <p:cNvPr id="84" name="Text 9"/>
          <p:cNvSpPr txBox="1"/>
          <p:nvPr/>
        </p:nvSpPr>
        <p:spPr>
          <a:xfrm>
            <a:off x="633730" y="2793555"/>
            <a:ext cx="246888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defRPr>
            </a:lvl1pPr>
          </a:lstStyle>
          <a:p>
            <a:pPr/>
            <a:r>
              <a:t>DEPARTMENT OF COMPUTER SCIENCE AND SYSTEM ENGINEERING</a:t>
            </a:r>
          </a:p>
        </p:txBody>
      </p:sp>
      <p:pic>
        <p:nvPicPr>
          <p:cNvPr id="85" name="pasted-movie.png" descr="pasted-movie.png"/>
          <p:cNvPicPr>
            <a:picLocks noChangeAspect="1"/>
          </p:cNvPicPr>
          <p:nvPr/>
        </p:nvPicPr>
        <p:blipFill>
          <a:blip r:embed="rId3">
            <a:extLst/>
          </a:blip>
          <a:stretch>
            <a:fillRect/>
          </a:stretch>
        </p:blipFill>
        <p:spPr>
          <a:xfrm>
            <a:off x="1051923" y="74866"/>
            <a:ext cx="1645194" cy="1679830"/>
          </a:xfrm>
          <a:prstGeom prst="rect">
            <a:avLst/>
          </a:prstGeom>
          <a:ln w="12700">
            <a:miter lim="400000"/>
          </a:ln>
        </p:spPr>
      </p:pic>
      <p:sp>
        <p:nvSpPr>
          <p:cNvPr id="86" name="Text 8"/>
          <p:cNvSpPr txBox="1"/>
          <p:nvPr/>
        </p:nvSpPr>
        <p:spPr>
          <a:xfrm>
            <a:off x="266659" y="2230945"/>
            <a:ext cx="3230962" cy="5955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sz="1600">
                <a:solidFill>
                  <a:srgbClr val="FFFFFF"/>
                </a:solidFill>
                <a:latin typeface="Times New Roman"/>
                <a:ea typeface="Times New Roman"/>
                <a:cs typeface="Times New Roman"/>
                <a:sym typeface="Times New Roman"/>
              </a:defRPr>
            </a:lvl1pPr>
          </a:lstStyle>
          <a:p>
            <a:pPr/>
            <a:r>
              <a:t>VISAKHAPATNAM</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0" name="Slide Number"/>
          <p:cNvSpPr txBox="1"/>
          <p:nvPr>
            <p:ph type="sldNum" sz="quarter" idx="4294967295"/>
          </p:nvPr>
        </p:nvSpPr>
        <p:spPr>
          <a:xfrm>
            <a:off x="11700244" y="6456172"/>
            <a:ext cx="160646" cy="2184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1" name="Text 0"/>
          <p:cNvSpPr txBox="1"/>
          <p:nvPr/>
        </p:nvSpPr>
        <p:spPr>
          <a:xfrm>
            <a:off x="548639" y="355345"/>
            <a:ext cx="11064242"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7233B"/>
                </a:solidFill>
                <a:latin typeface="Aptos Display"/>
                <a:ea typeface="Aptos Display"/>
                <a:cs typeface="Aptos Display"/>
                <a:sym typeface="Aptos Display"/>
              </a:defRPr>
            </a:lvl1pPr>
          </a:lstStyle>
          <a:p>
            <a:pPr/>
            <a:r>
              <a:t>Abstract</a:t>
            </a:r>
          </a:p>
        </p:txBody>
      </p:sp>
      <p:sp>
        <p:nvSpPr>
          <p:cNvPr id="92" name="Text 1"/>
          <p:cNvSpPr txBox="1"/>
          <p:nvPr/>
        </p:nvSpPr>
        <p:spPr>
          <a:xfrm>
            <a:off x="566927" y="847344"/>
            <a:ext cx="1078992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2748A"/>
                </a:solidFill>
              </a:defRPr>
            </a:lvl1pPr>
          </a:lstStyle>
          <a:p>
            <a:pPr/>
            <a:r>
              <a:t>A compact view of the problem, solution, and demonstrated outcome.</a:t>
            </a:r>
          </a:p>
        </p:txBody>
      </p:sp>
      <p:sp>
        <p:nvSpPr>
          <p:cNvPr id="93" name="Shape 2"/>
          <p:cNvSpPr/>
          <p:nvPr/>
        </p:nvSpPr>
        <p:spPr>
          <a:xfrm>
            <a:off x="594359" y="1234439"/>
            <a:ext cx="2743201" cy="1325881"/>
          </a:xfrm>
          <a:prstGeom prst="roundRect">
            <a:avLst>
              <a:gd name="adj" fmla="val 4138"/>
            </a:avLst>
          </a:prstGeom>
          <a:solidFill>
            <a:srgbClr val="FCECEF"/>
          </a:solidFill>
          <a:ln w="15240">
            <a:solidFill>
              <a:srgbClr val="D55C6C"/>
            </a:solidFill>
          </a:ln>
        </p:spPr>
        <p:txBody>
          <a:bodyPr lIns="45719" rIns="45719"/>
          <a:lstStyle/>
          <a:p>
            <a:pPr>
              <a:defRPr b="0" sz="1800">
                <a:solidFill>
                  <a:srgbClr val="000000"/>
                </a:solidFill>
              </a:defRPr>
            </a:pPr>
          </a:p>
        </p:txBody>
      </p:sp>
      <p:sp>
        <p:nvSpPr>
          <p:cNvPr id="94" name="Text 3"/>
          <p:cNvSpPr txBox="1"/>
          <p:nvPr/>
        </p:nvSpPr>
        <p:spPr>
          <a:xfrm>
            <a:off x="758951" y="1371600"/>
            <a:ext cx="2414018"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500">
                <a:solidFill>
                  <a:srgbClr val="D55C6C"/>
                </a:solidFill>
                <a:latin typeface="Aptos Display"/>
                <a:ea typeface="Aptos Display"/>
                <a:cs typeface="Aptos Display"/>
                <a:sym typeface="Aptos Display"/>
              </a:defRPr>
            </a:lvl1pPr>
          </a:lstStyle>
          <a:p>
            <a:pPr/>
            <a:r>
              <a:t>The challenge</a:t>
            </a:r>
          </a:p>
        </p:txBody>
      </p:sp>
      <p:sp>
        <p:nvSpPr>
          <p:cNvPr id="95" name="Text 4"/>
          <p:cNvSpPr txBox="1"/>
          <p:nvPr/>
        </p:nvSpPr>
        <p:spPr>
          <a:xfrm>
            <a:off x="758951" y="1801367"/>
            <a:ext cx="2414018" cy="6126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000">
                <a:solidFill>
                  <a:srgbClr val="1D2A3A"/>
                </a:solidFill>
              </a:defRPr>
            </a:lvl1pPr>
          </a:lstStyle>
          <a:p>
            <a:pPr/>
            <a:r>
              <a:t>EEG is noisy, multidimensional, and strongly subject-dependent. The same motor task can appear differently across people.</a:t>
            </a:r>
          </a:p>
        </p:txBody>
      </p:sp>
      <p:sp>
        <p:nvSpPr>
          <p:cNvPr id="96" name="Shape 5"/>
          <p:cNvSpPr/>
          <p:nvPr/>
        </p:nvSpPr>
        <p:spPr>
          <a:xfrm>
            <a:off x="3520440" y="1234439"/>
            <a:ext cx="2743201" cy="1325881"/>
          </a:xfrm>
          <a:prstGeom prst="roundRect">
            <a:avLst>
              <a:gd name="adj" fmla="val 4138"/>
            </a:avLst>
          </a:prstGeom>
          <a:solidFill>
            <a:srgbClr val="EAF1FF"/>
          </a:solidFill>
          <a:ln w="15240">
            <a:solidFill>
              <a:srgbClr val="2E68D8"/>
            </a:solidFill>
          </a:ln>
        </p:spPr>
        <p:txBody>
          <a:bodyPr lIns="45719" rIns="45719"/>
          <a:lstStyle/>
          <a:p>
            <a:pPr>
              <a:defRPr b="0" sz="1800">
                <a:solidFill>
                  <a:srgbClr val="000000"/>
                </a:solidFill>
              </a:defRPr>
            </a:pPr>
          </a:p>
        </p:txBody>
      </p:sp>
      <p:sp>
        <p:nvSpPr>
          <p:cNvPr id="97" name="Text 6"/>
          <p:cNvSpPr txBox="1"/>
          <p:nvPr/>
        </p:nvSpPr>
        <p:spPr>
          <a:xfrm>
            <a:off x="3685032" y="1371600"/>
            <a:ext cx="2414017"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500">
                <a:solidFill>
                  <a:srgbClr val="2E68D8"/>
                </a:solidFill>
                <a:latin typeface="Aptos Display"/>
                <a:ea typeface="Aptos Display"/>
                <a:cs typeface="Aptos Display"/>
                <a:sym typeface="Aptos Display"/>
              </a:defRPr>
            </a:lvl1pPr>
          </a:lstStyle>
          <a:p>
            <a:pPr/>
            <a:r>
              <a:t>The approach</a:t>
            </a:r>
          </a:p>
        </p:txBody>
      </p:sp>
      <p:sp>
        <p:nvSpPr>
          <p:cNvPr id="98" name="Text 7"/>
          <p:cNvSpPr txBox="1"/>
          <p:nvPr/>
        </p:nvSpPr>
        <p:spPr>
          <a:xfrm>
            <a:off x="3685032" y="1801367"/>
            <a:ext cx="2414017" cy="6126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905255">
              <a:defRPr sz="989">
                <a:solidFill>
                  <a:srgbClr val="1D2A3A"/>
                </a:solidFill>
              </a:defRPr>
            </a:lvl1pPr>
          </a:lstStyle>
          <a:p>
            <a:pPr/>
            <a:r>
              <a:t>An integrated spectral–spatial–temporal architecture combines Learnable Sinc, Dynamic GNN, BiGRU, SE, GRL and SupCon, with target-time AdaBN.</a:t>
            </a:r>
          </a:p>
        </p:txBody>
      </p:sp>
      <p:sp>
        <p:nvSpPr>
          <p:cNvPr id="99" name="Shape 8"/>
          <p:cNvSpPr/>
          <p:nvPr/>
        </p:nvSpPr>
        <p:spPr>
          <a:xfrm>
            <a:off x="6446520" y="1234439"/>
            <a:ext cx="2331721" cy="1325881"/>
          </a:xfrm>
          <a:prstGeom prst="roundRect">
            <a:avLst>
              <a:gd name="adj" fmla="val 4138"/>
            </a:avLst>
          </a:prstGeom>
          <a:solidFill>
            <a:srgbClr val="F1ECFF"/>
          </a:solidFill>
          <a:ln w="15240">
            <a:solidFill>
              <a:srgbClr val="7447EA"/>
            </a:solidFill>
          </a:ln>
        </p:spPr>
        <p:txBody>
          <a:bodyPr lIns="45719" rIns="45719"/>
          <a:lstStyle/>
          <a:p>
            <a:pPr>
              <a:defRPr b="0" sz="1800">
                <a:solidFill>
                  <a:srgbClr val="000000"/>
                </a:solidFill>
              </a:defRPr>
            </a:pPr>
          </a:p>
        </p:txBody>
      </p:sp>
      <p:sp>
        <p:nvSpPr>
          <p:cNvPr id="100" name="Text 9"/>
          <p:cNvSpPr txBox="1"/>
          <p:nvPr/>
        </p:nvSpPr>
        <p:spPr>
          <a:xfrm>
            <a:off x="6611111" y="1371600"/>
            <a:ext cx="2002536"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500">
                <a:solidFill>
                  <a:srgbClr val="7447EA"/>
                </a:solidFill>
                <a:latin typeface="Aptos Display"/>
                <a:ea typeface="Aptos Display"/>
                <a:cs typeface="Aptos Display"/>
                <a:sym typeface="Aptos Display"/>
              </a:defRPr>
            </a:lvl1pPr>
          </a:lstStyle>
          <a:p>
            <a:pPr/>
            <a:r>
              <a:t>Input</a:t>
            </a:r>
          </a:p>
        </p:txBody>
      </p:sp>
      <p:sp>
        <p:nvSpPr>
          <p:cNvPr id="101" name="Text 10"/>
          <p:cNvSpPr txBox="1"/>
          <p:nvPr/>
        </p:nvSpPr>
        <p:spPr>
          <a:xfrm>
            <a:off x="6611111" y="1801367"/>
            <a:ext cx="2002536" cy="6126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defRPr sz="1100">
                <a:solidFill>
                  <a:srgbClr val="1D2A3A"/>
                </a:solidFill>
              </a:defRPr>
            </a:pPr>
            <a:r>
              <a:t>22 EEG channels × 750 samples</a:t>
            </a:r>
          </a:p>
          <a:p>
            <a:pPr>
              <a:defRPr sz="1100">
                <a:solidFill>
                  <a:srgbClr val="1D2A3A"/>
                </a:solidFill>
              </a:defRPr>
            </a:pPr>
            <a:r>
              <a:t>250 Hz • 0.5–3.5 s</a:t>
            </a:r>
          </a:p>
        </p:txBody>
      </p:sp>
      <p:sp>
        <p:nvSpPr>
          <p:cNvPr id="102" name="Shape 11"/>
          <p:cNvSpPr/>
          <p:nvPr/>
        </p:nvSpPr>
        <p:spPr>
          <a:xfrm>
            <a:off x="8961119" y="1234439"/>
            <a:ext cx="2423161" cy="1325881"/>
          </a:xfrm>
          <a:prstGeom prst="roundRect">
            <a:avLst>
              <a:gd name="adj" fmla="val 4138"/>
            </a:avLst>
          </a:prstGeom>
          <a:solidFill>
            <a:srgbClr val="EAF8F0"/>
          </a:solidFill>
          <a:ln w="15240">
            <a:solidFill>
              <a:srgbClr val="19A15F"/>
            </a:solidFill>
          </a:ln>
        </p:spPr>
        <p:txBody>
          <a:bodyPr lIns="45719" rIns="45719"/>
          <a:lstStyle/>
          <a:p>
            <a:pPr>
              <a:defRPr b="0" sz="1800">
                <a:solidFill>
                  <a:srgbClr val="000000"/>
                </a:solidFill>
              </a:defRPr>
            </a:pPr>
          </a:p>
        </p:txBody>
      </p:sp>
      <p:sp>
        <p:nvSpPr>
          <p:cNvPr id="103" name="Text 12"/>
          <p:cNvSpPr txBox="1"/>
          <p:nvPr/>
        </p:nvSpPr>
        <p:spPr>
          <a:xfrm>
            <a:off x="9125711" y="1371600"/>
            <a:ext cx="2093978"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500">
                <a:solidFill>
                  <a:srgbClr val="19A15F"/>
                </a:solidFill>
                <a:latin typeface="Aptos Display"/>
                <a:ea typeface="Aptos Display"/>
                <a:cs typeface="Aptos Display"/>
                <a:sym typeface="Aptos Display"/>
              </a:defRPr>
            </a:lvl1pPr>
          </a:lstStyle>
          <a:p>
            <a:pPr/>
            <a:r>
              <a:t>Task</a:t>
            </a:r>
          </a:p>
        </p:txBody>
      </p:sp>
      <p:sp>
        <p:nvSpPr>
          <p:cNvPr id="104" name="Text 13"/>
          <p:cNvSpPr txBox="1"/>
          <p:nvPr/>
        </p:nvSpPr>
        <p:spPr>
          <a:xfrm>
            <a:off x="9125711" y="1801367"/>
            <a:ext cx="2093978" cy="6126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defRPr sz="1100">
                <a:solidFill>
                  <a:srgbClr val="1D2A3A"/>
                </a:solidFill>
              </a:defRPr>
            </a:pPr>
            <a:r>
              <a:t>Binary motor-imagery classification:</a:t>
            </a:r>
          </a:p>
          <a:p>
            <a:pPr>
              <a:defRPr sz="1100">
                <a:solidFill>
                  <a:srgbClr val="1D2A3A"/>
                </a:solidFill>
              </a:defRPr>
            </a:pPr>
            <a:r>
              <a:t>Left Fist vs Right Fist</a:t>
            </a:r>
          </a:p>
        </p:txBody>
      </p:sp>
      <p:sp>
        <p:nvSpPr>
          <p:cNvPr id="105" name="Text 14"/>
          <p:cNvSpPr txBox="1"/>
          <p:nvPr/>
        </p:nvSpPr>
        <p:spPr>
          <a:xfrm>
            <a:off x="612647" y="2856229"/>
            <a:ext cx="292608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145A6B"/>
                </a:solidFill>
              </a:defRPr>
            </a:lvl1pPr>
          </a:lstStyle>
          <a:p>
            <a:pPr/>
            <a:r>
              <a:t>DEMONSTRATED EVALUATION</a:t>
            </a:r>
          </a:p>
        </p:txBody>
      </p:sp>
      <p:sp>
        <p:nvSpPr>
          <p:cNvPr id="106" name="Shape 15"/>
          <p:cNvSpPr/>
          <p:nvPr/>
        </p:nvSpPr>
        <p:spPr>
          <a:xfrm>
            <a:off x="594359" y="3154679"/>
            <a:ext cx="2514601" cy="1143001"/>
          </a:xfrm>
          <a:prstGeom prst="roundRect">
            <a:avLst>
              <a:gd name="adj" fmla="val 4000"/>
            </a:avLst>
          </a:prstGeom>
          <a:solidFill>
            <a:srgbClr val="FFFFFF"/>
          </a:solidFill>
          <a:ln w="15240">
            <a:solidFill>
              <a:srgbClr val="19A15F"/>
            </a:solidFill>
          </a:ln>
        </p:spPr>
        <p:txBody>
          <a:bodyPr lIns="45719" rIns="45719"/>
          <a:lstStyle/>
          <a:p>
            <a:pPr>
              <a:defRPr b="0" sz="1800">
                <a:solidFill>
                  <a:srgbClr val="000000"/>
                </a:solidFill>
              </a:defRPr>
            </a:pPr>
          </a:p>
        </p:txBody>
      </p:sp>
      <p:sp>
        <p:nvSpPr>
          <p:cNvPr id="107" name="Text 16"/>
          <p:cNvSpPr txBox="1"/>
          <p:nvPr/>
        </p:nvSpPr>
        <p:spPr>
          <a:xfrm>
            <a:off x="704087" y="3355847"/>
            <a:ext cx="2295145" cy="34747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sz="2000">
                <a:solidFill>
                  <a:srgbClr val="19A15F"/>
                </a:solidFill>
              </a:defRPr>
            </a:lvl1pPr>
          </a:lstStyle>
          <a:p>
            <a:pPr/>
            <a:r>
              <a:t>80.44 ± 8.18%</a:t>
            </a:r>
          </a:p>
        </p:txBody>
      </p:sp>
      <p:sp>
        <p:nvSpPr>
          <p:cNvPr id="108" name="Text 17"/>
          <p:cNvSpPr txBox="1"/>
          <p:nvPr/>
        </p:nvSpPr>
        <p:spPr>
          <a:xfrm>
            <a:off x="731520" y="3852925"/>
            <a:ext cx="224028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2748A"/>
                </a:solidFill>
              </a:defRPr>
            </a:lvl1pPr>
          </a:lstStyle>
          <a:p>
            <a:pPr/>
            <a:r>
              <a:t>Mean accuracy</a:t>
            </a:r>
          </a:p>
        </p:txBody>
      </p:sp>
      <p:sp>
        <p:nvSpPr>
          <p:cNvPr id="109" name="Shape 18"/>
          <p:cNvSpPr/>
          <p:nvPr/>
        </p:nvSpPr>
        <p:spPr>
          <a:xfrm>
            <a:off x="3383279" y="3154679"/>
            <a:ext cx="2514601" cy="1143001"/>
          </a:xfrm>
          <a:prstGeom prst="roundRect">
            <a:avLst>
              <a:gd name="adj" fmla="val 4000"/>
            </a:avLst>
          </a:prstGeom>
          <a:solidFill>
            <a:srgbClr val="FFFFFF"/>
          </a:solidFill>
          <a:ln w="15240">
            <a:solidFill>
              <a:srgbClr val="145A6B"/>
            </a:solidFill>
          </a:ln>
        </p:spPr>
        <p:txBody>
          <a:bodyPr lIns="45719" rIns="45719"/>
          <a:lstStyle/>
          <a:p>
            <a:pPr>
              <a:defRPr b="0" sz="1800">
                <a:solidFill>
                  <a:srgbClr val="000000"/>
                </a:solidFill>
              </a:defRPr>
            </a:pPr>
          </a:p>
        </p:txBody>
      </p:sp>
      <p:sp>
        <p:nvSpPr>
          <p:cNvPr id="110" name="Text 19"/>
          <p:cNvSpPr txBox="1"/>
          <p:nvPr/>
        </p:nvSpPr>
        <p:spPr>
          <a:xfrm>
            <a:off x="3493008" y="3355847"/>
            <a:ext cx="2295145" cy="34747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sz="2000">
                <a:solidFill>
                  <a:srgbClr val="145A6B"/>
                </a:solidFill>
              </a:defRPr>
            </a:lvl1pPr>
          </a:lstStyle>
          <a:p>
            <a:pPr/>
            <a:r>
              <a:t>0.6089 ± 0.1635</a:t>
            </a:r>
          </a:p>
        </p:txBody>
      </p:sp>
      <p:sp>
        <p:nvSpPr>
          <p:cNvPr id="111" name="Text 20"/>
          <p:cNvSpPr txBox="1"/>
          <p:nvPr/>
        </p:nvSpPr>
        <p:spPr>
          <a:xfrm>
            <a:off x="3520440" y="3852925"/>
            <a:ext cx="22402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2748A"/>
                </a:solidFill>
              </a:defRPr>
            </a:lvl1pPr>
          </a:lstStyle>
          <a:p>
            <a:pPr/>
            <a:r>
              <a:t>Cohen’s κ</a:t>
            </a:r>
          </a:p>
        </p:txBody>
      </p:sp>
      <p:sp>
        <p:nvSpPr>
          <p:cNvPr id="112" name="Shape 21"/>
          <p:cNvSpPr/>
          <p:nvPr/>
        </p:nvSpPr>
        <p:spPr>
          <a:xfrm>
            <a:off x="6172200" y="3154679"/>
            <a:ext cx="2514600" cy="1143001"/>
          </a:xfrm>
          <a:prstGeom prst="roundRect">
            <a:avLst>
              <a:gd name="adj" fmla="val 4000"/>
            </a:avLst>
          </a:prstGeom>
          <a:solidFill>
            <a:srgbClr val="FFFFFF"/>
          </a:solidFill>
          <a:ln w="15240">
            <a:solidFill>
              <a:srgbClr val="2E68D8"/>
            </a:solidFill>
          </a:ln>
        </p:spPr>
        <p:txBody>
          <a:bodyPr lIns="45719" rIns="45719"/>
          <a:lstStyle/>
          <a:p>
            <a:pPr>
              <a:defRPr b="0" sz="1800">
                <a:solidFill>
                  <a:srgbClr val="000000"/>
                </a:solidFill>
              </a:defRPr>
            </a:pPr>
          </a:p>
        </p:txBody>
      </p:sp>
      <p:sp>
        <p:nvSpPr>
          <p:cNvPr id="113" name="Text 22"/>
          <p:cNvSpPr txBox="1"/>
          <p:nvPr/>
        </p:nvSpPr>
        <p:spPr>
          <a:xfrm>
            <a:off x="6281928" y="3355847"/>
            <a:ext cx="2295145" cy="34747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sz="2000">
                <a:solidFill>
                  <a:srgbClr val="2E68D8"/>
                </a:solidFill>
              </a:defRPr>
            </a:lvl1pPr>
          </a:lstStyle>
          <a:p>
            <a:pPr/>
            <a:r>
              <a:t>0.8964</a:t>
            </a:r>
          </a:p>
        </p:txBody>
      </p:sp>
      <p:sp>
        <p:nvSpPr>
          <p:cNvPr id="114" name="Text 23"/>
          <p:cNvSpPr txBox="1"/>
          <p:nvPr/>
        </p:nvSpPr>
        <p:spPr>
          <a:xfrm>
            <a:off x="6309359" y="3852925"/>
            <a:ext cx="22402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2748A"/>
                </a:solidFill>
              </a:defRPr>
            </a:lvl1pPr>
          </a:lstStyle>
          <a:p>
            <a:pPr/>
            <a:r>
              <a:t>Aggregate ROC-AUC</a:t>
            </a:r>
          </a:p>
        </p:txBody>
      </p:sp>
      <p:sp>
        <p:nvSpPr>
          <p:cNvPr id="115" name="Shape 24"/>
          <p:cNvSpPr/>
          <p:nvPr/>
        </p:nvSpPr>
        <p:spPr>
          <a:xfrm>
            <a:off x="8961119" y="3154679"/>
            <a:ext cx="2514601" cy="1143001"/>
          </a:xfrm>
          <a:prstGeom prst="roundRect">
            <a:avLst>
              <a:gd name="adj" fmla="val 4000"/>
            </a:avLst>
          </a:prstGeom>
          <a:solidFill>
            <a:srgbClr val="FFFFFF"/>
          </a:solidFill>
          <a:ln w="15240">
            <a:solidFill>
              <a:srgbClr val="7447EA"/>
            </a:solidFill>
          </a:ln>
        </p:spPr>
        <p:txBody>
          <a:bodyPr lIns="45719" rIns="45719"/>
          <a:lstStyle/>
          <a:p>
            <a:pPr>
              <a:defRPr b="0" sz="1800">
                <a:solidFill>
                  <a:srgbClr val="000000"/>
                </a:solidFill>
              </a:defRPr>
            </a:pPr>
          </a:p>
        </p:txBody>
      </p:sp>
      <p:sp>
        <p:nvSpPr>
          <p:cNvPr id="116" name="Text 25"/>
          <p:cNvSpPr txBox="1"/>
          <p:nvPr/>
        </p:nvSpPr>
        <p:spPr>
          <a:xfrm>
            <a:off x="9070847" y="3355847"/>
            <a:ext cx="2295145" cy="34747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sz="2000">
                <a:solidFill>
                  <a:srgbClr val="7447EA"/>
                </a:solidFill>
              </a:defRPr>
            </a:lvl1pPr>
          </a:lstStyle>
          <a:p>
            <a:pPr/>
            <a:r>
              <a:t>10 / 450</a:t>
            </a:r>
          </a:p>
        </p:txBody>
      </p:sp>
      <p:sp>
        <p:nvSpPr>
          <p:cNvPr id="117" name="Text 26"/>
          <p:cNvSpPr txBox="1"/>
          <p:nvPr/>
        </p:nvSpPr>
        <p:spPr>
          <a:xfrm>
            <a:off x="9098280" y="3852925"/>
            <a:ext cx="22402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2748A"/>
                </a:solidFill>
              </a:defRPr>
            </a:lvl1pPr>
          </a:lstStyle>
          <a:p>
            <a:pPr/>
            <a:r>
              <a:t>targets / trials</a:t>
            </a:r>
          </a:p>
        </p:txBody>
      </p:sp>
      <p:sp>
        <p:nvSpPr>
          <p:cNvPr id="118" name="Shape 27"/>
          <p:cNvSpPr/>
          <p:nvPr/>
        </p:nvSpPr>
        <p:spPr>
          <a:xfrm>
            <a:off x="594359" y="4800600"/>
            <a:ext cx="10789921" cy="914400"/>
          </a:xfrm>
          <a:prstGeom prst="roundRect">
            <a:avLst>
              <a:gd name="adj" fmla="val 5000"/>
            </a:avLst>
          </a:prstGeom>
          <a:solidFill>
            <a:srgbClr val="EEF5F7"/>
          </a:solidFill>
          <a:ln w="12700">
            <a:solidFill>
              <a:srgbClr val="C9DCE3"/>
            </a:solidFill>
          </a:ln>
        </p:spPr>
        <p:txBody>
          <a:bodyPr lIns="45719" rIns="45719"/>
          <a:lstStyle/>
          <a:p>
            <a:pPr>
              <a:defRPr b="0" sz="1800">
                <a:solidFill>
                  <a:srgbClr val="000000"/>
                </a:solidFill>
              </a:defRPr>
            </a:pPr>
          </a:p>
        </p:txBody>
      </p:sp>
      <p:sp>
        <p:nvSpPr>
          <p:cNvPr id="119" name="Text 28"/>
          <p:cNvSpPr txBox="1"/>
          <p:nvPr/>
        </p:nvSpPr>
        <p:spPr>
          <a:xfrm>
            <a:off x="822960" y="5102097"/>
            <a:ext cx="146304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145A6B"/>
                </a:solidFill>
              </a:defRPr>
            </a:lvl1pPr>
          </a:lstStyle>
          <a:p>
            <a:pPr/>
            <a:r>
              <a:t>Main message</a:t>
            </a:r>
          </a:p>
        </p:txBody>
      </p:sp>
      <p:sp>
        <p:nvSpPr>
          <p:cNvPr id="120" name="Text 29"/>
          <p:cNvSpPr txBox="1"/>
          <p:nvPr/>
        </p:nvSpPr>
        <p:spPr>
          <a:xfrm>
            <a:off x="2377439" y="5010911"/>
            <a:ext cx="8458201" cy="3108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749808">
              <a:defRPr sz="1230">
                <a:solidFill>
                  <a:srgbClr val="17233B"/>
                </a:solidFill>
              </a:defRPr>
            </a:lvl1pPr>
          </a:lstStyle>
          <a:p>
            <a:pPr/>
            <a:r>
              <a:t>Treat spectral, spatial, temporal, and subject-domain variation together instead of optimizing the classifier alone.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Text 0"/>
          <p:cNvSpPr txBox="1"/>
          <p:nvPr/>
        </p:nvSpPr>
        <p:spPr>
          <a:xfrm>
            <a:off x="594359" y="399287"/>
            <a:ext cx="109728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r>
              <a:t>Motivation and Research Gaps</a:t>
            </a:r>
          </a:p>
        </p:txBody>
      </p:sp>
      <p:sp>
        <p:nvSpPr>
          <p:cNvPr id="123" name="Text 1"/>
          <p:cNvSpPr txBox="1"/>
          <p:nvPr/>
        </p:nvSpPr>
        <p:spPr>
          <a:xfrm>
            <a:off x="612647" y="886713"/>
            <a:ext cx="1078992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64748B"/>
                </a:solidFill>
              </a:defRPr>
            </a:lvl1pPr>
          </a:lstStyle>
          <a:p>
            <a:pPr/>
            <a:r>
              <a:t>The challenge is not only classification — it is variability between subjects.</a:t>
            </a:r>
          </a:p>
        </p:txBody>
      </p:sp>
      <p:sp>
        <p:nvSpPr>
          <p:cNvPr id="124" name="Shape 2"/>
          <p:cNvSpPr/>
          <p:nvPr/>
        </p:nvSpPr>
        <p:spPr>
          <a:xfrm>
            <a:off x="685800" y="1325880"/>
            <a:ext cx="3337560" cy="1234440"/>
          </a:xfrm>
          <a:prstGeom prst="roundRect">
            <a:avLst>
              <a:gd name="adj" fmla="val 5185"/>
            </a:avLst>
          </a:prstGeom>
          <a:solidFill>
            <a:srgbClr val="FFFFFF"/>
          </a:solidFill>
          <a:ln w="12700">
            <a:solidFill>
              <a:srgbClr val="E11D48"/>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125" name="Text 3"/>
          <p:cNvSpPr txBox="1"/>
          <p:nvPr/>
        </p:nvSpPr>
        <p:spPr>
          <a:xfrm>
            <a:off x="795527" y="1479550"/>
            <a:ext cx="3118105"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E11D48"/>
                </a:solidFill>
              </a:defRPr>
            </a:lvl1pPr>
          </a:lstStyle>
          <a:p>
            <a:pPr/>
            <a:r>
              <a:t>EEG is noisy</a:t>
            </a:r>
          </a:p>
        </p:txBody>
      </p:sp>
      <p:sp>
        <p:nvSpPr>
          <p:cNvPr id="126" name="Text 4"/>
          <p:cNvSpPr txBox="1"/>
          <p:nvPr/>
        </p:nvSpPr>
        <p:spPr>
          <a:xfrm>
            <a:off x="795527" y="1991613"/>
            <a:ext cx="3118105" cy="3053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Different amplitudes, noise, and irrelevant components</a:t>
            </a:r>
          </a:p>
        </p:txBody>
      </p:sp>
      <p:sp>
        <p:nvSpPr>
          <p:cNvPr id="127" name="Shape 5"/>
          <p:cNvSpPr/>
          <p:nvPr/>
        </p:nvSpPr>
        <p:spPr>
          <a:xfrm>
            <a:off x="4434840" y="1325880"/>
            <a:ext cx="3337560" cy="1234440"/>
          </a:xfrm>
          <a:prstGeom prst="roundRect">
            <a:avLst>
              <a:gd name="adj" fmla="val 5185"/>
            </a:avLst>
          </a:prstGeom>
          <a:solidFill>
            <a:srgbClr val="FFFFFF"/>
          </a:solidFill>
          <a:ln w="12700">
            <a:solidFill>
              <a:srgbClr val="2563EB"/>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128" name="Text 6"/>
          <p:cNvSpPr txBox="1"/>
          <p:nvPr/>
        </p:nvSpPr>
        <p:spPr>
          <a:xfrm>
            <a:off x="4544567" y="1479550"/>
            <a:ext cx="3118106"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2563EB"/>
                </a:solidFill>
              </a:defRPr>
            </a:lvl1pPr>
          </a:lstStyle>
          <a:p>
            <a:pPr/>
            <a:r>
              <a:t>EEG is multi-dimensional</a:t>
            </a:r>
          </a:p>
        </p:txBody>
      </p:sp>
      <p:sp>
        <p:nvSpPr>
          <p:cNvPr id="129" name="Text 7"/>
          <p:cNvSpPr txBox="1"/>
          <p:nvPr/>
        </p:nvSpPr>
        <p:spPr>
          <a:xfrm>
            <a:off x="4544567" y="1991613"/>
            <a:ext cx="3118106" cy="3053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Useful information appears in frequency, space, and time</a:t>
            </a:r>
          </a:p>
        </p:txBody>
      </p:sp>
      <p:sp>
        <p:nvSpPr>
          <p:cNvPr id="130" name="Shape 8"/>
          <p:cNvSpPr/>
          <p:nvPr/>
        </p:nvSpPr>
        <p:spPr>
          <a:xfrm>
            <a:off x="8183880" y="1325880"/>
            <a:ext cx="3337561" cy="1234440"/>
          </a:xfrm>
          <a:prstGeom prst="roundRect">
            <a:avLst>
              <a:gd name="adj" fmla="val 5185"/>
            </a:avLst>
          </a:prstGeom>
          <a:solidFill>
            <a:srgbClr val="FFFFFF"/>
          </a:solidFill>
          <a:ln w="12700">
            <a:solidFill>
              <a:srgbClr val="7C3AED"/>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131" name="Text 9"/>
          <p:cNvSpPr txBox="1"/>
          <p:nvPr/>
        </p:nvSpPr>
        <p:spPr>
          <a:xfrm>
            <a:off x="8293607" y="1479550"/>
            <a:ext cx="3118105"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7C3AED"/>
                </a:solidFill>
              </a:defRPr>
            </a:lvl1pPr>
          </a:lstStyle>
          <a:p>
            <a:pPr/>
            <a:r>
              <a:t>EEG is subject-dependent</a:t>
            </a:r>
          </a:p>
        </p:txBody>
      </p:sp>
      <p:sp>
        <p:nvSpPr>
          <p:cNvPr id="132" name="Text 10"/>
          <p:cNvSpPr txBox="1"/>
          <p:nvPr/>
        </p:nvSpPr>
        <p:spPr>
          <a:xfrm>
            <a:off x="8293607" y="2067813"/>
            <a:ext cx="311810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The same motor task looks different across people</a:t>
            </a:r>
          </a:p>
        </p:txBody>
      </p:sp>
      <p:sp>
        <p:nvSpPr>
          <p:cNvPr id="133" name="Text 11"/>
          <p:cNvSpPr txBox="1"/>
          <p:nvPr/>
        </p:nvSpPr>
        <p:spPr>
          <a:xfrm>
            <a:off x="731519" y="3004820"/>
            <a:ext cx="192024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solidFill>
                  <a:srgbClr val="164E63"/>
                </a:solidFill>
              </a:defRPr>
            </a:lvl1pPr>
          </a:lstStyle>
          <a:p>
            <a:pPr/>
            <a:r>
              <a:t>Design response</a:t>
            </a:r>
          </a:p>
        </p:txBody>
      </p:sp>
      <p:sp>
        <p:nvSpPr>
          <p:cNvPr id="134" name="Shape 12"/>
          <p:cNvSpPr/>
          <p:nvPr/>
        </p:nvSpPr>
        <p:spPr>
          <a:xfrm>
            <a:off x="749808" y="3429000"/>
            <a:ext cx="1828801" cy="310896"/>
          </a:xfrm>
          <a:prstGeom prst="roundRect">
            <a:avLst>
              <a:gd name="adj" fmla="val 35294"/>
            </a:avLst>
          </a:prstGeom>
          <a:solidFill>
            <a:srgbClr val="2563EB"/>
          </a:solidFill>
          <a:ln w="12700">
            <a:solidFill>
              <a:srgbClr val="2563EB"/>
            </a:solidFill>
          </a:ln>
        </p:spPr>
        <p:txBody>
          <a:bodyPr lIns="45719" rIns="45719"/>
          <a:lstStyle/>
          <a:p>
            <a:pPr>
              <a:defRPr b="0" sz="1800">
                <a:solidFill>
                  <a:srgbClr val="000000"/>
                </a:solidFill>
              </a:defRPr>
            </a:pPr>
          </a:p>
        </p:txBody>
      </p:sp>
      <p:sp>
        <p:nvSpPr>
          <p:cNvPr id="135" name="Text 13"/>
          <p:cNvSpPr txBox="1"/>
          <p:nvPr/>
        </p:nvSpPr>
        <p:spPr>
          <a:xfrm>
            <a:off x="749808" y="3500882"/>
            <a:ext cx="18288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defRPr>
            </a:lvl1pPr>
          </a:lstStyle>
          <a:p>
            <a:pPr/>
            <a:r>
              <a:t>Learnable Sinc</a:t>
            </a:r>
          </a:p>
        </p:txBody>
      </p:sp>
      <p:sp>
        <p:nvSpPr>
          <p:cNvPr id="136" name="Text 14"/>
          <p:cNvSpPr txBox="1"/>
          <p:nvPr/>
        </p:nvSpPr>
        <p:spPr>
          <a:xfrm>
            <a:off x="2743200" y="3495548"/>
            <a:ext cx="832104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E293B"/>
                </a:solidFill>
              </a:defRPr>
            </a:lvl1pPr>
          </a:lstStyle>
          <a:p>
            <a:pPr/>
            <a:r>
              <a:t>Learn task-relevant frequency bands</a:t>
            </a:r>
          </a:p>
        </p:txBody>
      </p:sp>
      <p:sp>
        <p:nvSpPr>
          <p:cNvPr id="137" name="Shape 15"/>
          <p:cNvSpPr/>
          <p:nvPr/>
        </p:nvSpPr>
        <p:spPr>
          <a:xfrm>
            <a:off x="749808" y="3867911"/>
            <a:ext cx="1828801" cy="310897"/>
          </a:xfrm>
          <a:prstGeom prst="roundRect">
            <a:avLst>
              <a:gd name="adj" fmla="val 35294"/>
            </a:avLst>
          </a:prstGeom>
          <a:solidFill>
            <a:srgbClr val="7C3AED"/>
          </a:solidFill>
          <a:ln w="12700">
            <a:solidFill>
              <a:srgbClr val="7C3AED"/>
            </a:solidFill>
          </a:ln>
        </p:spPr>
        <p:txBody>
          <a:bodyPr lIns="45719" rIns="45719"/>
          <a:lstStyle/>
          <a:p>
            <a:pPr>
              <a:defRPr b="0" sz="1800">
                <a:solidFill>
                  <a:srgbClr val="000000"/>
                </a:solidFill>
              </a:defRPr>
            </a:pPr>
          </a:p>
        </p:txBody>
      </p:sp>
      <p:sp>
        <p:nvSpPr>
          <p:cNvPr id="138" name="Text 16"/>
          <p:cNvSpPr txBox="1"/>
          <p:nvPr/>
        </p:nvSpPr>
        <p:spPr>
          <a:xfrm>
            <a:off x="749808" y="3939794"/>
            <a:ext cx="18288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defRPr>
            </a:lvl1pPr>
          </a:lstStyle>
          <a:p>
            <a:pPr/>
            <a:r>
              <a:t>Dynamic GNN</a:t>
            </a:r>
          </a:p>
        </p:txBody>
      </p:sp>
      <p:sp>
        <p:nvSpPr>
          <p:cNvPr id="139" name="Text 17"/>
          <p:cNvSpPr txBox="1"/>
          <p:nvPr/>
        </p:nvSpPr>
        <p:spPr>
          <a:xfrm>
            <a:off x="2743200" y="3934460"/>
            <a:ext cx="832104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E293B"/>
                </a:solidFill>
              </a:defRPr>
            </a:lvl1pPr>
          </a:lstStyle>
          <a:p>
            <a:pPr/>
            <a:r>
              <a:t>Learn trial-specific channel relationships</a:t>
            </a:r>
          </a:p>
        </p:txBody>
      </p:sp>
      <p:sp>
        <p:nvSpPr>
          <p:cNvPr id="140" name="Shape 18"/>
          <p:cNvSpPr/>
          <p:nvPr/>
        </p:nvSpPr>
        <p:spPr>
          <a:xfrm>
            <a:off x="749808" y="4306823"/>
            <a:ext cx="1828801" cy="310897"/>
          </a:xfrm>
          <a:prstGeom prst="roundRect">
            <a:avLst>
              <a:gd name="adj" fmla="val 35294"/>
            </a:avLst>
          </a:prstGeom>
          <a:solidFill>
            <a:srgbClr val="16A34A"/>
          </a:solidFill>
          <a:ln w="12700">
            <a:solidFill>
              <a:srgbClr val="16A34A"/>
            </a:solidFill>
          </a:ln>
        </p:spPr>
        <p:txBody>
          <a:bodyPr lIns="45719" rIns="45719"/>
          <a:lstStyle/>
          <a:p>
            <a:pPr>
              <a:defRPr b="0" sz="1800">
                <a:solidFill>
                  <a:srgbClr val="000000"/>
                </a:solidFill>
              </a:defRPr>
            </a:pPr>
          </a:p>
        </p:txBody>
      </p:sp>
      <p:sp>
        <p:nvSpPr>
          <p:cNvPr id="141" name="Text 19"/>
          <p:cNvSpPr txBox="1"/>
          <p:nvPr/>
        </p:nvSpPr>
        <p:spPr>
          <a:xfrm>
            <a:off x="749808" y="4378705"/>
            <a:ext cx="18288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defRPr>
            </a:lvl1pPr>
          </a:lstStyle>
          <a:p>
            <a:pPr/>
            <a:r>
              <a:t>BiGRU</a:t>
            </a:r>
          </a:p>
        </p:txBody>
      </p:sp>
      <p:sp>
        <p:nvSpPr>
          <p:cNvPr id="142" name="Text 20"/>
          <p:cNvSpPr txBox="1"/>
          <p:nvPr/>
        </p:nvSpPr>
        <p:spPr>
          <a:xfrm>
            <a:off x="2743200" y="4373372"/>
            <a:ext cx="832104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E293B"/>
                </a:solidFill>
              </a:defRPr>
            </a:lvl1pPr>
          </a:lstStyle>
          <a:p>
            <a:pPr/>
            <a:r>
              <a:t>Learn temporal evolution</a:t>
            </a:r>
          </a:p>
        </p:txBody>
      </p:sp>
      <p:sp>
        <p:nvSpPr>
          <p:cNvPr id="143" name="Shape 21"/>
          <p:cNvSpPr/>
          <p:nvPr/>
        </p:nvSpPr>
        <p:spPr>
          <a:xfrm>
            <a:off x="749808" y="4745735"/>
            <a:ext cx="1828801" cy="310897"/>
          </a:xfrm>
          <a:prstGeom prst="roundRect">
            <a:avLst>
              <a:gd name="adj" fmla="val 35294"/>
            </a:avLst>
          </a:prstGeom>
          <a:solidFill>
            <a:srgbClr val="D97706"/>
          </a:solidFill>
          <a:ln w="12700">
            <a:solidFill>
              <a:srgbClr val="D97706"/>
            </a:solidFill>
          </a:ln>
        </p:spPr>
        <p:txBody>
          <a:bodyPr lIns="45719" rIns="45719"/>
          <a:lstStyle/>
          <a:p>
            <a:pPr>
              <a:defRPr b="0" sz="1800">
                <a:solidFill>
                  <a:srgbClr val="000000"/>
                </a:solidFill>
              </a:defRPr>
            </a:pPr>
          </a:p>
        </p:txBody>
      </p:sp>
      <p:sp>
        <p:nvSpPr>
          <p:cNvPr id="144" name="Text 22"/>
          <p:cNvSpPr txBox="1"/>
          <p:nvPr/>
        </p:nvSpPr>
        <p:spPr>
          <a:xfrm>
            <a:off x="749808" y="4817617"/>
            <a:ext cx="18288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defRPr>
            </a:lvl1pPr>
          </a:lstStyle>
          <a:p>
            <a:pPr/>
            <a:r>
              <a:t>SE Attention</a:t>
            </a:r>
          </a:p>
        </p:txBody>
      </p:sp>
      <p:sp>
        <p:nvSpPr>
          <p:cNvPr id="145" name="Text 23"/>
          <p:cNvSpPr txBox="1"/>
          <p:nvPr/>
        </p:nvSpPr>
        <p:spPr>
          <a:xfrm>
            <a:off x="2743200" y="4812284"/>
            <a:ext cx="832104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E293B"/>
                </a:solidFill>
              </a:defRPr>
            </a:lvl1pPr>
          </a:lstStyle>
          <a:p>
            <a:pPr/>
            <a:r>
              <a:t>Reweight important latent features</a:t>
            </a:r>
          </a:p>
        </p:txBody>
      </p:sp>
      <p:sp>
        <p:nvSpPr>
          <p:cNvPr id="146" name="Shape 24"/>
          <p:cNvSpPr/>
          <p:nvPr/>
        </p:nvSpPr>
        <p:spPr>
          <a:xfrm>
            <a:off x="749808" y="5184647"/>
            <a:ext cx="1828801" cy="310897"/>
          </a:xfrm>
          <a:prstGeom prst="roundRect">
            <a:avLst>
              <a:gd name="adj" fmla="val 35294"/>
            </a:avLst>
          </a:prstGeom>
          <a:solidFill>
            <a:srgbClr val="0F766E"/>
          </a:solidFill>
          <a:ln w="12700">
            <a:solidFill>
              <a:srgbClr val="0F766E"/>
            </a:solidFill>
          </a:ln>
        </p:spPr>
        <p:txBody>
          <a:bodyPr lIns="45719" rIns="45719"/>
          <a:lstStyle/>
          <a:p>
            <a:pPr>
              <a:defRPr b="0" sz="1800">
                <a:solidFill>
                  <a:srgbClr val="000000"/>
                </a:solidFill>
              </a:defRPr>
            </a:pPr>
          </a:p>
        </p:txBody>
      </p:sp>
      <p:sp>
        <p:nvSpPr>
          <p:cNvPr id="147" name="Text 25"/>
          <p:cNvSpPr txBox="1"/>
          <p:nvPr/>
        </p:nvSpPr>
        <p:spPr>
          <a:xfrm>
            <a:off x="749808" y="5256530"/>
            <a:ext cx="18288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defRPr>
            </a:lvl1pPr>
          </a:lstStyle>
          <a:p>
            <a:pPr/>
            <a:r>
              <a:t>GRL + SupCon</a:t>
            </a:r>
          </a:p>
        </p:txBody>
      </p:sp>
      <p:sp>
        <p:nvSpPr>
          <p:cNvPr id="148" name="Text 26"/>
          <p:cNvSpPr txBox="1"/>
          <p:nvPr/>
        </p:nvSpPr>
        <p:spPr>
          <a:xfrm>
            <a:off x="2743200" y="5251196"/>
            <a:ext cx="832104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E293B"/>
                </a:solidFill>
              </a:defRPr>
            </a:lvl1pPr>
          </a:lstStyle>
          <a:p>
            <a:pPr/>
            <a:r>
              <a:t>Make features discriminative and less subject-specific</a:t>
            </a:r>
          </a:p>
        </p:txBody>
      </p:sp>
      <p:sp>
        <p:nvSpPr>
          <p:cNvPr id="149" name="Shape 27"/>
          <p:cNvSpPr/>
          <p:nvPr/>
        </p:nvSpPr>
        <p:spPr>
          <a:xfrm>
            <a:off x="749808" y="5623559"/>
            <a:ext cx="1828801" cy="310897"/>
          </a:xfrm>
          <a:prstGeom prst="roundRect">
            <a:avLst>
              <a:gd name="adj" fmla="val 35294"/>
            </a:avLst>
          </a:prstGeom>
          <a:solidFill>
            <a:srgbClr val="0EA5E9"/>
          </a:solidFill>
          <a:ln w="12700">
            <a:solidFill>
              <a:srgbClr val="0EA5E9"/>
            </a:solidFill>
          </a:ln>
        </p:spPr>
        <p:txBody>
          <a:bodyPr lIns="45719" rIns="45719"/>
          <a:lstStyle/>
          <a:p>
            <a:pPr>
              <a:defRPr b="0" sz="1800">
                <a:solidFill>
                  <a:srgbClr val="000000"/>
                </a:solidFill>
              </a:defRPr>
            </a:pPr>
          </a:p>
        </p:txBody>
      </p:sp>
      <p:sp>
        <p:nvSpPr>
          <p:cNvPr id="150" name="Text 28"/>
          <p:cNvSpPr txBox="1"/>
          <p:nvPr/>
        </p:nvSpPr>
        <p:spPr>
          <a:xfrm>
            <a:off x="749808" y="5695442"/>
            <a:ext cx="18288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defRPr>
            </a:lvl1pPr>
          </a:lstStyle>
          <a:p>
            <a:pPr/>
            <a:r>
              <a:t>AdaBN</a:t>
            </a:r>
          </a:p>
        </p:txBody>
      </p:sp>
      <p:sp>
        <p:nvSpPr>
          <p:cNvPr id="151" name="Text 29"/>
          <p:cNvSpPr txBox="1"/>
          <p:nvPr/>
        </p:nvSpPr>
        <p:spPr>
          <a:xfrm>
            <a:off x="2743200" y="5690108"/>
            <a:ext cx="832104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E293B"/>
                </a:solidFill>
              </a:defRPr>
            </a:lvl1pPr>
          </a:lstStyle>
          <a:p>
            <a:pPr/>
            <a:r>
              <a:t>Adapt normalization to unlabeled target EEG</a:t>
            </a:r>
          </a:p>
        </p:txBody>
      </p:sp>
      <p:sp>
        <p:nvSpPr>
          <p:cNvPr id="152" name="Slide Number Placeholder 0"/>
          <p:cNvSpPr txBox="1"/>
          <p:nvPr>
            <p:ph type="sldNum" sz="quarter" idx="4294967295"/>
          </p:nvPr>
        </p:nvSpPr>
        <p:spPr>
          <a:xfrm>
            <a:off x="11722607" y="6446520"/>
            <a:ext cx="160646" cy="2184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 name="Slide Number"/>
          <p:cNvSpPr txBox="1"/>
          <p:nvPr>
            <p:ph type="sldNum" sz="quarter" idx="4294967295"/>
          </p:nvPr>
        </p:nvSpPr>
        <p:spPr>
          <a:xfrm>
            <a:off x="11722607" y="6446520"/>
            <a:ext cx="160646" cy="2184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57" name="Text 0"/>
          <p:cNvSpPr txBox="1"/>
          <p:nvPr/>
        </p:nvSpPr>
        <p:spPr>
          <a:xfrm>
            <a:off x="594359" y="399287"/>
            <a:ext cx="109728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r>
              <a:t>Dataset Description</a:t>
            </a:r>
          </a:p>
        </p:txBody>
      </p:sp>
      <p:sp>
        <p:nvSpPr>
          <p:cNvPr id="158" name="Text 1"/>
          <p:cNvSpPr txBox="1"/>
          <p:nvPr/>
        </p:nvSpPr>
        <p:spPr>
          <a:xfrm>
            <a:off x="612647" y="886713"/>
            <a:ext cx="1078992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64748B"/>
                </a:solidFill>
              </a:defRPr>
            </a:lvl1pPr>
          </a:lstStyle>
          <a:p>
            <a:pPr/>
            <a:r>
              <a:t>PhysioNet EEG Motor Movement/Imagery Dataset (EEGMMIDB)</a:t>
            </a:r>
          </a:p>
        </p:txBody>
      </p:sp>
      <p:sp>
        <p:nvSpPr>
          <p:cNvPr id="159" name="Rounded Rectangle 2"/>
          <p:cNvSpPr/>
          <p:nvPr/>
        </p:nvSpPr>
        <p:spPr>
          <a:xfrm>
            <a:off x="502919" y="1243583"/>
            <a:ext cx="3429001" cy="3337561"/>
          </a:xfrm>
          <a:prstGeom prst="roundRect">
            <a:avLst>
              <a:gd name="adj" fmla="val 16667"/>
            </a:avLst>
          </a:prstGeom>
          <a:solidFill>
            <a:srgbClr val="E9F2FC"/>
          </a:solidFill>
          <a:ln w="12700">
            <a:solidFill>
              <a:srgbClr val="C3D8F0"/>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160" name="TextBox 3"/>
          <p:cNvSpPr txBox="1"/>
          <p:nvPr/>
        </p:nvSpPr>
        <p:spPr>
          <a:xfrm>
            <a:off x="786383" y="1432052"/>
            <a:ext cx="2871217"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sz="1700">
                <a:solidFill>
                  <a:srgbClr val="122A4C"/>
                </a:solidFill>
              </a:defRPr>
            </a:lvl1pPr>
          </a:lstStyle>
          <a:p>
            <a:pPr/>
            <a:r>
              <a:t>ORIGINAL DATASET</a:t>
            </a:r>
          </a:p>
        </p:txBody>
      </p:sp>
      <p:sp>
        <p:nvSpPr>
          <p:cNvPr id="161" name="Rounded Rectangle 4"/>
          <p:cNvSpPr/>
          <p:nvPr/>
        </p:nvSpPr>
        <p:spPr>
          <a:xfrm>
            <a:off x="713231" y="1938527"/>
            <a:ext cx="1353313" cy="841249"/>
          </a:xfrm>
          <a:prstGeom prst="roundRect">
            <a:avLst>
              <a:gd name="adj" fmla="val 16667"/>
            </a:avLst>
          </a:prstGeom>
          <a:solidFill>
            <a:srgbClr val="FFFFFF"/>
          </a:solidFill>
          <a:ln w="12700">
            <a:solidFill>
              <a:srgbClr val="D2E0F0"/>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162" name="TextBox 5"/>
          <p:cNvSpPr txBox="1"/>
          <p:nvPr/>
        </p:nvSpPr>
        <p:spPr>
          <a:xfrm>
            <a:off x="713231" y="2019299"/>
            <a:ext cx="1353314" cy="3413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defTabSz="457200">
              <a:defRPr sz="2000">
                <a:solidFill>
                  <a:srgbClr val="2A6FBC"/>
                </a:solidFill>
              </a:defRPr>
            </a:lvl1pPr>
          </a:lstStyle>
          <a:p>
            <a:pPr/>
            <a:r>
              <a:t>109</a:t>
            </a:r>
          </a:p>
        </p:txBody>
      </p:sp>
      <p:sp>
        <p:nvSpPr>
          <p:cNvPr id="163" name="TextBox 6"/>
          <p:cNvSpPr txBox="1"/>
          <p:nvPr/>
        </p:nvSpPr>
        <p:spPr>
          <a:xfrm>
            <a:off x="749808" y="2433828"/>
            <a:ext cx="1280161" cy="170689"/>
          </a:xfrm>
          <a:prstGeom prst="rect">
            <a:avLst/>
          </a:prstGeom>
          <a:ln w="12700">
            <a:miter lim="400000"/>
          </a:ln>
          <a:extLst>
            <a:ext uri="{C572A759-6A51-4108-AA02-DFA0A04FC94B}">
              <ma14:wrappingTextBoxFlag xmlns:ma14="http://schemas.microsoft.com/office/mac/drawingml/2011/main" val="1"/>
            </a:ext>
          </a:extLst>
        </p:spPr>
        <p:txBody>
          <a:bodyPr lIns="9144" tIns="9144" rIns="9144" bIns="9144" anchor="ctr">
            <a:spAutoFit/>
          </a:bodyPr>
          <a:lstStyle>
            <a:lvl1pPr algn="ctr" defTabSz="457200">
              <a:defRPr b="0" sz="1000">
                <a:solidFill>
                  <a:srgbClr val="5E6C80"/>
                </a:solidFill>
              </a:defRPr>
            </a:lvl1pPr>
          </a:lstStyle>
          <a:p>
            <a:pPr/>
            <a:r>
              <a:t>subjects</a:t>
            </a:r>
          </a:p>
        </p:txBody>
      </p:sp>
      <p:sp>
        <p:nvSpPr>
          <p:cNvPr id="164" name="Rounded Rectangle 7"/>
          <p:cNvSpPr/>
          <p:nvPr/>
        </p:nvSpPr>
        <p:spPr>
          <a:xfrm>
            <a:off x="2267711" y="1938527"/>
            <a:ext cx="1353313" cy="841249"/>
          </a:xfrm>
          <a:prstGeom prst="roundRect">
            <a:avLst>
              <a:gd name="adj" fmla="val 16667"/>
            </a:avLst>
          </a:prstGeom>
          <a:solidFill>
            <a:srgbClr val="FFFFFF"/>
          </a:solidFill>
          <a:ln w="12700">
            <a:solidFill>
              <a:srgbClr val="D2E0F0"/>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165" name="TextBox 8"/>
          <p:cNvSpPr txBox="1"/>
          <p:nvPr/>
        </p:nvSpPr>
        <p:spPr>
          <a:xfrm>
            <a:off x="2267711" y="2019299"/>
            <a:ext cx="1353314" cy="3413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defTabSz="457200">
              <a:defRPr sz="2000">
                <a:solidFill>
                  <a:srgbClr val="2A6FBC"/>
                </a:solidFill>
              </a:defRPr>
            </a:lvl1pPr>
          </a:lstStyle>
          <a:p>
            <a:pPr/>
            <a:r>
              <a:t>64</a:t>
            </a:r>
          </a:p>
        </p:txBody>
      </p:sp>
      <p:sp>
        <p:nvSpPr>
          <p:cNvPr id="166" name="TextBox 9"/>
          <p:cNvSpPr txBox="1"/>
          <p:nvPr/>
        </p:nvSpPr>
        <p:spPr>
          <a:xfrm>
            <a:off x="2304288" y="2433828"/>
            <a:ext cx="1280161" cy="170689"/>
          </a:xfrm>
          <a:prstGeom prst="rect">
            <a:avLst/>
          </a:prstGeom>
          <a:ln w="12700">
            <a:miter lim="400000"/>
          </a:ln>
          <a:extLst>
            <a:ext uri="{C572A759-6A51-4108-AA02-DFA0A04FC94B}">
              <ma14:wrappingTextBoxFlag xmlns:ma14="http://schemas.microsoft.com/office/mac/drawingml/2011/main" val="1"/>
            </a:ext>
          </a:extLst>
        </p:spPr>
        <p:txBody>
          <a:bodyPr lIns="9144" tIns="9144" rIns="9144" bIns="9144" anchor="ctr">
            <a:spAutoFit/>
          </a:bodyPr>
          <a:lstStyle>
            <a:lvl1pPr algn="ctr" defTabSz="457200">
              <a:defRPr b="0" sz="1000">
                <a:solidFill>
                  <a:srgbClr val="5E6C80"/>
                </a:solidFill>
              </a:defRPr>
            </a:lvl1pPr>
          </a:lstStyle>
          <a:p>
            <a:pPr/>
            <a:r>
              <a:t>EEG channels</a:t>
            </a:r>
          </a:p>
        </p:txBody>
      </p:sp>
      <p:sp>
        <p:nvSpPr>
          <p:cNvPr id="167" name="Rounded Rectangle 10"/>
          <p:cNvSpPr/>
          <p:nvPr/>
        </p:nvSpPr>
        <p:spPr>
          <a:xfrm>
            <a:off x="713231" y="3035807"/>
            <a:ext cx="1353313" cy="841249"/>
          </a:xfrm>
          <a:prstGeom prst="roundRect">
            <a:avLst>
              <a:gd name="adj" fmla="val 16667"/>
            </a:avLst>
          </a:prstGeom>
          <a:solidFill>
            <a:srgbClr val="FFFFFF"/>
          </a:solidFill>
          <a:ln w="12700">
            <a:solidFill>
              <a:srgbClr val="D2E0F0"/>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168" name="TextBox 11"/>
          <p:cNvSpPr txBox="1"/>
          <p:nvPr/>
        </p:nvSpPr>
        <p:spPr>
          <a:xfrm>
            <a:off x="713231" y="3116579"/>
            <a:ext cx="1353314" cy="3413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defTabSz="457200">
              <a:defRPr sz="2000">
                <a:solidFill>
                  <a:srgbClr val="2A6FBC"/>
                </a:solidFill>
              </a:defRPr>
            </a:lvl1pPr>
          </a:lstStyle>
          <a:p>
            <a:pPr/>
            <a:r>
              <a:t>160 Hz</a:t>
            </a:r>
          </a:p>
        </p:txBody>
      </p:sp>
      <p:sp>
        <p:nvSpPr>
          <p:cNvPr id="169" name="TextBox 12"/>
          <p:cNvSpPr txBox="1"/>
          <p:nvPr/>
        </p:nvSpPr>
        <p:spPr>
          <a:xfrm>
            <a:off x="749808" y="3531108"/>
            <a:ext cx="1280161" cy="170689"/>
          </a:xfrm>
          <a:prstGeom prst="rect">
            <a:avLst/>
          </a:prstGeom>
          <a:ln w="12700">
            <a:miter lim="400000"/>
          </a:ln>
          <a:extLst>
            <a:ext uri="{C572A759-6A51-4108-AA02-DFA0A04FC94B}">
              <ma14:wrappingTextBoxFlag xmlns:ma14="http://schemas.microsoft.com/office/mac/drawingml/2011/main" val="1"/>
            </a:ext>
          </a:extLst>
        </p:spPr>
        <p:txBody>
          <a:bodyPr lIns="9144" tIns="9144" rIns="9144" bIns="9144" anchor="ctr">
            <a:spAutoFit/>
          </a:bodyPr>
          <a:lstStyle>
            <a:lvl1pPr algn="ctr" defTabSz="457200">
              <a:defRPr b="0" sz="1000">
                <a:solidFill>
                  <a:srgbClr val="5E6C80"/>
                </a:solidFill>
              </a:defRPr>
            </a:lvl1pPr>
          </a:lstStyle>
          <a:p>
            <a:pPr/>
            <a:r>
              <a:t>original sampling</a:t>
            </a:r>
          </a:p>
        </p:txBody>
      </p:sp>
      <p:sp>
        <p:nvSpPr>
          <p:cNvPr id="170" name="Rounded Rectangle 13"/>
          <p:cNvSpPr/>
          <p:nvPr/>
        </p:nvSpPr>
        <p:spPr>
          <a:xfrm>
            <a:off x="2267711" y="3035807"/>
            <a:ext cx="1353313" cy="841249"/>
          </a:xfrm>
          <a:prstGeom prst="roundRect">
            <a:avLst>
              <a:gd name="adj" fmla="val 16667"/>
            </a:avLst>
          </a:prstGeom>
          <a:solidFill>
            <a:srgbClr val="FFFFFF"/>
          </a:solidFill>
          <a:ln w="12700">
            <a:solidFill>
              <a:srgbClr val="D2E0F0"/>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171" name="TextBox 14"/>
          <p:cNvSpPr txBox="1"/>
          <p:nvPr/>
        </p:nvSpPr>
        <p:spPr>
          <a:xfrm>
            <a:off x="2267711" y="3116579"/>
            <a:ext cx="1353314" cy="3413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defTabSz="457200">
              <a:defRPr sz="2000">
                <a:solidFill>
                  <a:srgbClr val="2A6FBC"/>
                </a:solidFill>
              </a:defRPr>
            </a:lvl1pPr>
          </a:lstStyle>
          <a:p>
            <a:pPr/>
            <a:r>
              <a:t>EDF+</a:t>
            </a:r>
          </a:p>
        </p:txBody>
      </p:sp>
      <p:sp>
        <p:nvSpPr>
          <p:cNvPr id="172" name="TextBox 15"/>
          <p:cNvSpPr txBox="1"/>
          <p:nvPr/>
        </p:nvSpPr>
        <p:spPr>
          <a:xfrm>
            <a:off x="2304288" y="3531108"/>
            <a:ext cx="1280161" cy="170689"/>
          </a:xfrm>
          <a:prstGeom prst="rect">
            <a:avLst/>
          </a:prstGeom>
          <a:ln w="12700">
            <a:miter lim="400000"/>
          </a:ln>
          <a:extLst>
            <a:ext uri="{C572A759-6A51-4108-AA02-DFA0A04FC94B}">
              <ma14:wrappingTextBoxFlag xmlns:ma14="http://schemas.microsoft.com/office/mac/drawingml/2011/main" val="1"/>
            </a:ext>
          </a:extLst>
        </p:spPr>
        <p:txBody>
          <a:bodyPr lIns="9144" tIns="9144" rIns="9144" bIns="9144" anchor="ctr">
            <a:spAutoFit/>
          </a:bodyPr>
          <a:lstStyle>
            <a:lvl1pPr algn="ctr" defTabSz="457200">
              <a:defRPr b="0" sz="1000">
                <a:solidFill>
                  <a:srgbClr val="5E6C80"/>
                </a:solidFill>
              </a:defRPr>
            </a:lvl1pPr>
          </a:lstStyle>
          <a:p>
            <a:pPr/>
            <a:r>
              <a:t>recording format</a:t>
            </a:r>
          </a:p>
        </p:txBody>
      </p:sp>
      <p:sp>
        <p:nvSpPr>
          <p:cNvPr id="173" name="TextBox 16"/>
          <p:cNvSpPr txBox="1"/>
          <p:nvPr/>
        </p:nvSpPr>
        <p:spPr>
          <a:xfrm>
            <a:off x="786383" y="4155694"/>
            <a:ext cx="2843785" cy="2016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0" sz="1100">
                <a:solidFill>
                  <a:srgbClr val="5E6C80"/>
                </a:solidFill>
              </a:defRPr>
            </a:lvl1pPr>
          </a:lstStyle>
          <a:p>
            <a:pPr/>
            <a:r>
              <a:t>Public multichannel EEG recordings</a:t>
            </a:r>
          </a:p>
        </p:txBody>
      </p:sp>
      <p:sp>
        <p:nvSpPr>
          <p:cNvPr id="174" name="Rounded Rectangle 17"/>
          <p:cNvSpPr/>
          <p:nvPr/>
        </p:nvSpPr>
        <p:spPr>
          <a:xfrm>
            <a:off x="4160520" y="1243583"/>
            <a:ext cx="3840480" cy="3337561"/>
          </a:xfrm>
          <a:prstGeom prst="roundRect">
            <a:avLst>
              <a:gd name="adj" fmla="val 16667"/>
            </a:avLst>
          </a:prstGeom>
          <a:solidFill>
            <a:srgbClr val="E6F7F4"/>
          </a:solidFill>
          <a:ln w="12700">
            <a:solidFill>
              <a:srgbClr val="B8E2DB"/>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175" name="TextBox 18"/>
          <p:cNvSpPr txBox="1"/>
          <p:nvPr/>
        </p:nvSpPr>
        <p:spPr>
          <a:xfrm>
            <a:off x="4462272" y="1317752"/>
            <a:ext cx="3236977" cy="519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sz="1600">
                <a:solidFill>
                  <a:srgbClr val="0C6664"/>
                </a:solidFill>
              </a:defRPr>
            </a:lvl1pPr>
          </a:lstStyle>
          <a:p>
            <a:pPr/>
            <a:r>
              <a:t>CONFIGURATION USED IN THIS STUDY</a:t>
            </a:r>
          </a:p>
        </p:txBody>
      </p:sp>
      <p:sp>
        <p:nvSpPr>
          <p:cNvPr id="176" name="TextBox 19"/>
          <p:cNvSpPr txBox="1"/>
          <p:nvPr/>
        </p:nvSpPr>
        <p:spPr>
          <a:xfrm>
            <a:off x="4372833" y="2149554"/>
            <a:ext cx="3662742" cy="1830421"/>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marL="130342" indent="-130342" defTabSz="457200">
              <a:spcBef>
                <a:spcPts val="900"/>
              </a:spcBef>
              <a:buSzPct val="100000"/>
              <a:buChar char="•"/>
              <a:defRPr sz="1300">
                <a:solidFill>
                  <a:srgbClr val="232F3E"/>
                </a:solidFill>
              </a:defRPr>
            </a:pPr>
            <a:r>
              <a:t>Task: Left Fist vs Right Fist motor imagery</a:t>
            </a:r>
          </a:p>
          <a:p>
            <a:pPr marL="130342" indent="-130342" defTabSz="457200">
              <a:spcBef>
                <a:spcPts val="900"/>
              </a:spcBef>
              <a:buSzPct val="100000"/>
              <a:buChar char="•"/>
              <a:defRPr sz="1300">
                <a:solidFill>
                  <a:srgbClr val="232F3E"/>
                </a:solidFill>
              </a:defRPr>
            </a:pPr>
            <a:r>
              <a:t>Selected runs: 4, 8 and 12 (T1 / T2)</a:t>
            </a:r>
          </a:p>
          <a:p>
            <a:pPr marL="130342" indent="-130342" defTabSz="457200">
              <a:spcBef>
                <a:spcPts val="900"/>
              </a:spcBef>
              <a:buSzPct val="100000"/>
              <a:buChar char="•"/>
              <a:defRPr sz="1300">
                <a:solidFill>
                  <a:srgbClr val="232F3E"/>
                </a:solidFill>
              </a:defRPr>
            </a:pPr>
            <a:r>
              <a:t>First 22 EEG channels retained</a:t>
            </a:r>
          </a:p>
          <a:p>
            <a:pPr marL="130342" indent="-130342" defTabSz="457200">
              <a:spcBef>
                <a:spcPts val="900"/>
              </a:spcBef>
              <a:buSzPct val="100000"/>
              <a:buChar char="•"/>
              <a:defRPr sz="1300">
                <a:solidFill>
                  <a:srgbClr val="232F3E"/>
                </a:solidFill>
              </a:defRPr>
            </a:pPr>
            <a:r>
              <a:t>Resampled to 250 Hz</a:t>
            </a:r>
          </a:p>
          <a:p>
            <a:pPr marL="130342" indent="-130342" defTabSz="457200">
              <a:spcBef>
                <a:spcPts val="900"/>
              </a:spcBef>
              <a:buSzPct val="100000"/>
              <a:buChar char="•"/>
              <a:defRPr sz="1300">
                <a:solidFill>
                  <a:srgbClr val="232F3E"/>
                </a:solidFill>
              </a:defRPr>
            </a:pPr>
            <a:r>
              <a:t>Epoch: 0.5–3.5s → 750 samples/channel</a:t>
            </a:r>
          </a:p>
          <a:p>
            <a:pPr marL="130342" indent="-130342" defTabSz="457200">
              <a:spcBef>
                <a:spcPts val="900"/>
              </a:spcBef>
              <a:buSzPct val="100000"/>
              <a:buChar char="•"/>
              <a:defRPr sz="1300">
                <a:solidFill>
                  <a:srgbClr val="232F3E"/>
                </a:solidFill>
              </a:defRPr>
            </a:pPr>
            <a:r>
              <a:t>Model input: 22 × 750 per trial</a:t>
            </a:r>
          </a:p>
        </p:txBody>
      </p:sp>
      <p:sp>
        <p:nvSpPr>
          <p:cNvPr id="177" name="Rounded Rectangle 20"/>
          <p:cNvSpPr/>
          <p:nvPr/>
        </p:nvSpPr>
        <p:spPr>
          <a:xfrm>
            <a:off x="8229600" y="1243583"/>
            <a:ext cx="3456433" cy="3337561"/>
          </a:xfrm>
          <a:prstGeom prst="roundRect">
            <a:avLst>
              <a:gd name="adj" fmla="val 16667"/>
            </a:avLst>
          </a:prstGeom>
          <a:solidFill>
            <a:srgbClr val="FFF7E2"/>
          </a:solidFill>
          <a:ln w="12700">
            <a:solidFill>
              <a:srgbClr val="EFDAA2"/>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178" name="TextBox 21"/>
          <p:cNvSpPr txBox="1"/>
          <p:nvPr/>
        </p:nvSpPr>
        <p:spPr>
          <a:xfrm>
            <a:off x="8522208" y="1432052"/>
            <a:ext cx="2871217"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sz="1700">
                <a:solidFill>
                  <a:srgbClr val="122A4C"/>
                </a:solidFill>
              </a:defRPr>
            </a:lvl1pPr>
          </a:lstStyle>
          <a:p>
            <a:pPr/>
            <a:r>
              <a:t>EVALUATION PROTOCOL</a:t>
            </a:r>
          </a:p>
        </p:txBody>
      </p:sp>
      <p:sp>
        <p:nvSpPr>
          <p:cNvPr id="179" name="Rounded Rectangle 22"/>
          <p:cNvSpPr/>
          <p:nvPr/>
        </p:nvSpPr>
        <p:spPr>
          <a:xfrm>
            <a:off x="8476488" y="1901951"/>
            <a:ext cx="2944368" cy="603505"/>
          </a:xfrm>
          <a:prstGeom prst="roundRect">
            <a:avLst>
              <a:gd name="adj" fmla="val 16667"/>
            </a:avLst>
          </a:prstGeom>
          <a:solidFill>
            <a:srgbClr val="FFFFFF"/>
          </a:solidFill>
          <a:ln w="12700">
            <a:solidFill>
              <a:srgbClr val="EDDEB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180" name="TextBox 23"/>
          <p:cNvSpPr txBox="1"/>
          <p:nvPr/>
        </p:nvSpPr>
        <p:spPr>
          <a:xfrm>
            <a:off x="8613647" y="1988311"/>
            <a:ext cx="804673"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defTabSz="457200">
              <a:defRPr sz="2200">
                <a:solidFill>
                  <a:srgbClr val="168E89"/>
                </a:solidFill>
              </a:defRPr>
            </a:lvl1pPr>
          </a:lstStyle>
          <a:p>
            <a:pPr/>
            <a:r>
              <a:t>10</a:t>
            </a:r>
          </a:p>
        </p:txBody>
      </p:sp>
      <p:sp>
        <p:nvSpPr>
          <p:cNvPr id="181" name="TextBox 24"/>
          <p:cNvSpPr txBox="1"/>
          <p:nvPr/>
        </p:nvSpPr>
        <p:spPr>
          <a:xfrm>
            <a:off x="9464040" y="2051812"/>
            <a:ext cx="1828801"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0" sz="1300">
                <a:solidFill>
                  <a:srgbClr val="232F3E"/>
                </a:solidFill>
              </a:defRPr>
            </a:lvl1pPr>
          </a:lstStyle>
          <a:p>
            <a:pPr/>
            <a:r>
              <a:t>Random target subjects</a:t>
            </a:r>
          </a:p>
        </p:txBody>
      </p:sp>
      <p:sp>
        <p:nvSpPr>
          <p:cNvPr id="182" name="Rounded Rectangle 25"/>
          <p:cNvSpPr/>
          <p:nvPr/>
        </p:nvSpPr>
        <p:spPr>
          <a:xfrm>
            <a:off x="8476488" y="2670048"/>
            <a:ext cx="2944368" cy="603505"/>
          </a:xfrm>
          <a:prstGeom prst="roundRect">
            <a:avLst>
              <a:gd name="adj" fmla="val 16667"/>
            </a:avLst>
          </a:prstGeom>
          <a:solidFill>
            <a:srgbClr val="FFFFFF"/>
          </a:solidFill>
          <a:ln w="12700">
            <a:solidFill>
              <a:srgbClr val="EDDEB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183" name="TextBox 26"/>
          <p:cNvSpPr txBox="1"/>
          <p:nvPr/>
        </p:nvSpPr>
        <p:spPr>
          <a:xfrm>
            <a:off x="8613647" y="2756407"/>
            <a:ext cx="804673"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defTabSz="457200">
              <a:defRPr sz="2200">
                <a:solidFill>
                  <a:srgbClr val="168E89"/>
                </a:solidFill>
              </a:defRPr>
            </a:lvl1pPr>
          </a:lstStyle>
          <a:p>
            <a:pPr/>
            <a:r>
              <a:t>99</a:t>
            </a:r>
          </a:p>
        </p:txBody>
      </p:sp>
      <p:sp>
        <p:nvSpPr>
          <p:cNvPr id="184" name="TextBox 27"/>
          <p:cNvSpPr txBox="1"/>
          <p:nvPr/>
        </p:nvSpPr>
        <p:spPr>
          <a:xfrm>
            <a:off x="9464040" y="2819907"/>
            <a:ext cx="1828801"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0" sz="1300">
                <a:solidFill>
                  <a:srgbClr val="232F3E"/>
                </a:solidFill>
              </a:defRPr>
            </a:lvl1pPr>
          </a:lstStyle>
          <a:p>
            <a:pPr/>
            <a:r>
              <a:t>Source subjects/fold</a:t>
            </a:r>
          </a:p>
        </p:txBody>
      </p:sp>
      <p:sp>
        <p:nvSpPr>
          <p:cNvPr id="185" name="Rounded Rectangle 28"/>
          <p:cNvSpPr/>
          <p:nvPr/>
        </p:nvSpPr>
        <p:spPr>
          <a:xfrm>
            <a:off x="8476488" y="3438144"/>
            <a:ext cx="2944368" cy="603505"/>
          </a:xfrm>
          <a:prstGeom prst="roundRect">
            <a:avLst>
              <a:gd name="adj" fmla="val 16667"/>
            </a:avLst>
          </a:prstGeom>
          <a:solidFill>
            <a:srgbClr val="FFFFFF"/>
          </a:solidFill>
          <a:ln w="12700">
            <a:solidFill>
              <a:srgbClr val="EDDEB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186" name="TextBox 29"/>
          <p:cNvSpPr txBox="1"/>
          <p:nvPr/>
        </p:nvSpPr>
        <p:spPr>
          <a:xfrm>
            <a:off x="8613647" y="3524503"/>
            <a:ext cx="804673"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defTabSz="457200">
              <a:defRPr sz="2200">
                <a:solidFill>
                  <a:srgbClr val="168E89"/>
                </a:solidFill>
              </a:defRPr>
            </a:lvl1pPr>
          </a:lstStyle>
          <a:p>
            <a:pPr/>
            <a:r>
              <a:t>450</a:t>
            </a:r>
          </a:p>
        </p:txBody>
      </p:sp>
      <p:sp>
        <p:nvSpPr>
          <p:cNvPr id="187" name="TextBox 30"/>
          <p:cNvSpPr txBox="1"/>
          <p:nvPr/>
        </p:nvSpPr>
        <p:spPr>
          <a:xfrm>
            <a:off x="9464040" y="3588003"/>
            <a:ext cx="1828801"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0" sz="1300">
                <a:solidFill>
                  <a:srgbClr val="232F3E"/>
                </a:solidFill>
              </a:defRPr>
            </a:lvl1pPr>
          </a:lstStyle>
          <a:p>
            <a:pPr/>
            <a:r>
              <a:t>Target trials total</a:t>
            </a:r>
          </a:p>
        </p:txBody>
      </p:sp>
      <p:sp>
        <p:nvSpPr>
          <p:cNvPr id="188" name="TextBox 31"/>
          <p:cNvSpPr txBox="1"/>
          <p:nvPr/>
        </p:nvSpPr>
        <p:spPr>
          <a:xfrm>
            <a:off x="8595359" y="4265421"/>
            <a:ext cx="2688337" cy="2016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0" sz="1100">
                <a:solidFill>
                  <a:srgbClr val="5E6C80"/>
                </a:solidFill>
              </a:defRPr>
            </a:lvl1pPr>
          </a:lstStyle>
          <a:p>
            <a:pPr/>
            <a:r>
              <a:t>45 target trials per fold</a:t>
            </a:r>
          </a:p>
        </p:txBody>
      </p:sp>
      <p:sp>
        <p:nvSpPr>
          <p:cNvPr id="189" name="Rounded Rectangle 32"/>
          <p:cNvSpPr/>
          <p:nvPr/>
        </p:nvSpPr>
        <p:spPr>
          <a:xfrm>
            <a:off x="502919" y="4828032"/>
            <a:ext cx="11183113" cy="1124713"/>
          </a:xfrm>
          <a:prstGeom prst="roundRect">
            <a:avLst>
              <a:gd name="adj" fmla="val 16667"/>
            </a:avLst>
          </a:prstGeom>
          <a:solidFill>
            <a:srgbClr val="FFFFFF"/>
          </a:solidFill>
          <a:ln w="12700">
            <a:solidFill>
              <a:srgbClr val="DAE2EC"/>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190" name="TextBox 33"/>
          <p:cNvSpPr txBox="1"/>
          <p:nvPr/>
        </p:nvSpPr>
        <p:spPr>
          <a:xfrm>
            <a:off x="797560" y="5254751"/>
            <a:ext cx="1563625"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0" sz="1300">
                <a:solidFill>
                  <a:srgbClr val="122A4C"/>
                </a:solidFill>
                <a:latin typeface="Arial Black"/>
                <a:ea typeface="Arial Black"/>
                <a:cs typeface="Arial Black"/>
                <a:sym typeface="Arial Black"/>
              </a:defRPr>
            </a:lvl1pPr>
          </a:lstStyle>
          <a:p>
            <a:pPr/>
            <a:r>
              <a:t>DATA PIPELINE</a:t>
            </a:r>
          </a:p>
        </p:txBody>
      </p:sp>
      <p:sp>
        <p:nvSpPr>
          <p:cNvPr id="191" name="Rounded Rectangle 34"/>
          <p:cNvSpPr/>
          <p:nvPr/>
        </p:nvSpPr>
        <p:spPr>
          <a:xfrm>
            <a:off x="2413507" y="5122164"/>
            <a:ext cx="1325881" cy="502921"/>
          </a:xfrm>
          <a:prstGeom prst="roundRect">
            <a:avLst>
              <a:gd name="adj" fmla="val 16667"/>
            </a:avLst>
          </a:prstGeom>
          <a:solidFill>
            <a:srgbClr val="E9F2FC"/>
          </a:solidFill>
          <a:ln w="12700">
            <a:solidFill>
              <a:srgbClr val="DAE2EC"/>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192" name="TextBox 35"/>
          <p:cNvSpPr txBox="1"/>
          <p:nvPr/>
        </p:nvSpPr>
        <p:spPr>
          <a:xfrm>
            <a:off x="2431795" y="5272786"/>
            <a:ext cx="1289305" cy="183389"/>
          </a:xfrm>
          <a:prstGeom prst="rect">
            <a:avLst/>
          </a:prstGeom>
          <a:ln w="12700">
            <a:miter lim="400000"/>
          </a:ln>
          <a:extLst>
            <a:ext uri="{C572A759-6A51-4108-AA02-DFA0A04FC94B}">
              <ma14:wrappingTextBoxFlag xmlns:ma14="http://schemas.microsoft.com/office/mac/drawingml/2011/main" val="1"/>
            </a:ext>
          </a:extLst>
        </p:spPr>
        <p:txBody>
          <a:bodyPr lIns="9144" tIns="9144" rIns="9144" bIns="9144" anchor="ctr">
            <a:spAutoFit/>
          </a:bodyPr>
          <a:lstStyle>
            <a:lvl1pPr algn="ctr" defTabSz="457200">
              <a:defRPr sz="1100">
                <a:solidFill>
                  <a:srgbClr val="122A4C"/>
                </a:solidFill>
              </a:defRPr>
            </a:lvl1pPr>
          </a:lstStyle>
          <a:p>
            <a:pPr/>
            <a:r>
              <a:t>EDF files</a:t>
            </a:r>
          </a:p>
        </p:txBody>
      </p:sp>
      <p:sp>
        <p:nvSpPr>
          <p:cNvPr id="193" name="TextBox 36"/>
          <p:cNvSpPr txBox="1"/>
          <p:nvPr/>
        </p:nvSpPr>
        <p:spPr>
          <a:xfrm>
            <a:off x="3748532" y="5228336"/>
            <a:ext cx="23774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457200">
              <a:defRPr sz="1700">
                <a:solidFill>
                  <a:srgbClr val="168E89"/>
                </a:solidFill>
              </a:defRPr>
            </a:lvl1pPr>
          </a:lstStyle>
          <a:p>
            <a:pPr/>
            <a:r>
              <a:t>→</a:t>
            </a:r>
          </a:p>
        </p:txBody>
      </p:sp>
      <p:sp>
        <p:nvSpPr>
          <p:cNvPr id="194" name="Rounded Rectangle 37"/>
          <p:cNvSpPr/>
          <p:nvPr/>
        </p:nvSpPr>
        <p:spPr>
          <a:xfrm>
            <a:off x="3986276" y="5122164"/>
            <a:ext cx="1508761" cy="502921"/>
          </a:xfrm>
          <a:prstGeom prst="roundRect">
            <a:avLst>
              <a:gd name="adj" fmla="val 16667"/>
            </a:avLst>
          </a:prstGeom>
          <a:solidFill>
            <a:srgbClr val="E6F7F4"/>
          </a:solidFill>
          <a:ln w="12700">
            <a:solidFill>
              <a:srgbClr val="DAE2EC"/>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195" name="TextBox 38"/>
          <p:cNvSpPr txBox="1"/>
          <p:nvPr/>
        </p:nvSpPr>
        <p:spPr>
          <a:xfrm>
            <a:off x="4004562" y="5272786"/>
            <a:ext cx="1472185" cy="183389"/>
          </a:xfrm>
          <a:prstGeom prst="rect">
            <a:avLst/>
          </a:prstGeom>
          <a:ln w="12700">
            <a:miter lim="400000"/>
          </a:ln>
          <a:extLst>
            <a:ext uri="{C572A759-6A51-4108-AA02-DFA0A04FC94B}">
              <ma14:wrappingTextBoxFlag xmlns:ma14="http://schemas.microsoft.com/office/mac/drawingml/2011/main" val="1"/>
            </a:ext>
          </a:extLst>
        </p:spPr>
        <p:txBody>
          <a:bodyPr lIns="9144" tIns="9144" rIns="9144" bIns="9144" anchor="ctr">
            <a:spAutoFit/>
          </a:bodyPr>
          <a:lstStyle>
            <a:lvl1pPr algn="ctr" defTabSz="457200">
              <a:defRPr sz="1100">
                <a:solidFill>
                  <a:srgbClr val="122A4C"/>
                </a:solidFill>
              </a:defRPr>
            </a:lvl1pPr>
          </a:lstStyle>
          <a:p>
            <a:pPr/>
            <a:r>
              <a:t>Event detection</a:t>
            </a:r>
          </a:p>
        </p:txBody>
      </p:sp>
      <p:sp>
        <p:nvSpPr>
          <p:cNvPr id="196" name="TextBox 39"/>
          <p:cNvSpPr txBox="1"/>
          <p:nvPr/>
        </p:nvSpPr>
        <p:spPr>
          <a:xfrm>
            <a:off x="5504179" y="5228336"/>
            <a:ext cx="23774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457200">
              <a:defRPr sz="1700">
                <a:solidFill>
                  <a:srgbClr val="168E89"/>
                </a:solidFill>
              </a:defRPr>
            </a:lvl1pPr>
          </a:lstStyle>
          <a:p>
            <a:pPr/>
            <a:r>
              <a:t>→</a:t>
            </a:r>
          </a:p>
        </p:txBody>
      </p:sp>
      <p:sp>
        <p:nvSpPr>
          <p:cNvPr id="197" name="Rounded Rectangle 40"/>
          <p:cNvSpPr/>
          <p:nvPr/>
        </p:nvSpPr>
        <p:spPr>
          <a:xfrm>
            <a:off x="5741923" y="5122164"/>
            <a:ext cx="1600201" cy="502921"/>
          </a:xfrm>
          <a:prstGeom prst="roundRect">
            <a:avLst>
              <a:gd name="adj" fmla="val 16667"/>
            </a:avLst>
          </a:prstGeom>
          <a:solidFill>
            <a:srgbClr val="E9F2FC"/>
          </a:solidFill>
          <a:ln w="12700">
            <a:solidFill>
              <a:srgbClr val="DAE2EC"/>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198" name="TextBox 41"/>
          <p:cNvSpPr txBox="1"/>
          <p:nvPr/>
        </p:nvSpPr>
        <p:spPr>
          <a:xfrm>
            <a:off x="5760211" y="5272786"/>
            <a:ext cx="1563626" cy="183389"/>
          </a:xfrm>
          <a:prstGeom prst="rect">
            <a:avLst/>
          </a:prstGeom>
          <a:ln w="12700">
            <a:miter lim="400000"/>
          </a:ln>
          <a:extLst>
            <a:ext uri="{C572A759-6A51-4108-AA02-DFA0A04FC94B}">
              <ma14:wrappingTextBoxFlag xmlns:ma14="http://schemas.microsoft.com/office/mac/drawingml/2011/main" val="1"/>
            </a:ext>
          </a:extLst>
        </p:spPr>
        <p:txBody>
          <a:bodyPr lIns="9144" tIns="9144" rIns="9144" bIns="9144" anchor="ctr">
            <a:spAutoFit/>
          </a:bodyPr>
          <a:lstStyle>
            <a:lvl1pPr algn="ctr" defTabSz="457200">
              <a:defRPr sz="1100">
                <a:solidFill>
                  <a:srgbClr val="122A4C"/>
                </a:solidFill>
              </a:defRPr>
            </a:lvl1pPr>
          </a:lstStyle>
          <a:p>
            <a:pPr/>
            <a:r>
              <a:t>22 × 750 trials</a:t>
            </a:r>
          </a:p>
        </p:txBody>
      </p:sp>
      <p:sp>
        <p:nvSpPr>
          <p:cNvPr id="199" name="TextBox 42"/>
          <p:cNvSpPr txBox="1"/>
          <p:nvPr/>
        </p:nvSpPr>
        <p:spPr>
          <a:xfrm>
            <a:off x="7351268" y="5228336"/>
            <a:ext cx="23774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457200">
              <a:defRPr sz="1700">
                <a:solidFill>
                  <a:srgbClr val="168E89"/>
                </a:solidFill>
              </a:defRPr>
            </a:lvl1pPr>
          </a:lstStyle>
          <a:p>
            <a:pPr/>
            <a:r>
              <a:t>→</a:t>
            </a:r>
          </a:p>
        </p:txBody>
      </p:sp>
      <p:sp>
        <p:nvSpPr>
          <p:cNvPr id="200" name="Rounded Rectangle 43"/>
          <p:cNvSpPr/>
          <p:nvPr/>
        </p:nvSpPr>
        <p:spPr>
          <a:xfrm>
            <a:off x="7589011" y="5122164"/>
            <a:ext cx="1828801" cy="502921"/>
          </a:xfrm>
          <a:prstGeom prst="roundRect">
            <a:avLst>
              <a:gd name="adj" fmla="val 16667"/>
            </a:avLst>
          </a:prstGeom>
          <a:solidFill>
            <a:srgbClr val="E6F7F4"/>
          </a:solidFill>
          <a:ln w="12700">
            <a:solidFill>
              <a:srgbClr val="DAE2EC"/>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201" name="TextBox 44"/>
          <p:cNvSpPr txBox="1"/>
          <p:nvPr/>
        </p:nvSpPr>
        <p:spPr>
          <a:xfrm>
            <a:off x="7607300" y="5272786"/>
            <a:ext cx="1792224" cy="183389"/>
          </a:xfrm>
          <a:prstGeom prst="rect">
            <a:avLst/>
          </a:prstGeom>
          <a:ln w="12700">
            <a:miter lim="400000"/>
          </a:ln>
          <a:extLst>
            <a:ext uri="{C572A759-6A51-4108-AA02-DFA0A04FC94B}">
              <ma14:wrappingTextBoxFlag xmlns:ma14="http://schemas.microsoft.com/office/mac/drawingml/2011/main" val="1"/>
            </a:ext>
          </a:extLst>
        </p:spPr>
        <p:txBody>
          <a:bodyPr lIns="9144" tIns="9144" rIns="9144" bIns="9144" anchor="ctr">
            <a:spAutoFit/>
          </a:bodyPr>
          <a:lstStyle>
            <a:lvl1pPr algn="ctr" defTabSz="457200">
              <a:defRPr sz="1100">
                <a:solidFill>
                  <a:srgbClr val="122A4C"/>
                </a:solidFill>
              </a:defRPr>
            </a:lvl1pPr>
          </a:lstStyle>
          <a:p>
            <a:pPr/>
            <a:r>
              <a:t>Per-channel Z-score</a:t>
            </a:r>
          </a:p>
        </p:txBody>
      </p:sp>
      <p:sp>
        <p:nvSpPr>
          <p:cNvPr id="202" name="TextBox 45"/>
          <p:cNvSpPr txBox="1"/>
          <p:nvPr/>
        </p:nvSpPr>
        <p:spPr>
          <a:xfrm>
            <a:off x="9426956" y="5228336"/>
            <a:ext cx="23774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457200">
              <a:defRPr sz="1700">
                <a:solidFill>
                  <a:srgbClr val="168E89"/>
                </a:solidFill>
              </a:defRPr>
            </a:lvl1pPr>
          </a:lstStyle>
          <a:p>
            <a:pPr/>
            <a:r>
              <a:t>→</a:t>
            </a:r>
          </a:p>
        </p:txBody>
      </p:sp>
      <p:sp>
        <p:nvSpPr>
          <p:cNvPr id="203" name="Rounded Rectangle 46"/>
          <p:cNvSpPr/>
          <p:nvPr/>
        </p:nvSpPr>
        <p:spPr>
          <a:xfrm>
            <a:off x="9664700" y="5122164"/>
            <a:ext cx="1234440" cy="502921"/>
          </a:xfrm>
          <a:prstGeom prst="roundRect">
            <a:avLst>
              <a:gd name="adj" fmla="val 16667"/>
            </a:avLst>
          </a:prstGeom>
          <a:solidFill>
            <a:srgbClr val="E9F2FC"/>
          </a:solidFill>
          <a:ln w="12700">
            <a:solidFill>
              <a:srgbClr val="DAE2EC"/>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204" name="TextBox 47"/>
          <p:cNvSpPr txBox="1"/>
          <p:nvPr/>
        </p:nvSpPr>
        <p:spPr>
          <a:xfrm>
            <a:off x="9682988" y="5272786"/>
            <a:ext cx="1197865" cy="183389"/>
          </a:xfrm>
          <a:prstGeom prst="rect">
            <a:avLst/>
          </a:prstGeom>
          <a:ln w="12700">
            <a:miter lim="400000"/>
          </a:ln>
          <a:extLst>
            <a:ext uri="{C572A759-6A51-4108-AA02-DFA0A04FC94B}">
              <ma14:wrappingTextBoxFlag xmlns:ma14="http://schemas.microsoft.com/office/mac/drawingml/2011/main" val="1"/>
            </a:ext>
          </a:extLst>
        </p:spPr>
        <p:txBody>
          <a:bodyPr lIns="9144" tIns="9144" rIns="9144" bIns="9144" anchor="ctr">
            <a:spAutoFit/>
          </a:bodyPr>
          <a:lstStyle>
            <a:lvl1pPr algn="ctr" defTabSz="457200">
              <a:defRPr sz="1100">
                <a:solidFill>
                  <a:srgbClr val="122A4C"/>
                </a:solidFill>
              </a:defRPr>
            </a:lvl1pPr>
          </a:lstStyle>
          <a:p>
            <a:pPr/>
            <a:r>
              <a:t>Model input</a:t>
            </a:r>
          </a:p>
        </p:txBody>
      </p:sp>
      <p:sp>
        <p:nvSpPr>
          <p:cNvPr id="205" name="TextBox 48"/>
          <p:cNvSpPr txBox="1"/>
          <p:nvPr/>
        </p:nvSpPr>
        <p:spPr>
          <a:xfrm>
            <a:off x="566927" y="6123685"/>
            <a:ext cx="11018522" cy="1762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0" sz="900">
                <a:solidFill>
                  <a:srgbClr val="5E6C80"/>
                </a:solidFill>
              </a:defRPr>
            </a:lvl1pPr>
          </a:lstStyle>
          <a:p>
            <a:pPr/>
            <a:r>
              <a:t>Source: PhysioNet EEG Motor Movement/Imagery Dataset (EEGMMIDB), DOI: 10.13026/C28G6P.  |  Target labels are reserved for evaluation; unlabeled target recordings are used for AdaBN.</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Text 0"/>
          <p:cNvSpPr txBox="1"/>
          <p:nvPr/>
        </p:nvSpPr>
        <p:spPr>
          <a:xfrm>
            <a:off x="594359" y="399287"/>
            <a:ext cx="109728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r>
              <a:t>Proposed System Architecture</a:t>
            </a:r>
          </a:p>
        </p:txBody>
      </p:sp>
      <p:sp>
        <p:nvSpPr>
          <p:cNvPr id="208" name="Text 1"/>
          <p:cNvSpPr txBox="1"/>
          <p:nvPr/>
        </p:nvSpPr>
        <p:spPr>
          <a:xfrm>
            <a:off x="612647" y="886713"/>
            <a:ext cx="1078992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64748B"/>
                </a:solidFill>
              </a:defRPr>
            </a:lvl1pPr>
          </a:lstStyle>
          <a:p>
            <a:pPr/>
            <a:r>
              <a:t>One pipeline, five learning ideas, one final decision.</a:t>
            </a:r>
          </a:p>
        </p:txBody>
      </p:sp>
      <p:sp>
        <p:nvSpPr>
          <p:cNvPr id="209" name="Shape 2"/>
          <p:cNvSpPr/>
          <p:nvPr/>
        </p:nvSpPr>
        <p:spPr>
          <a:xfrm>
            <a:off x="411480" y="1417319"/>
            <a:ext cx="1600201" cy="1115569"/>
          </a:xfrm>
          <a:prstGeom prst="roundRect">
            <a:avLst>
              <a:gd name="adj" fmla="val 5738"/>
            </a:avLst>
          </a:prstGeom>
          <a:solidFill>
            <a:srgbClr val="FFFFFF"/>
          </a:solidFill>
          <a:ln w="12700">
            <a:solidFill>
              <a:srgbClr val="E11D48"/>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210" name="Text 3"/>
          <p:cNvSpPr txBox="1"/>
          <p:nvPr/>
        </p:nvSpPr>
        <p:spPr>
          <a:xfrm>
            <a:off x="521208" y="1488439"/>
            <a:ext cx="1380745"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300">
                <a:solidFill>
                  <a:srgbClr val="E11D48"/>
                </a:solidFill>
              </a:defRPr>
            </a:pPr>
            <a:r>
              <a:t>EEG</a:t>
            </a:r>
          </a:p>
          <a:p>
            <a:pPr algn="ctr">
              <a:defRPr sz="1300">
                <a:solidFill>
                  <a:srgbClr val="E11D48"/>
                </a:solidFill>
              </a:defRPr>
            </a:pPr>
            <a:r>
              <a:t>Input</a:t>
            </a:r>
          </a:p>
        </p:txBody>
      </p:sp>
      <p:sp>
        <p:nvSpPr>
          <p:cNvPr id="211" name="Text 4"/>
          <p:cNvSpPr txBox="1"/>
          <p:nvPr/>
        </p:nvSpPr>
        <p:spPr>
          <a:xfrm>
            <a:off x="521208" y="2099818"/>
            <a:ext cx="138074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22×750</a:t>
            </a:r>
          </a:p>
        </p:txBody>
      </p:sp>
      <p:sp>
        <p:nvSpPr>
          <p:cNvPr id="212" name="Shape 5"/>
          <p:cNvSpPr/>
          <p:nvPr/>
        </p:nvSpPr>
        <p:spPr>
          <a:xfrm>
            <a:off x="2029967" y="1975104"/>
            <a:ext cx="228601" cy="1"/>
          </a:xfrm>
          <a:prstGeom prst="line">
            <a:avLst/>
          </a:prstGeom>
          <a:ln w="12700">
            <a:solidFill>
              <a:srgbClr val="64748B"/>
            </a:solidFill>
            <a:tailEnd type="triangle"/>
          </a:ln>
        </p:spPr>
        <p:txBody>
          <a:bodyPr lIns="45719" rIns="45719"/>
          <a:lstStyle/>
          <a:p>
            <a:pPr>
              <a:defRPr b="0" sz="1800">
                <a:solidFill>
                  <a:srgbClr val="000000"/>
                </a:solidFill>
              </a:defRPr>
            </a:pPr>
          </a:p>
        </p:txBody>
      </p:sp>
      <p:sp>
        <p:nvSpPr>
          <p:cNvPr id="213" name="Shape 6"/>
          <p:cNvSpPr/>
          <p:nvPr/>
        </p:nvSpPr>
        <p:spPr>
          <a:xfrm>
            <a:off x="2286000" y="1417319"/>
            <a:ext cx="1600200" cy="1115569"/>
          </a:xfrm>
          <a:prstGeom prst="roundRect">
            <a:avLst>
              <a:gd name="adj" fmla="val 5738"/>
            </a:avLst>
          </a:prstGeom>
          <a:solidFill>
            <a:srgbClr val="FFFFFF"/>
          </a:solidFill>
          <a:ln w="12700">
            <a:solidFill>
              <a:srgbClr val="2563EB"/>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214" name="Text 7"/>
          <p:cNvSpPr txBox="1"/>
          <p:nvPr/>
        </p:nvSpPr>
        <p:spPr>
          <a:xfrm>
            <a:off x="2395727" y="1488439"/>
            <a:ext cx="1380746"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300">
                <a:solidFill>
                  <a:srgbClr val="2563EB"/>
                </a:solidFill>
              </a:defRPr>
            </a:pPr>
            <a:r>
              <a:t>Sinc</a:t>
            </a:r>
          </a:p>
          <a:p>
            <a:pPr algn="ctr">
              <a:defRPr sz="1300">
                <a:solidFill>
                  <a:srgbClr val="2563EB"/>
                </a:solidFill>
              </a:defRPr>
            </a:pPr>
            <a:r>
              <a:t>10 filters</a:t>
            </a:r>
          </a:p>
        </p:txBody>
      </p:sp>
      <p:sp>
        <p:nvSpPr>
          <p:cNvPr id="215" name="Text 8"/>
          <p:cNvSpPr txBox="1"/>
          <p:nvPr/>
        </p:nvSpPr>
        <p:spPr>
          <a:xfrm>
            <a:off x="2395727" y="2099818"/>
            <a:ext cx="1380746"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Frequency</a:t>
            </a:r>
          </a:p>
        </p:txBody>
      </p:sp>
      <p:sp>
        <p:nvSpPr>
          <p:cNvPr id="216" name="Shape 9"/>
          <p:cNvSpPr/>
          <p:nvPr/>
        </p:nvSpPr>
        <p:spPr>
          <a:xfrm>
            <a:off x="3904488" y="1975104"/>
            <a:ext cx="228601" cy="1"/>
          </a:xfrm>
          <a:prstGeom prst="line">
            <a:avLst/>
          </a:prstGeom>
          <a:ln w="12700">
            <a:solidFill>
              <a:srgbClr val="64748B"/>
            </a:solidFill>
            <a:tailEnd type="triangle"/>
          </a:ln>
        </p:spPr>
        <p:txBody>
          <a:bodyPr lIns="45719" rIns="45719"/>
          <a:lstStyle/>
          <a:p>
            <a:pPr>
              <a:defRPr b="0" sz="1800">
                <a:solidFill>
                  <a:srgbClr val="000000"/>
                </a:solidFill>
              </a:defRPr>
            </a:pPr>
          </a:p>
        </p:txBody>
      </p:sp>
      <p:sp>
        <p:nvSpPr>
          <p:cNvPr id="217" name="Shape 10"/>
          <p:cNvSpPr/>
          <p:nvPr/>
        </p:nvSpPr>
        <p:spPr>
          <a:xfrm>
            <a:off x="4160520" y="1417319"/>
            <a:ext cx="1600201" cy="1115569"/>
          </a:xfrm>
          <a:prstGeom prst="roundRect">
            <a:avLst>
              <a:gd name="adj" fmla="val 5738"/>
            </a:avLst>
          </a:prstGeom>
          <a:solidFill>
            <a:srgbClr val="FFFFFF"/>
          </a:solidFill>
          <a:ln w="12700">
            <a:solidFill>
              <a:srgbClr val="7C3AED"/>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218" name="Text 11"/>
          <p:cNvSpPr txBox="1"/>
          <p:nvPr/>
        </p:nvSpPr>
        <p:spPr>
          <a:xfrm>
            <a:off x="4270247" y="1488439"/>
            <a:ext cx="1380745"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300">
                <a:solidFill>
                  <a:srgbClr val="7C3AED"/>
                </a:solidFill>
              </a:defRPr>
            </a:pPr>
            <a:r>
              <a:t>Dynamic</a:t>
            </a:r>
          </a:p>
          <a:p>
            <a:pPr algn="ctr">
              <a:defRPr sz="1300">
                <a:solidFill>
                  <a:srgbClr val="7C3AED"/>
                </a:solidFill>
              </a:defRPr>
            </a:pPr>
            <a:r>
              <a:t>GNN</a:t>
            </a:r>
          </a:p>
        </p:txBody>
      </p:sp>
      <p:sp>
        <p:nvSpPr>
          <p:cNvPr id="219" name="Text 12"/>
          <p:cNvSpPr txBox="1"/>
          <p:nvPr/>
        </p:nvSpPr>
        <p:spPr>
          <a:xfrm>
            <a:off x="4270247" y="2099818"/>
            <a:ext cx="138074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Spatial</a:t>
            </a:r>
          </a:p>
        </p:txBody>
      </p:sp>
      <p:sp>
        <p:nvSpPr>
          <p:cNvPr id="220" name="Shape 13"/>
          <p:cNvSpPr/>
          <p:nvPr/>
        </p:nvSpPr>
        <p:spPr>
          <a:xfrm>
            <a:off x="5779008" y="1975104"/>
            <a:ext cx="228601" cy="1"/>
          </a:xfrm>
          <a:prstGeom prst="line">
            <a:avLst/>
          </a:prstGeom>
          <a:ln w="12700">
            <a:solidFill>
              <a:srgbClr val="64748B"/>
            </a:solidFill>
            <a:tailEnd type="triangle"/>
          </a:ln>
        </p:spPr>
        <p:txBody>
          <a:bodyPr lIns="45719" rIns="45719"/>
          <a:lstStyle/>
          <a:p>
            <a:pPr>
              <a:defRPr b="0" sz="1800">
                <a:solidFill>
                  <a:srgbClr val="000000"/>
                </a:solidFill>
              </a:defRPr>
            </a:pPr>
          </a:p>
        </p:txBody>
      </p:sp>
      <p:sp>
        <p:nvSpPr>
          <p:cNvPr id="221" name="Shape 14"/>
          <p:cNvSpPr/>
          <p:nvPr/>
        </p:nvSpPr>
        <p:spPr>
          <a:xfrm>
            <a:off x="6035040" y="1417319"/>
            <a:ext cx="1600201" cy="1115569"/>
          </a:xfrm>
          <a:prstGeom prst="roundRect">
            <a:avLst>
              <a:gd name="adj" fmla="val 5738"/>
            </a:avLst>
          </a:prstGeom>
          <a:solidFill>
            <a:srgbClr val="FFFFFF"/>
          </a:solidFill>
          <a:ln w="12700">
            <a:solidFill>
              <a:srgbClr val="0F766E"/>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222" name="Text 15"/>
          <p:cNvSpPr txBox="1"/>
          <p:nvPr/>
        </p:nvSpPr>
        <p:spPr>
          <a:xfrm>
            <a:off x="6144767" y="1488439"/>
            <a:ext cx="1380745"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300">
                <a:solidFill>
                  <a:srgbClr val="0F766E"/>
                </a:solidFill>
              </a:defRPr>
            </a:pPr>
            <a:r>
              <a:t>Mean</a:t>
            </a:r>
          </a:p>
          <a:p>
            <a:pPr algn="ctr">
              <a:defRPr sz="1300">
                <a:solidFill>
                  <a:srgbClr val="0F766E"/>
                </a:solidFill>
              </a:defRPr>
            </a:pPr>
            <a:r>
              <a:t>Pooling</a:t>
            </a:r>
          </a:p>
        </p:txBody>
      </p:sp>
      <p:sp>
        <p:nvSpPr>
          <p:cNvPr id="223" name="Text 16"/>
          <p:cNvSpPr txBox="1"/>
          <p:nvPr/>
        </p:nvSpPr>
        <p:spPr>
          <a:xfrm>
            <a:off x="6144767" y="2099818"/>
            <a:ext cx="138074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Compact</a:t>
            </a:r>
          </a:p>
        </p:txBody>
      </p:sp>
      <p:sp>
        <p:nvSpPr>
          <p:cNvPr id="224" name="Shape 17"/>
          <p:cNvSpPr/>
          <p:nvPr/>
        </p:nvSpPr>
        <p:spPr>
          <a:xfrm>
            <a:off x="7653528" y="1975104"/>
            <a:ext cx="228601" cy="1"/>
          </a:xfrm>
          <a:prstGeom prst="line">
            <a:avLst/>
          </a:prstGeom>
          <a:ln w="12700">
            <a:solidFill>
              <a:srgbClr val="64748B"/>
            </a:solidFill>
            <a:tailEnd type="triangle"/>
          </a:ln>
        </p:spPr>
        <p:txBody>
          <a:bodyPr lIns="45719" rIns="45719"/>
          <a:lstStyle/>
          <a:p>
            <a:pPr>
              <a:defRPr b="0" sz="1800">
                <a:solidFill>
                  <a:srgbClr val="000000"/>
                </a:solidFill>
              </a:defRPr>
            </a:pPr>
          </a:p>
        </p:txBody>
      </p:sp>
      <p:sp>
        <p:nvSpPr>
          <p:cNvPr id="225" name="Shape 18"/>
          <p:cNvSpPr/>
          <p:nvPr/>
        </p:nvSpPr>
        <p:spPr>
          <a:xfrm>
            <a:off x="7909559" y="1417319"/>
            <a:ext cx="1600201" cy="1115569"/>
          </a:xfrm>
          <a:prstGeom prst="roundRect">
            <a:avLst>
              <a:gd name="adj" fmla="val 5738"/>
            </a:avLst>
          </a:prstGeom>
          <a:solidFill>
            <a:srgbClr val="FFFFFF"/>
          </a:solidFill>
          <a:ln w="12700">
            <a:solidFill>
              <a:srgbClr val="16A34A"/>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226" name="Text 19"/>
          <p:cNvSpPr txBox="1"/>
          <p:nvPr/>
        </p:nvSpPr>
        <p:spPr>
          <a:xfrm>
            <a:off x="8019288" y="1488439"/>
            <a:ext cx="1380745"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300">
                <a:solidFill>
                  <a:srgbClr val="16A34A"/>
                </a:solidFill>
              </a:defRPr>
            </a:pPr>
            <a:r>
              <a:t>BiGRU</a:t>
            </a:r>
          </a:p>
          <a:p>
            <a:pPr algn="ctr">
              <a:defRPr sz="1300">
                <a:solidFill>
                  <a:srgbClr val="16A34A"/>
                </a:solidFill>
              </a:defRPr>
            </a:pPr>
            <a:r>
              <a:t>32+32</a:t>
            </a:r>
          </a:p>
        </p:txBody>
      </p:sp>
      <p:sp>
        <p:nvSpPr>
          <p:cNvPr id="227" name="Text 20"/>
          <p:cNvSpPr txBox="1"/>
          <p:nvPr/>
        </p:nvSpPr>
        <p:spPr>
          <a:xfrm>
            <a:off x="8019288" y="2099818"/>
            <a:ext cx="138074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Temporal</a:t>
            </a:r>
          </a:p>
        </p:txBody>
      </p:sp>
      <p:sp>
        <p:nvSpPr>
          <p:cNvPr id="228" name="Shape 21"/>
          <p:cNvSpPr/>
          <p:nvPr/>
        </p:nvSpPr>
        <p:spPr>
          <a:xfrm>
            <a:off x="9528047" y="1975104"/>
            <a:ext cx="228601" cy="1"/>
          </a:xfrm>
          <a:prstGeom prst="line">
            <a:avLst/>
          </a:prstGeom>
          <a:ln w="12700">
            <a:solidFill>
              <a:srgbClr val="64748B"/>
            </a:solidFill>
            <a:tailEnd type="triangle"/>
          </a:ln>
        </p:spPr>
        <p:txBody>
          <a:bodyPr lIns="45719" rIns="45719"/>
          <a:lstStyle/>
          <a:p>
            <a:pPr>
              <a:defRPr b="0" sz="1800">
                <a:solidFill>
                  <a:srgbClr val="000000"/>
                </a:solidFill>
              </a:defRPr>
            </a:pPr>
          </a:p>
        </p:txBody>
      </p:sp>
      <p:sp>
        <p:nvSpPr>
          <p:cNvPr id="229" name="Shape 22"/>
          <p:cNvSpPr/>
          <p:nvPr/>
        </p:nvSpPr>
        <p:spPr>
          <a:xfrm>
            <a:off x="9784080" y="1417319"/>
            <a:ext cx="1600201" cy="1115569"/>
          </a:xfrm>
          <a:prstGeom prst="roundRect">
            <a:avLst>
              <a:gd name="adj" fmla="val 5738"/>
            </a:avLst>
          </a:prstGeom>
          <a:solidFill>
            <a:srgbClr val="FFFFFF"/>
          </a:solidFill>
          <a:ln w="12700">
            <a:solidFill>
              <a:srgbClr val="D97706"/>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230" name="Text 23"/>
          <p:cNvSpPr txBox="1"/>
          <p:nvPr/>
        </p:nvSpPr>
        <p:spPr>
          <a:xfrm>
            <a:off x="9893807" y="1486867"/>
            <a:ext cx="1380745" cy="40954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300">
                <a:solidFill>
                  <a:srgbClr val="D97706"/>
                </a:solidFill>
              </a:defRPr>
            </a:pPr>
            <a:r>
              <a:t>SE</a:t>
            </a:r>
          </a:p>
          <a:p>
            <a:pPr algn="ctr">
              <a:defRPr sz="1300">
                <a:solidFill>
                  <a:srgbClr val="D97706"/>
                </a:solidFill>
              </a:defRPr>
            </a:pPr>
            <a:r>
              <a:t>64→4→64</a:t>
            </a:r>
          </a:p>
        </p:txBody>
      </p:sp>
      <p:sp>
        <p:nvSpPr>
          <p:cNvPr id="231" name="Text 24"/>
          <p:cNvSpPr txBox="1"/>
          <p:nvPr/>
        </p:nvSpPr>
        <p:spPr>
          <a:xfrm>
            <a:off x="9893807" y="2099818"/>
            <a:ext cx="138074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Reweight</a:t>
            </a:r>
          </a:p>
        </p:txBody>
      </p:sp>
      <p:sp>
        <p:nvSpPr>
          <p:cNvPr id="232" name="Text 25"/>
          <p:cNvSpPr txBox="1"/>
          <p:nvPr/>
        </p:nvSpPr>
        <p:spPr>
          <a:xfrm>
            <a:off x="4572000" y="2659380"/>
            <a:ext cx="2971800" cy="762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164E63"/>
                </a:solidFill>
              </a:defRPr>
            </a:lvl1pPr>
          </a:lstStyle>
          <a:p>
            <a:pPr/>
            <a:r>
              <a:t>64-D latent representation</a:t>
            </a:r>
          </a:p>
        </p:txBody>
      </p:sp>
      <p:sp>
        <p:nvSpPr>
          <p:cNvPr id="233" name="Shape 26"/>
          <p:cNvSpPr/>
          <p:nvPr/>
        </p:nvSpPr>
        <p:spPr>
          <a:xfrm>
            <a:off x="822960" y="3657600"/>
            <a:ext cx="3154680" cy="1143000"/>
          </a:xfrm>
          <a:prstGeom prst="roundRect">
            <a:avLst>
              <a:gd name="adj" fmla="val 5600"/>
            </a:avLst>
          </a:prstGeom>
          <a:solidFill>
            <a:srgbClr val="FFFFFF"/>
          </a:solidFill>
          <a:ln w="12700">
            <a:solidFill>
              <a:srgbClr val="2563EB"/>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234" name="Text 27"/>
          <p:cNvSpPr txBox="1"/>
          <p:nvPr/>
        </p:nvSpPr>
        <p:spPr>
          <a:xfrm>
            <a:off x="817560" y="3969766"/>
            <a:ext cx="2935225"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500">
                <a:solidFill>
                  <a:srgbClr val="2563EB"/>
                </a:solidFill>
              </a:defRPr>
            </a:pPr>
            <a:r>
              <a:t>Task classifier</a:t>
            </a:r>
          </a:p>
          <a:p>
            <a:pPr algn="ctr">
              <a:defRPr sz="1500">
                <a:solidFill>
                  <a:srgbClr val="2563EB"/>
                </a:solidFill>
              </a:defRPr>
            </a:pPr>
            <a:r>
              <a:t>Left / Right</a:t>
            </a:r>
          </a:p>
        </p:txBody>
      </p:sp>
      <p:sp>
        <p:nvSpPr>
          <p:cNvPr id="235" name="Shape 28"/>
          <p:cNvSpPr/>
          <p:nvPr/>
        </p:nvSpPr>
        <p:spPr>
          <a:xfrm>
            <a:off x="4617720" y="3657600"/>
            <a:ext cx="3154680" cy="1143000"/>
          </a:xfrm>
          <a:prstGeom prst="roundRect">
            <a:avLst>
              <a:gd name="adj" fmla="val 5600"/>
            </a:avLst>
          </a:prstGeom>
          <a:solidFill>
            <a:srgbClr val="FFFFFF"/>
          </a:solidFill>
          <a:ln w="12700">
            <a:solidFill>
              <a:srgbClr val="E11D48"/>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236" name="Text 29"/>
          <p:cNvSpPr txBox="1"/>
          <p:nvPr/>
        </p:nvSpPr>
        <p:spPr>
          <a:xfrm>
            <a:off x="4636007" y="3969766"/>
            <a:ext cx="2935225"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500">
                <a:solidFill>
                  <a:srgbClr val="E11D48"/>
                </a:solidFill>
              </a:defRPr>
            </a:pPr>
            <a:r>
              <a:t>Domain classifier</a:t>
            </a:r>
          </a:p>
          <a:p>
            <a:pPr algn="ctr">
              <a:defRPr sz="1500">
                <a:solidFill>
                  <a:srgbClr val="E11D48"/>
                </a:solidFill>
              </a:defRPr>
            </a:pPr>
            <a:r>
              <a:t>(</a:t>
            </a:r>
            <a:r>
              <a:t>Subject identity)</a:t>
            </a:r>
          </a:p>
        </p:txBody>
      </p:sp>
      <p:sp>
        <p:nvSpPr>
          <p:cNvPr id="237" name="Shape 30"/>
          <p:cNvSpPr/>
          <p:nvPr/>
        </p:nvSpPr>
        <p:spPr>
          <a:xfrm>
            <a:off x="8412480" y="3657600"/>
            <a:ext cx="3154681" cy="1143000"/>
          </a:xfrm>
          <a:prstGeom prst="roundRect">
            <a:avLst>
              <a:gd name="adj" fmla="val 5600"/>
            </a:avLst>
          </a:prstGeom>
          <a:solidFill>
            <a:srgbClr val="FFFFFF"/>
          </a:solidFill>
          <a:ln w="12700">
            <a:solidFill>
              <a:srgbClr val="16A34A"/>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238" name="Text 31"/>
          <p:cNvSpPr txBox="1"/>
          <p:nvPr/>
        </p:nvSpPr>
        <p:spPr>
          <a:xfrm>
            <a:off x="8454455" y="4000500"/>
            <a:ext cx="2935225"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500">
                <a:solidFill>
                  <a:srgbClr val="16A34A"/>
                </a:solidFill>
              </a:defRPr>
            </a:pPr>
            <a:r>
              <a:t>SupCon head</a:t>
            </a:r>
          </a:p>
          <a:p>
            <a:pPr algn="ctr">
              <a:defRPr sz="1500">
                <a:solidFill>
                  <a:srgbClr val="16A34A"/>
                </a:solidFill>
              </a:defRPr>
            </a:pPr>
            <a:r>
              <a:t>Feature structure</a:t>
            </a:r>
          </a:p>
        </p:txBody>
      </p:sp>
      <p:sp>
        <p:nvSpPr>
          <p:cNvPr id="239" name="Text 32"/>
          <p:cNvSpPr txBox="1"/>
          <p:nvPr/>
        </p:nvSpPr>
        <p:spPr>
          <a:xfrm>
            <a:off x="3977640" y="5132323"/>
            <a:ext cx="429768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E11D48"/>
                </a:solidFill>
              </a:defRPr>
            </a:lvl1pPr>
          </a:lstStyle>
          <a:p>
            <a:pPr/>
            <a:r>
              <a:t>GRL acts on the domain branch during backpropagation</a:t>
            </a:r>
          </a:p>
        </p:txBody>
      </p:sp>
      <p:sp>
        <p:nvSpPr>
          <p:cNvPr id="240" name="Shape 33"/>
          <p:cNvSpPr/>
          <p:nvPr/>
        </p:nvSpPr>
        <p:spPr>
          <a:xfrm>
            <a:off x="4297679" y="5486400"/>
            <a:ext cx="3611881" cy="658369"/>
          </a:xfrm>
          <a:prstGeom prst="roundRect">
            <a:avLst>
              <a:gd name="adj" fmla="val 9722"/>
            </a:avLst>
          </a:prstGeom>
          <a:solidFill>
            <a:srgbClr val="FFFFFF"/>
          </a:solidFill>
          <a:ln w="12700">
            <a:solidFill>
              <a:srgbClr val="0EA5E9"/>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241" name="Text 34"/>
          <p:cNvSpPr txBox="1"/>
          <p:nvPr/>
        </p:nvSpPr>
        <p:spPr>
          <a:xfrm>
            <a:off x="4407408" y="5657547"/>
            <a:ext cx="3392425" cy="20634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0EA5E9"/>
                </a:solidFill>
              </a:defRPr>
            </a:lvl1pPr>
          </a:lstStyle>
          <a:p>
            <a:pPr/>
            <a:r>
              <a:t>Target-time AdaBN → final prediction</a:t>
            </a:r>
          </a:p>
        </p:txBody>
      </p:sp>
      <p:sp>
        <p:nvSpPr>
          <p:cNvPr id="242" name="Text 35"/>
          <p:cNvSpPr txBox="1"/>
          <p:nvPr/>
        </p:nvSpPr>
        <p:spPr>
          <a:xfrm>
            <a:off x="4407408" y="5940298"/>
            <a:ext cx="339242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Unlabeled target EEG</a:t>
            </a:r>
          </a:p>
        </p:txBody>
      </p:sp>
      <p:sp>
        <p:nvSpPr>
          <p:cNvPr id="243" name="Slide Number Placeholder 0"/>
          <p:cNvSpPr txBox="1"/>
          <p:nvPr>
            <p:ph type="sldNum" sz="quarter" idx="4294967295"/>
          </p:nvPr>
        </p:nvSpPr>
        <p:spPr>
          <a:xfrm>
            <a:off x="11722607" y="6446520"/>
            <a:ext cx="160646" cy="2184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44" name="Line"/>
          <p:cNvSpPr/>
          <p:nvPr/>
        </p:nvSpPr>
        <p:spPr>
          <a:xfrm>
            <a:off x="5969508" y="3373906"/>
            <a:ext cx="1" cy="277574"/>
          </a:xfrm>
          <a:prstGeom prst="line">
            <a:avLst/>
          </a:prstGeom>
          <a:ln w="12700">
            <a:solidFill>
              <a:schemeClr val="accent1"/>
            </a:solidFill>
            <a:miter/>
            <a:tailEnd type="triangle"/>
          </a:ln>
        </p:spPr>
        <p:txBody>
          <a:bodyPr lIns="45719" rIns="45719"/>
          <a:lstStyle/>
          <a:p>
            <a:pPr>
              <a:defRPr b="0" sz="1800">
                <a:solidFill>
                  <a:srgbClr val="000000"/>
                </a:solidFill>
              </a:defRPr>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Text 0"/>
          <p:cNvSpPr txBox="1"/>
          <p:nvPr/>
        </p:nvSpPr>
        <p:spPr>
          <a:xfrm>
            <a:off x="594359" y="399287"/>
            <a:ext cx="109728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r>
              <a:t>Dataset and preprocessing</a:t>
            </a:r>
          </a:p>
        </p:txBody>
      </p:sp>
      <p:sp>
        <p:nvSpPr>
          <p:cNvPr id="249" name="Text 1"/>
          <p:cNvSpPr txBox="1"/>
          <p:nvPr/>
        </p:nvSpPr>
        <p:spPr>
          <a:xfrm>
            <a:off x="612647" y="886713"/>
            <a:ext cx="1078992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64748B"/>
                </a:solidFill>
              </a:defRPr>
            </a:lvl1pPr>
          </a:lstStyle>
          <a:p>
            <a:pPr/>
            <a:r>
              <a:t>Every trial is converted into a consistent model-ready representation.</a:t>
            </a:r>
          </a:p>
        </p:txBody>
      </p:sp>
      <p:sp>
        <p:nvSpPr>
          <p:cNvPr id="250" name="Shape 2"/>
          <p:cNvSpPr/>
          <p:nvPr/>
        </p:nvSpPr>
        <p:spPr>
          <a:xfrm>
            <a:off x="640080" y="1371600"/>
            <a:ext cx="2377440" cy="1325881"/>
          </a:xfrm>
          <a:prstGeom prst="roundRect">
            <a:avLst>
              <a:gd name="adj" fmla="val 4828"/>
            </a:avLst>
          </a:prstGeom>
          <a:solidFill>
            <a:srgbClr val="FFFFFF"/>
          </a:solidFill>
          <a:ln w="12700">
            <a:solidFill>
              <a:srgbClr val="E11D48"/>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251" name="Text 3"/>
          <p:cNvSpPr txBox="1"/>
          <p:nvPr/>
        </p:nvSpPr>
        <p:spPr>
          <a:xfrm>
            <a:off x="749808" y="1525269"/>
            <a:ext cx="2157984"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E11D48"/>
                </a:solidFill>
              </a:defRPr>
            </a:lvl1pPr>
          </a:lstStyle>
          <a:p>
            <a:pPr/>
            <a:r>
              <a:t>RAW EEG</a:t>
            </a:r>
          </a:p>
        </p:txBody>
      </p:sp>
      <p:sp>
        <p:nvSpPr>
          <p:cNvPr id="252" name="Text 4"/>
          <p:cNvSpPr txBox="1"/>
          <p:nvPr/>
        </p:nvSpPr>
        <p:spPr>
          <a:xfrm>
            <a:off x="749808" y="2159254"/>
            <a:ext cx="2157984"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Original recording</a:t>
            </a:r>
          </a:p>
        </p:txBody>
      </p:sp>
      <p:sp>
        <p:nvSpPr>
          <p:cNvPr id="253" name="Shape 5"/>
          <p:cNvSpPr/>
          <p:nvPr/>
        </p:nvSpPr>
        <p:spPr>
          <a:xfrm>
            <a:off x="3015722" y="2011679"/>
            <a:ext cx="687598" cy="1"/>
          </a:xfrm>
          <a:prstGeom prst="line">
            <a:avLst/>
          </a:prstGeom>
          <a:ln w="12700">
            <a:solidFill>
              <a:srgbClr val="64748B"/>
            </a:solidFill>
            <a:tailEnd type="triangle"/>
          </a:ln>
        </p:spPr>
        <p:txBody>
          <a:bodyPr lIns="45719" rIns="45719"/>
          <a:lstStyle/>
          <a:p>
            <a:pPr>
              <a:defRPr b="0" sz="1800">
                <a:solidFill>
                  <a:srgbClr val="000000"/>
                </a:solidFill>
              </a:defRPr>
            </a:pPr>
          </a:p>
        </p:txBody>
      </p:sp>
      <p:sp>
        <p:nvSpPr>
          <p:cNvPr id="254" name="Shape 6"/>
          <p:cNvSpPr/>
          <p:nvPr/>
        </p:nvSpPr>
        <p:spPr>
          <a:xfrm>
            <a:off x="3657600" y="1371600"/>
            <a:ext cx="2286000" cy="1325881"/>
          </a:xfrm>
          <a:prstGeom prst="roundRect">
            <a:avLst>
              <a:gd name="adj" fmla="val 4828"/>
            </a:avLst>
          </a:prstGeom>
          <a:solidFill>
            <a:srgbClr val="FFFFFF"/>
          </a:solidFill>
          <a:ln w="12700">
            <a:solidFill>
              <a:srgbClr val="2563EB"/>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255" name="Text 7"/>
          <p:cNvSpPr txBox="1"/>
          <p:nvPr/>
        </p:nvSpPr>
        <p:spPr>
          <a:xfrm>
            <a:off x="3767328" y="1525269"/>
            <a:ext cx="2066545"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2563EB"/>
                </a:solidFill>
              </a:defRPr>
            </a:lvl1pPr>
          </a:lstStyle>
          <a:p>
            <a:pPr/>
            <a:r>
              <a:t>22 Channels</a:t>
            </a:r>
          </a:p>
        </p:txBody>
      </p:sp>
      <p:sp>
        <p:nvSpPr>
          <p:cNvPr id="256" name="Text 8"/>
          <p:cNvSpPr txBox="1"/>
          <p:nvPr/>
        </p:nvSpPr>
        <p:spPr>
          <a:xfrm>
            <a:off x="3767328" y="2159254"/>
            <a:ext cx="206654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First 22 EEG channels</a:t>
            </a:r>
          </a:p>
        </p:txBody>
      </p:sp>
      <p:sp>
        <p:nvSpPr>
          <p:cNvPr id="257" name="Shape 9"/>
          <p:cNvSpPr/>
          <p:nvPr/>
        </p:nvSpPr>
        <p:spPr>
          <a:xfrm>
            <a:off x="5989320" y="2011679"/>
            <a:ext cx="640081" cy="1"/>
          </a:xfrm>
          <a:prstGeom prst="line">
            <a:avLst/>
          </a:prstGeom>
          <a:ln w="12700">
            <a:solidFill>
              <a:srgbClr val="64748B"/>
            </a:solidFill>
            <a:tailEnd type="triangle"/>
          </a:ln>
        </p:spPr>
        <p:txBody>
          <a:bodyPr lIns="45719" rIns="45719"/>
          <a:lstStyle/>
          <a:p>
            <a:pPr>
              <a:defRPr b="0" sz="1800">
                <a:solidFill>
                  <a:srgbClr val="000000"/>
                </a:solidFill>
              </a:defRPr>
            </a:pPr>
          </a:p>
        </p:txBody>
      </p:sp>
      <p:sp>
        <p:nvSpPr>
          <p:cNvPr id="258" name="Shape 10"/>
          <p:cNvSpPr/>
          <p:nvPr/>
        </p:nvSpPr>
        <p:spPr>
          <a:xfrm>
            <a:off x="6583680" y="1371600"/>
            <a:ext cx="2286001" cy="1325881"/>
          </a:xfrm>
          <a:prstGeom prst="roundRect">
            <a:avLst>
              <a:gd name="adj" fmla="val 4828"/>
            </a:avLst>
          </a:prstGeom>
          <a:solidFill>
            <a:srgbClr val="FFFFFF"/>
          </a:solidFill>
          <a:ln w="12700">
            <a:solidFill>
              <a:srgbClr val="0F766E"/>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259" name="Text 11"/>
          <p:cNvSpPr txBox="1"/>
          <p:nvPr/>
        </p:nvSpPr>
        <p:spPr>
          <a:xfrm>
            <a:off x="6693407" y="1525269"/>
            <a:ext cx="2066545"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0F766E"/>
                </a:solidFill>
              </a:defRPr>
            </a:lvl1pPr>
          </a:lstStyle>
          <a:p>
            <a:pPr/>
            <a:r>
              <a:t>250 Hz</a:t>
            </a:r>
          </a:p>
        </p:txBody>
      </p:sp>
      <p:sp>
        <p:nvSpPr>
          <p:cNvPr id="260" name="Text 12"/>
          <p:cNvSpPr txBox="1"/>
          <p:nvPr/>
        </p:nvSpPr>
        <p:spPr>
          <a:xfrm>
            <a:off x="6693407" y="2159254"/>
            <a:ext cx="206654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Resampled sampling rate</a:t>
            </a:r>
          </a:p>
        </p:txBody>
      </p:sp>
      <p:sp>
        <p:nvSpPr>
          <p:cNvPr id="261" name="Shape 13"/>
          <p:cNvSpPr/>
          <p:nvPr/>
        </p:nvSpPr>
        <p:spPr>
          <a:xfrm>
            <a:off x="8915400" y="2011679"/>
            <a:ext cx="640081" cy="1"/>
          </a:xfrm>
          <a:prstGeom prst="line">
            <a:avLst/>
          </a:prstGeom>
          <a:ln w="12700">
            <a:solidFill>
              <a:srgbClr val="64748B"/>
            </a:solidFill>
            <a:tailEnd type="triangle"/>
          </a:ln>
        </p:spPr>
        <p:txBody>
          <a:bodyPr lIns="45719" rIns="45719"/>
          <a:lstStyle/>
          <a:p>
            <a:pPr>
              <a:defRPr b="0" sz="1800">
                <a:solidFill>
                  <a:srgbClr val="000000"/>
                </a:solidFill>
              </a:defRPr>
            </a:pPr>
          </a:p>
        </p:txBody>
      </p:sp>
      <p:sp>
        <p:nvSpPr>
          <p:cNvPr id="262" name="Shape 14"/>
          <p:cNvSpPr/>
          <p:nvPr/>
        </p:nvSpPr>
        <p:spPr>
          <a:xfrm>
            <a:off x="9509759" y="1371600"/>
            <a:ext cx="2011681" cy="1325881"/>
          </a:xfrm>
          <a:prstGeom prst="roundRect">
            <a:avLst>
              <a:gd name="adj" fmla="val 4828"/>
            </a:avLst>
          </a:prstGeom>
          <a:solidFill>
            <a:srgbClr val="FFFFFF"/>
          </a:solidFill>
          <a:ln w="12700">
            <a:solidFill>
              <a:srgbClr val="16A34A"/>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263" name="Text 15"/>
          <p:cNvSpPr txBox="1"/>
          <p:nvPr/>
        </p:nvSpPr>
        <p:spPr>
          <a:xfrm>
            <a:off x="9619488" y="1525269"/>
            <a:ext cx="1792224"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16A34A"/>
                </a:solidFill>
              </a:defRPr>
            </a:lvl1pPr>
          </a:lstStyle>
          <a:p>
            <a:pPr/>
            <a:r>
              <a:t>0.5–3.5 s</a:t>
            </a:r>
          </a:p>
        </p:txBody>
      </p:sp>
      <p:sp>
        <p:nvSpPr>
          <p:cNvPr id="264" name="Text 16"/>
          <p:cNvSpPr txBox="1"/>
          <p:nvPr/>
        </p:nvSpPr>
        <p:spPr>
          <a:xfrm>
            <a:off x="9619488" y="2159254"/>
            <a:ext cx="1792224"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3-second trial window</a:t>
            </a:r>
          </a:p>
        </p:txBody>
      </p:sp>
      <p:sp>
        <p:nvSpPr>
          <p:cNvPr id="265" name="Shape 17"/>
          <p:cNvSpPr/>
          <p:nvPr/>
        </p:nvSpPr>
        <p:spPr>
          <a:xfrm>
            <a:off x="1051560" y="3337559"/>
            <a:ext cx="9921241" cy="1143001"/>
          </a:xfrm>
          <a:prstGeom prst="roundRect">
            <a:avLst>
              <a:gd name="adj" fmla="val 6400"/>
            </a:avLst>
          </a:prstGeom>
          <a:solidFill>
            <a:srgbClr val="EEF5F7"/>
          </a:solidFill>
          <a:ln w="12700">
            <a:solidFill>
              <a:srgbClr val="B8D5DA"/>
            </a:solidFill>
          </a:ln>
        </p:spPr>
        <p:txBody>
          <a:bodyPr lIns="45719" rIns="45719"/>
          <a:lstStyle/>
          <a:p>
            <a:pPr>
              <a:defRPr b="0" sz="1800">
                <a:solidFill>
                  <a:srgbClr val="000000"/>
                </a:solidFill>
              </a:defRPr>
            </a:pPr>
          </a:p>
        </p:txBody>
      </p:sp>
      <p:sp>
        <p:nvSpPr>
          <p:cNvPr id="266" name="Text 18"/>
          <p:cNvSpPr txBox="1"/>
          <p:nvPr/>
        </p:nvSpPr>
        <p:spPr>
          <a:xfrm>
            <a:off x="1624880" y="3697478"/>
            <a:ext cx="2926081"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64E63"/>
                </a:solidFill>
              </a:defRPr>
            </a:lvl1pPr>
          </a:lstStyle>
          <a:p>
            <a:pPr/>
            <a:r>
              <a:t>One trial = 22 × 750</a:t>
            </a:r>
          </a:p>
        </p:txBody>
      </p:sp>
      <p:sp>
        <p:nvSpPr>
          <p:cNvPr id="267" name="Text 19"/>
          <p:cNvSpPr txBox="1"/>
          <p:nvPr/>
        </p:nvSpPr>
        <p:spPr>
          <a:xfrm>
            <a:off x="5461460" y="3807459"/>
            <a:ext cx="61722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1E293B"/>
                </a:solidFill>
              </a:defRPr>
            </a:lvl1pPr>
          </a:lstStyle>
          <a:p>
            <a:pPr/>
            <a:r>
              <a:t>22 channels × (250 samples/sec × 3 sec) = 750 samples per channel</a:t>
            </a:r>
          </a:p>
        </p:txBody>
      </p:sp>
      <p:sp>
        <p:nvSpPr>
          <p:cNvPr id="268" name="Shape 20"/>
          <p:cNvSpPr/>
          <p:nvPr/>
        </p:nvSpPr>
        <p:spPr>
          <a:xfrm>
            <a:off x="3566159" y="4892040"/>
            <a:ext cx="5074921" cy="868681"/>
          </a:xfrm>
          <a:prstGeom prst="roundRect">
            <a:avLst>
              <a:gd name="adj" fmla="val 7368"/>
            </a:avLst>
          </a:prstGeom>
          <a:solidFill>
            <a:srgbClr val="FFFFFF"/>
          </a:solidFill>
          <a:ln w="12700">
            <a:solidFill>
              <a:srgbClr val="D97706"/>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269" name="Text 21"/>
          <p:cNvSpPr txBox="1"/>
          <p:nvPr/>
        </p:nvSpPr>
        <p:spPr>
          <a:xfrm>
            <a:off x="3675888" y="5052059"/>
            <a:ext cx="4855465"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D97706"/>
                </a:solidFill>
              </a:defRPr>
            </a:lvl1pPr>
          </a:lstStyle>
          <a:p>
            <a:pPr/>
            <a:r>
              <a:t>Per-trial normalization</a:t>
            </a:r>
          </a:p>
        </p:txBody>
      </p:sp>
      <p:sp>
        <p:nvSpPr>
          <p:cNvPr id="270" name="Text 22"/>
          <p:cNvSpPr txBox="1"/>
          <p:nvPr/>
        </p:nvSpPr>
        <p:spPr>
          <a:xfrm>
            <a:off x="3675888" y="5451094"/>
            <a:ext cx="485546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Reduces amplitude-scale differences and stabilizes training</a:t>
            </a:r>
          </a:p>
        </p:txBody>
      </p:sp>
      <p:sp>
        <p:nvSpPr>
          <p:cNvPr id="271" name="Slide Number Placeholder 0"/>
          <p:cNvSpPr txBox="1"/>
          <p:nvPr>
            <p:ph type="sldNum" sz="quarter" idx="4294967295"/>
          </p:nvPr>
        </p:nvSpPr>
        <p:spPr>
          <a:xfrm>
            <a:off x="11722607" y="6446520"/>
            <a:ext cx="160646" cy="2184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5" name="Text 0"/>
          <p:cNvSpPr txBox="1"/>
          <p:nvPr/>
        </p:nvSpPr>
        <p:spPr>
          <a:xfrm>
            <a:off x="594359" y="399287"/>
            <a:ext cx="109728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r>
              <a:t>Learnable Sinc filter bank</a:t>
            </a:r>
          </a:p>
        </p:txBody>
      </p:sp>
      <p:sp>
        <p:nvSpPr>
          <p:cNvPr id="276" name="Text 1"/>
          <p:cNvSpPr txBox="1"/>
          <p:nvPr/>
        </p:nvSpPr>
        <p:spPr>
          <a:xfrm>
            <a:off x="612647" y="886713"/>
            <a:ext cx="1078992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64748B"/>
                </a:solidFill>
              </a:defRPr>
            </a:lvl1pPr>
          </a:lstStyle>
          <a:p>
            <a:pPr/>
            <a:r>
              <a:t>Purpose: learn which frequency ranges carry useful motor-imagery information.</a:t>
            </a:r>
          </a:p>
        </p:txBody>
      </p:sp>
      <p:sp>
        <p:nvSpPr>
          <p:cNvPr id="277" name="Shape 2"/>
          <p:cNvSpPr/>
          <p:nvPr/>
        </p:nvSpPr>
        <p:spPr>
          <a:xfrm>
            <a:off x="363774" y="1393580"/>
            <a:ext cx="4709160" cy="4297681"/>
          </a:xfrm>
          <a:prstGeom prst="roundRect">
            <a:avLst>
              <a:gd name="adj" fmla="val 1702"/>
            </a:avLst>
          </a:prstGeom>
          <a:solidFill>
            <a:srgbClr val="FFFFFF"/>
          </a:solidFill>
          <a:ln w="12700">
            <a:solidFill>
              <a:srgbClr val="CBD5E1"/>
            </a:solidFill>
          </a:ln>
        </p:spPr>
        <p:txBody>
          <a:bodyPr lIns="45719" rIns="45719"/>
          <a:lstStyle/>
          <a:p>
            <a:pPr>
              <a:defRPr b="0" sz="1800">
                <a:solidFill>
                  <a:srgbClr val="000000"/>
                </a:solidFill>
              </a:defRPr>
            </a:pPr>
          </a:p>
        </p:txBody>
      </p:sp>
      <p:sp>
        <p:nvSpPr>
          <p:cNvPr id="278" name="Text 3"/>
          <p:cNvSpPr txBox="1"/>
          <p:nvPr/>
        </p:nvSpPr>
        <p:spPr>
          <a:xfrm>
            <a:off x="914400" y="1564639"/>
            <a:ext cx="192024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solidFill>
                  <a:srgbClr val="2563EB"/>
                </a:solidFill>
              </a:defRPr>
            </a:lvl1pPr>
          </a:lstStyle>
          <a:p>
            <a:pPr/>
            <a:r>
              <a:t>What happens?</a:t>
            </a:r>
          </a:p>
        </p:txBody>
      </p:sp>
      <p:sp>
        <p:nvSpPr>
          <p:cNvPr id="279" name="Text 4"/>
          <p:cNvSpPr txBox="1"/>
          <p:nvPr/>
        </p:nvSpPr>
        <p:spPr>
          <a:xfrm>
            <a:off x="914400" y="1974088"/>
            <a:ext cx="40690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1E293B"/>
                </a:solidFill>
              </a:defRPr>
            </a:lvl1pPr>
          </a:lstStyle>
          <a:p>
            <a:pPr/>
            <a:r>
              <a:t>Each of 10 filters learns two cutoff frequencies:</a:t>
            </a:r>
          </a:p>
        </p:txBody>
      </p:sp>
      <p:sp>
        <p:nvSpPr>
          <p:cNvPr id="280" name="Shape 5"/>
          <p:cNvSpPr/>
          <p:nvPr/>
        </p:nvSpPr>
        <p:spPr>
          <a:xfrm>
            <a:off x="914400" y="2487167"/>
            <a:ext cx="1325881" cy="310897"/>
          </a:xfrm>
          <a:prstGeom prst="roundRect">
            <a:avLst>
              <a:gd name="adj" fmla="val 35294"/>
            </a:avLst>
          </a:prstGeom>
          <a:solidFill>
            <a:srgbClr val="2563EB"/>
          </a:solidFill>
          <a:ln w="12700">
            <a:solidFill>
              <a:srgbClr val="2563EB"/>
            </a:solidFill>
          </a:ln>
        </p:spPr>
        <p:txBody>
          <a:bodyPr lIns="45719" rIns="45719"/>
          <a:lstStyle/>
          <a:p>
            <a:pPr>
              <a:defRPr b="0" sz="1800">
                <a:solidFill>
                  <a:srgbClr val="000000"/>
                </a:solidFill>
              </a:defRPr>
            </a:pPr>
          </a:p>
        </p:txBody>
      </p:sp>
      <p:sp>
        <p:nvSpPr>
          <p:cNvPr id="281" name="Text 6"/>
          <p:cNvSpPr txBox="1"/>
          <p:nvPr/>
        </p:nvSpPr>
        <p:spPr>
          <a:xfrm>
            <a:off x="914400" y="2559050"/>
            <a:ext cx="13258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defRPr>
            </a:lvl1pPr>
          </a:lstStyle>
          <a:p>
            <a:pPr/>
            <a:r>
              <a:t>f₁ = lower</a:t>
            </a:r>
          </a:p>
        </p:txBody>
      </p:sp>
      <p:sp>
        <p:nvSpPr>
          <p:cNvPr id="282" name="Shape 7"/>
          <p:cNvSpPr/>
          <p:nvPr/>
        </p:nvSpPr>
        <p:spPr>
          <a:xfrm>
            <a:off x="2423160" y="2487167"/>
            <a:ext cx="1325881" cy="310897"/>
          </a:xfrm>
          <a:prstGeom prst="roundRect">
            <a:avLst>
              <a:gd name="adj" fmla="val 35294"/>
            </a:avLst>
          </a:prstGeom>
          <a:solidFill>
            <a:srgbClr val="0F766E"/>
          </a:solidFill>
          <a:ln w="12700">
            <a:solidFill>
              <a:srgbClr val="0F766E"/>
            </a:solidFill>
          </a:ln>
        </p:spPr>
        <p:txBody>
          <a:bodyPr lIns="45719" rIns="45719"/>
          <a:lstStyle/>
          <a:p>
            <a:pPr>
              <a:defRPr b="0" sz="1800">
                <a:solidFill>
                  <a:srgbClr val="000000"/>
                </a:solidFill>
              </a:defRPr>
            </a:pPr>
          </a:p>
        </p:txBody>
      </p:sp>
      <p:sp>
        <p:nvSpPr>
          <p:cNvPr id="283" name="Text 8"/>
          <p:cNvSpPr txBox="1"/>
          <p:nvPr/>
        </p:nvSpPr>
        <p:spPr>
          <a:xfrm>
            <a:off x="2423160" y="2559050"/>
            <a:ext cx="13258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defRPr>
            </a:lvl1pPr>
          </a:lstStyle>
          <a:p>
            <a:pPr/>
            <a:r>
              <a:t>f₂ = upper</a:t>
            </a:r>
          </a:p>
        </p:txBody>
      </p:sp>
      <p:sp>
        <p:nvSpPr>
          <p:cNvPr id="284" name="Text 9"/>
          <p:cNvSpPr txBox="1"/>
          <p:nvPr/>
        </p:nvSpPr>
        <p:spPr>
          <a:xfrm>
            <a:off x="914400" y="3075432"/>
            <a:ext cx="3931921" cy="762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lvl1pPr>
          </a:lstStyle>
          <a:p>
            <a:pPr/>
            <a:r>
              <a:t>The learned band-pass filter keeps a useful frequency range and suppresses others.</a:t>
            </a:r>
          </a:p>
        </p:txBody>
      </p:sp>
      <p:sp>
        <p:nvSpPr>
          <p:cNvPr id="285" name="Text 10"/>
          <p:cNvSpPr txBox="1"/>
          <p:nvPr/>
        </p:nvSpPr>
        <p:spPr>
          <a:xfrm>
            <a:off x="914400" y="4198620"/>
            <a:ext cx="3931921"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64748B"/>
                </a:solidFill>
              </a:defRPr>
            </a:lvl1pPr>
          </a:lstStyle>
          <a:p>
            <a:pPr/>
            <a:r>
              <a:t>The cutoff parameters are trainable, so backpropagation can move the bands toward task-relevant frequencies.</a:t>
            </a:r>
          </a:p>
        </p:txBody>
      </p:sp>
      <p:sp>
        <p:nvSpPr>
          <p:cNvPr id="286" name="Text 11"/>
          <p:cNvSpPr txBox="1"/>
          <p:nvPr/>
        </p:nvSpPr>
        <p:spPr>
          <a:xfrm>
            <a:off x="914400" y="5175250"/>
            <a:ext cx="393192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164E63"/>
                </a:solidFill>
              </a:defRPr>
            </a:lvl1pPr>
          </a:lstStyle>
          <a:p>
            <a:pPr/>
            <a:r>
              <a:t>Implementation: 10 learnable Sinc filters</a:t>
            </a:r>
          </a:p>
        </p:txBody>
      </p:sp>
      <p:sp>
        <p:nvSpPr>
          <p:cNvPr id="287" name="Text 12"/>
          <p:cNvSpPr txBox="1"/>
          <p:nvPr/>
        </p:nvSpPr>
        <p:spPr>
          <a:xfrm>
            <a:off x="6336026" y="1933829"/>
            <a:ext cx="2743201" cy="508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lvl1pPr>
          </a:lstStyle>
          <a:p>
            <a:pPr/>
            <a:r>
              <a:t>Conceptual frequency view</a:t>
            </a:r>
          </a:p>
        </p:txBody>
      </p:sp>
      <p:sp>
        <p:nvSpPr>
          <p:cNvPr id="288" name="Shape 13"/>
          <p:cNvSpPr/>
          <p:nvPr/>
        </p:nvSpPr>
        <p:spPr>
          <a:xfrm>
            <a:off x="6518906" y="5113908"/>
            <a:ext cx="5074921" cy="1"/>
          </a:xfrm>
          <a:prstGeom prst="line">
            <a:avLst/>
          </a:prstGeom>
          <a:ln w="12700">
            <a:solidFill>
              <a:srgbClr val="64748B"/>
            </a:solidFill>
            <a:tailEnd type="triangle"/>
          </a:ln>
        </p:spPr>
        <p:txBody>
          <a:bodyPr lIns="45719" rIns="45719"/>
          <a:lstStyle/>
          <a:p>
            <a:pPr>
              <a:defRPr b="0" sz="1800">
                <a:solidFill>
                  <a:srgbClr val="000000"/>
                </a:solidFill>
              </a:defRPr>
            </a:pPr>
          </a:p>
        </p:txBody>
      </p:sp>
      <p:sp>
        <p:nvSpPr>
          <p:cNvPr id="289" name="Shape 14"/>
          <p:cNvSpPr/>
          <p:nvPr/>
        </p:nvSpPr>
        <p:spPr>
          <a:xfrm>
            <a:off x="6518906" y="2690748"/>
            <a:ext cx="1" cy="2423161"/>
          </a:xfrm>
          <a:prstGeom prst="line">
            <a:avLst/>
          </a:prstGeom>
          <a:ln w="12700">
            <a:solidFill>
              <a:srgbClr val="64748B"/>
            </a:solidFill>
            <a:tailEnd type="triangle"/>
          </a:ln>
        </p:spPr>
        <p:txBody>
          <a:bodyPr lIns="45719" rIns="45719"/>
          <a:lstStyle/>
          <a:p>
            <a:pPr>
              <a:defRPr b="0" sz="1800">
                <a:solidFill>
                  <a:srgbClr val="000000"/>
                </a:solidFill>
              </a:defRPr>
            </a:pPr>
          </a:p>
        </p:txBody>
      </p:sp>
      <p:sp>
        <p:nvSpPr>
          <p:cNvPr id="290" name="Text 15"/>
          <p:cNvSpPr txBox="1"/>
          <p:nvPr/>
        </p:nvSpPr>
        <p:spPr>
          <a:xfrm>
            <a:off x="11136626" y="5208651"/>
            <a:ext cx="6400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defRPr>
            </a:lvl1pPr>
          </a:lstStyle>
          <a:p>
            <a:pPr/>
            <a:r>
              <a:t>frequency</a:t>
            </a:r>
          </a:p>
        </p:txBody>
      </p:sp>
      <p:sp>
        <p:nvSpPr>
          <p:cNvPr id="291" name="Text 16"/>
          <p:cNvSpPr txBox="1"/>
          <p:nvPr/>
        </p:nvSpPr>
        <p:spPr>
          <a:xfrm>
            <a:off x="6015986" y="2529459"/>
            <a:ext cx="5486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defRPr>
            </a:lvl1pPr>
          </a:lstStyle>
          <a:p>
            <a:pPr/>
            <a:r>
              <a:t>response</a:t>
            </a:r>
          </a:p>
        </p:txBody>
      </p:sp>
      <p:grpSp>
        <p:nvGrpSpPr>
          <p:cNvPr id="294" name="Shape 17"/>
          <p:cNvGrpSpPr/>
          <p:nvPr/>
        </p:nvGrpSpPr>
        <p:grpSpPr>
          <a:xfrm>
            <a:off x="7844786" y="4089780"/>
            <a:ext cx="914401" cy="548641"/>
            <a:chOff x="0" y="0"/>
            <a:chExt cx="914400" cy="548640"/>
          </a:xfrm>
        </p:grpSpPr>
        <p:sp>
          <p:nvSpPr>
            <p:cNvPr id="292" name="Shape"/>
            <p:cNvSpPr/>
            <p:nvPr/>
          </p:nvSpPr>
          <p:spPr>
            <a:xfrm>
              <a:off x="0" y="0"/>
              <a:ext cx="914400" cy="5486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929" y="0"/>
                    <a:pt x="21600" y="9671"/>
                    <a:pt x="21600" y="21600"/>
                  </a:cubicBezTo>
                  <a:lnTo>
                    <a:pt x="0" y="21600"/>
                  </a:lnTo>
                  <a:close/>
                </a:path>
              </a:pathLst>
            </a:custGeom>
            <a:solidFill>
              <a:srgbClr val="FFFFFF">
                <a:alpha val="0"/>
              </a:srgbClr>
            </a:solidFill>
            <a:ln w="12700" cap="flat">
              <a:noFill/>
              <a:miter lim="400000"/>
            </a:ln>
            <a:effectLst/>
          </p:spPr>
          <p:txBody>
            <a:bodyPr wrap="square" lIns="45719" tIns="45719" rIns="45719" bIns="45719" numCol="1" anchor="t">
              <a:noAutofit/>
            </a:bodyPr>
            <a:lstStyle/>
            <a:p>
              <a:pPr>
                <a:defRPr b="0" sz="1800">
                  <a:solidFill>
                    <a:srgbClr val="000000"/>
                  </a:solidFill>
                </a:defRPr>
              </a:pPr>
            </a:p>
          </p:txBody>
        </p:sp>
        <p:sp>
          <p:nvSpPr>
            <p:cNvPr id="293" name="Line"/>
            <p:cNvSpPr/>
            <p:nvPr/>
          </p:nvSpPr>
          <p:spPr>
            <a:xfrm>
              <a:off x="0" y="0"/>
              <a:ext cx="914400" cy="5486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929" y="0"/>
                    <a:pt x="21600" y="9671"/>
                    <a:pt x="21600" y="21600"/>
                  </a:cubicBezTo>
                </a:path>
              </a:pathLst>
            </a:custGeom>
            <a:noFill/>
            <a:ln w="12700" cap="flat">
              <a:solidFill>
                <a:srgbClr val="2563EB"/>
              </a:solidFill>
              <a:prstDash val="solid"/>
              <a:round/>
            </a:ln>
            <a:effectLst/>
          </p:spPr>
          <p:txBody>
            <a:bodyPr wrap="square" lIns="45719" tIns="45719" rIns="45719" bIns="45719" numCol="1" anchor="t">
              <a:noAutofit/>
            </a:bodyPr>
            <a:lstStyle/>
            <a:p>
              <a:pPr>
                <a:defRPr b="0" sz="1800">
                  <a:solidFill>
                    <a:srgbClr val="000000"/>
                  </a:solidFill>
                </a:defRPr>
              </a:pPr>
            </a:p>
          </p:txBody>
        </p:sp>
      </p:grpSp>
      <p:sp>
        <p:nvSpPr>
          <p:cNvPr id="295" name="Text 18"/>
          <p:cNvSpPr txBox="1"/>
          <p:nvPr/>
        </p:nvSpPr>
        <p:spPr>
          <a:xfrm>
            <a:off x="7158986" y="3910203"/>
            <a:ext cx="7772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2563EB"/>
                </a:solidFill>
              </a:defRPr>
            </a:lvl1pPr>
          </a:lstStyle>
          <a:p>
            <a:pPr/>
            <a:r>
              <a:t>Filter 1</a:t>
            </a:r>
          </a:p>
        </p:txBody>
      </p:sp>
      <p:grpSp>
        <p:nvGrpSpPr>
          <p:cNvPr id="298" name="Shape 19"/>
          <p:cNvGrpSpPr/>
          <p:nvPr/>
        </p:nvGrpSpPr>
        <p:grpSpPr>
          <a:xfrm>
            <a:off x="8507726" y="3541141"/>
            <a:ext cx="1074421" cy="548641"/>
            <a:chOff x="0" y="0"/>
            <a:chExt cx="1074419" cy="548640"/>
          </a:xfrm>
        </p:grpSpPr>
        <p:sp>
          <p:nvSpPr>
            <p:cNvPr id="296" name="Shape"/>
            <p:cNvSpPr/>
            <p:nvPr/>
          </p:nvSpPr>
          <p:spPr>
            <a:xfrm>
              <a:off x="0" y="0"/>
              <a:ext cx="1074420" cy="5486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929" y="0"/>
                    <a:pt x="21600" y="9671"/>
                    <a:pt x="21600" y="21600"/>
                  </a:cubicBezTo>
                  <a:lnTo>
                    <a:pt x="0" y="21600"/>
                  </a:lnTo>
                  <a:close/>
                </a:path>
              </a:pathLst>
            </a:custGeom>
            <a:solidFill>
              <a:srgbClr val="FFFFFF">
                <a:alpha val="0"/>
              </a:srgbClr>
            </a:solidFill>
            <a:ln w="12700" cap="flat">
              <a:noFill/>
              <a:miter lim="400000"/>
            </a:ln>
            <a:effectLst/>
          </p:spPr>
          <p:txBody>
            <a:bodyPr wrap="square" lIns="45719" tIns="45719" rIns="45719" bIns="45719" numCol="1" anchor="t">
              <a:noAutofit/>
            </a:bodyPr>
            <a:lstStyle/>
            <a:p>
              <a:pPr>
                <a:defRPr b="0" sz="1800">
                  <a:solidFill>
                    <a:srgbClr val="000000"/>
                  </a:solidFill>
                </a:defRPr>
              </a:pPr>
            </a:p>
          </p:txBody>
        </p:sp>
        <p:sp>
          <p:nvSpPr>
            <p:cNvPr id="297" name="Line"/>
            <p:cNvSpPr/>
            <p:nvPr/>
          </p:nvSpPr>
          <p:spPr>
            <a:xfrm>
              <a:off x="0" y="0"/>
              <a:ext cx="1074420" cy="5486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929" y="0"/>
                    <a:pt x="21600" y="9671"/>
                    <a:pt x="21600" y="21600"/>
                  </a:cubicBezTo>
                </a:path>
              </a:pathLst>
            </a:custGeom>
            <a:noFill/>
            <a:ln w="12700" cap="flat">
              <a:solidFill>
                <a:srgbClr val="0F766E"/>
              </a:solidFill>
              <a:prstDash val="solid"/>
              <a:round/>
            </a:ln>
            <a:effectLst/>
          </p:spPr>
          <p:txBody>
            <a:bodyPr wrap="square" lIns="45719" tIns="45719" rIns="45719" bIns="45719" numCol="1" anchor="t">
              <a:noAutofit/>
            </a:bodyPr>
            <a:lstStyle/>
            <a:p>
              <a:pPr>
                <a:defRPr b="0" sz="1800">
                  <a:solidFill>
                    <a:srgbClr val="000000"/>
                  </a:solidFill>
                </a:defRPr>
              </a:pPr>
            </a:p>
          </p:txBody>
        </p:sp>
      </p:grpSp>
      <p:sp>
        <p:nvSpPr>
          <p:cNvPr id="299" name="Text 20"/>
          <p:cNvSpPr txBox="1"/>
          <p:nvPr/>
        </p:nvSpPr>
        <p:spPr>
          <a:xfrm>
            <a:off x="7661905" y="3361563"/>
            <a:ext cx="7772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0F766E"/>
                </a:solidFill>
              </a:defRPr>
            </a:lvl1pPr>
          </a:lstStyle>
          <a:p>
            <a:pPr/>
            <a:r>
              <a:t>Filter 2</a:t>
            </a:r>
          </a:p>
        </p:txBody>
      </p:sp>
      <p:grpSp>
        <p:nvGrpSpPr>
          <p:cNvPr id="302" name="Shape 21"/>
          <p:cNvGrpSpPr/>
          <p:nvPr/>
        </p:nvGrpSpPr>
        <p:grpSpPr>
          <a:xfrm>
            <a:off x="9170665" y="2983357"/>
            <a:ext cx="1005841" cy="548641"/>
            <a:chOff x="0" y="0"/>
            <a:chExt cx="1005840" cy="548640"/>
          </a:xfrm>
        </p:grpSpPr>
        <p:sp>
          <p:nvSpPr>
            <p:cNvPr id="300" name="Shape"/>
            <p:cNvSpPr/>
            <p:nvPr/>
          </p:nvSpPr>
          <p:spPr>
            <a:xfrm>
              <a:off x="0" y="0"/>
              <a:ext cx="1005841" cy="5486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929" y="0"/>
                    <a:pt x="21600" y="9671"/>
                    <a:pt x="21600" y="21600"/>
                  </a:cubicBezTo>
                  <a:lnTo>
                    <a:pt x="0" y="21600"/>
                  </a:lnTo>
                  <a:close/>
                </a:path>
              </a:pathLst>
            </a:custGeom>
            <a:solidFill>
              <a:srgbClr val="FFFFFF">
                <a:alpha val="0"/>
              </a:srgbClr>
            </a:solidFill>
            <a:ln w="12700" cap="flat">
              <a:noFill/>
              <a:miter lim="400000"/>
            </a:ln>
            <a:effectLst/>
          </p:spPr>
          <p:txBody>
            <a:bodyPr wrap="square" lIns="45719" tIns="45719" rIns="45719" bIns="45719" numCol="1" anchor="t">
              <a:noAutofit/>
            </a:bodyPr>
            <a:lstStyle/>
            <a:p>
              <a:pPr>
                <a:defRPr b="0" sz="1800">
                  <a:solidFill>
                    <a:srgbClr val="000000"/>
                  </a:solidFill>
                </a:defRPr>
              </a:pPr>
            </a:p>
          </p:txBody>
        </p:sp>
        <p:sp>
          <p:nvSpPr>
            <p:cNvPr id="301" name="Line"/>
            <p:cNvSpPr/>
            <p:nvPr/>
          </p:nvSpPr>
          <p:spPr>
            <a:xfrm>
              <a:off x="0" y="0"/>
              <a:ext cx="1005841" cy="5486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929" y="0"/>
                    <a:pt x="21600" y="9671"/>
                    <a:pt x="21600" y="21600"/>
                  </a:cubicBezTo>
                </a:path>
              </a:pathLst>
            </a:custGeom>
            <a:noFill/>
            <a:ln w="12700" cap="flat">
              <a:solidFill>
                <a:srgbClr val="7C3AED"/>
              </a:solidFill>
              <a:prstDash val="solid"/>
              <a:round/>
            </a:ln>
            <a:effectLst/>
          </p:spPr>
          <p:txBody>
            <a:bodyPr wrap="square" lIns="45719" tIns="45719" rIns="45719" bIns="45719" numCol="1" anchor="t">
              <a:noAutofit/>
            </a:bodyPr>
            <a:lstStyle/>
            <a:p>
              <a:pPr>
                <a:defRPr b="0" sz="1800">
                  <a:solidFill>
                    <a:srgbClr val="000000"/>
                  </a:solidFill>
                </a:defRPr>
              </a:pPr>
            </a:p>
          </p:txBody>
        </p:sp>
      </p:grpSp>
      <p:sp>
        <p:nvSpPr>
          <p:cNvPr id="303" name="Text 22"/>
          <p:cNvSpPr txBox="1"/>
          <p:nvPr/>
        </p:nvSpPr>
        <p:spPr>
          <a:xfrm>
            <a:off x="8393426" y="2803779"/>
            <a:ext cx="7772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7C3AED"/>
                </a:solidFill>
              </a:defRPr>
            </a:lvl1pPr>
          </a:lstStyle>
          <a:p>
            <a:pPr/>
            <a:r>
              <a:t>Filter 3</a:t>
            </a:r>
          </a:p>
        </p:txBody>
      </p:sp>
      <p:sp>
        <p:nvSpPr>
          <p:cNvPr id="304" name="Slide Number Placeholder 0"/>
          <p:cNvSpPr txBox="1"/>
          <p:nvPr>
            <p:ph type="sldNum" sz="quarter" idx="4294967295"/>
          </p:nvPr>
        </p:nvSpPr>
        <p:spPr>
          <a:xfrm>
            <a:off x="11722607" y="6446520"/>
            <a:ext cx="160646" cy="2184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8" name="Text 0"/>
          <p:cNvSpPr txBox="1"/>
          <p:nvPr/>
        </p:nvSpPr>
        <p:spPr>
          <a:xfrm>
            <a:off x="594359" y="399287"/>
            <a:ext cx="109728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r>
              <a:t>Dynamic Graph Neural Network</a:t>
            </a:r>
          </a:p>
        </p:txBody>
      </p:sp>
      <p:sp>
        <p:nvSpPr>
          <p:cNvPr id="309" name="Text 1"/>
          <p:cNvSpPr txBox="1"/>
          <p:nvPr/>
        </p:nvSpPr>
        <p:spPr>
          <a:xfrm>
            <a:off x="612647" y="886713"/>
            <a:ext cx="1078992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64748B"/>
                </a:solidFill>
              </a:defRPr>
            </a:lvl1pPr>
          </a:lstStyle>
          <a:p>
            <a:pPr/>
            <a:r>
              <a:t>Purpose: learn how the 22 EEG channels interact for each trial.</a:t>
            </a:r>
          </a:p>
        </p:txBody>
      </p:sp>
      <p:sp>
        <p:nvSpPr>
          <p:cNvPr id="310" name="Text 2"/>
          <p:cNvSpPr txBox="1"/>
          <p:nvPr/>
        </p:nvSpPr>
        <p:spPr>
          <a:xfrm>
            <a:off x="637494" y="1735832"/>
            <a:ext cx="4119569" cy="762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7C3AED"/>
                </a:solidFill>
              </a:defRPr>
            </a:lvl1pPr>
          </a:lstStyle>
          <a:p>
            <a:pPr/>
            <a:r>
              <a:t>22 EEG channels = 22 graph nodes</a:t>
            </a:r>
          </a:p>
        </p:txBody>
      </p:sp>
      <p:sp>
        <p:nvSpPr>
          <p:cNvPr id="311" name="Shape 3"/>
          <p:cNvSpPr/>
          <p:nvPr/>
        </p:nvSpPr>
        <p:spPr>
          <a:xfrm flipV="1">
            <a:off x="1268607" y="2818648"/>
            <a:ext cx="753262" cy="224166"/>
          </a:xfrm>
          <a:prstGeom prst="line">
            <a:avLst/>
          </a:prstGeom>
          <a:ln w="12700">
            <a:solidFill>
              <a:srgbClr val="E2E8F0"/>
            </a:solidFill>
            <a:tailEnd type="triangle"/>
          </a:ln>
        </p:spPr>
        <p:txBody>
          <a:bodyPr lIns="45719" rIns="45719"/>
          <a:lstStyle/>
          <a:p>
            <a:pPr>
              <a:defRPr b="0" sz="1800">
                <a:solidFill>
                  <a:srgbClr val="000000"/>
                </a:solidFill>
              </a:defRPr>
            </a:pPr>
          </a:p>
        </p:txBody>
      </p:sp>
      <p:sp>
        <p:nvSpPr>
          <p:cNvPr id="312" name="Shape 4"/>
          <p:cNvSpPr/>
          <p:nvPr/>
        </p:nvSpPr>
        <p:spPr>
          <a:xfrm>
            <a:off x="2323620" y="2747010"/>
            <a:ext cx="749809" cy="320041"/>
          </a:xfrm>
          <a:prstGeom prst="line">
            <a:avLst/>
          </a:prstGeom>
          <a:ln w="12700">
            <a:solidFill>
              <a:srgbClr val="E2E8F0"/>
            </a:solidFill>
            <a:tailEnd type="triangle"/>
          </a:ln>
        </p:spPr>
        <p:txBody>
          <a:bodyPr lIns="45719" rIns="45719"/>
          <a:lstStyle/>
          <a:p>
            <a:pPr>
              <a:defRPr b="0" sz="1800">
                <a:solidFill>
                  <a:srgbClr val="000000"/>
                </a:solidFill>
              </a:defRPr>
            </a:pPr>
          </a:p>
        </p:txBody>
      </p:sp>
      <p:sp>
        <p:nvSpPr>
          <p:cNvPr id="313" name="Shape 5"/>
          <p:cNvSpPr/>
          <p:nvPr/>
        </p:nvSpPr>
        <p:spPr>
          <a:xfrm flipV="1">
            <a:off x="3645847" y="2747009"/>
            <a:ext cx="476650" cy="312279"/>
          </a:xfrm>
          <a:prstGeom prst="line">
            <a:avLst/>
          </a:prstGeom>
          <a:ln w="12700">
            <a:solidFill>
              <a:srgbClr val="E2E8F0"/>
            </a:solidFill>
            <a:tailEnd type="triangle"/>
          </a:ln>
        </p:spPr>
        <p:txBody>
          <a:bodyPr lIns="45719" rIns="45719"/>
          <a:lstStyle/>
          <a:p>
            <a:pPr>
              <a:defRPr b="0" sz="1800">
                <a:solidFill>
                  <a:srgbClr val="000000"/>
                </a:solidFill>
              </a:defRPr>
            </a:pPr>
          </a:p>
        </p:txBody>
      </p:sp>
      <p:sp>
        <p:nvSpPr>
          <p:cNvPr id="314" name="Shape 6"/>
          <p:cNvSpPr/>
          <p:nvPr/>
        </p:nvSpPr>
        <p:spPr>
          <a:xfrm>
            <a:off x="4426740" y="2747010"/>
            <a:ext cx="749809" cy="320041"/>
          </a:xfrm>
          <a:prstGeom prst="line">
            <a:avLst/>
          </a:prstGeom>
          <a:ln w="12700">
            <a:solidFill>
              <a:srgbClr val="E2E8F0"/>
            </a:solidFill>
            <a:tailEnd type="triangle"/>
          </a:ln>
        </p:spPr>
        <p:txBody>
          <a:bodyPr lIns="45719" rIns="45719"/>
          <a:lstStyle/>
          <a:p>
            <a:pPr>
              <a:defRPr b="0" sz="1800">
                <a:solidFill>
                  <a:srgbClr val="000000"/>
                </a:solidFill>
              </a:defRPr>
            </a:pPr>
          </a:p>
        </p:txBody>
      </p:sp>
      <p:sp>
        <p:nvSpPr>
          <p:cNvPr id="315" name="Shape 7"/>
          <p:cNvSpPr/>
          <p:nvPr/>
        </p:nvSpPr>
        <p:spPr>
          <a:xfrm>
            <a:off x="1267385" y="3065595"/>
            <a:ext cx="3470406" cy="717454"/>
          </a:xfrm>
          <a:prstGeom prst="line">
            <a:avLst/>
          </a:prstGeom>
          <a:ln w="12700">
            <a:solidFill>
              <a:srgbClr val="E2E8F0"/>
            </a:solidFill>
            <a:tailEnd type="triangle"/>
          </a:ln>
        </p:spPr>
        <p:txBody>
          <a:bodyPr lIns="45719" rIns="45719"/>
          <a:lstStyle/>
          <a:p>
            <a:pPr>
              <a:defRPr b="0" sz="1800">
                <a:solidFill>
                  <a:srgbClr val="000000"/>
                </a:solidFill>
              </a:defRPr>
            </a:pPr>
          </a:p>
        </p:txBody>
      </p:sp>
      <p:sp>
        <p:nvSpPr>
          <p:cNvPr id="316" name="Shape 8"/>
          <p:cNvSpPr/>
          <p:nvPr/>
        </p:nvSpPr>
        <p:spPr>
          <a:xfrm flipV="1">
            <a:off x="1992643" y="3844289"/>
            <a:ext cx="577866" cy="160633"/>
          </a:xfrm>
          <a:prstGeom prst="line">
            <a:avLst/>
          </a:prstGeom>
          <a:ln w="12700">
            <a:solidFill>
              <a:srgbClr val="E2E8F0"/>
            </a:solidFill>
            <a:tailEnd type="triangle"/>
          </a:ln>
        </p:spPr>
        <p:txBody>
          <a:bodyPr lIns="45719" rIns="45719"/>
          <a:lstStyle/>
          <a:p>
            <a:pPr>
              <a:defRPr b="0" sz="1800">
                <a:solidFill>
                  <a:srgbClr val="000000"/>
                </a:solidFill>
              </a:defRPr>
            </a:pPr>
          </a:p>
        </p:txBody>
      </p:sp>
      <p:sp>
        <p:nvSpPr>
          <p:cNvPr id="317" name="Shape 9"/>
          <p:cNvSpPr/>
          <p:nvPr/>
        </p:nvSpPr>
        <p:spPr>
          <a:xfrm>
            <a:off x="2872260" y="3844289"/>
            <a:ext cx="795529" cy="228601"/>
          </a:xfrm>
          <a:prstGeom prst="line">
            <a:avLst/>
          </a:prstGeom>
          <a:ln w="12700">
            <a:solidFill>
              <a:srgbClr val="E2E8F0"/>
            </a:solidFill>
            <a:tailEnd type="triangle"/>
          </a:ln>
        </p:spPr>
        <p:txBody>
          <a:bodyPr lIns="45719" rIns="45719"/>
          <a:lstStyle/>
          <a:p>
            <a:pPr>
              <a:defRPr b="0" sz="1800">
                <a:solidFill>
                  <a:srgbClr val="000000"/>
                </a:solidFill>
              </a:defRPr>
            </a:pPr>
          </a:p>
        </p:txBody>
      </p:sp>
      <p:sp>
        <p:nvSpPr>
          <p:cNvPr id="318" name="Shape 10"/>
          <p:cNvSpPr/>
          <p:nvPr/>
        </p:nvSpPr>
        <p:spPr>
          <a:xfrm flipV="1">
            <a:off x="4229235" y="3844289"/>
            <a:ext cx="508556" cy="201862"/>
          </a:xfrm>
          <a:prstGeom prst="line">
            <a:avLst/>
          </a:prstGeom>
          <a:ln w="12700">
            <a:solidFill>
              <a:srgbClr val="E2E8F0"/>
            </a:solidFill>
            <a:tailEnd type="triangle"/>
          </a:ln>
        </p:spPr>
        <p:txBody>
          <a:bodyPr lIns="45719" rIns="45719"/>
          <a:lstStyle/>
          <a:p>
            <a:pPr>
              <a:defRPr b="0" sz="1800">
                <a:solidFill>
                  <a:srgbClr val="000000"/>
                </a:solidFill>
              </a:defRPr>
            </a:pPr>
          </a:p>
        </p:txBody>
      </p:sp>
      <p:sp>
        <p:nvSpPr>
          <p:cNvPr id="319" name="Shape 11"/>
          <p:cNvSpPr/>
          <p:nvPr/>
        </p:nvSpPr>
        <p:spPr>
          <a:xfrm>
            <a:off x="878868" y="2884169"/>
            <a:ext cx="566929" cy="384049"/>
          </a:xfrm>
          <a:prstGeom prst="ellipse">
            <a:avLst/>
          </a:prstGeom>
          <a:solidFill>
            <a:srgbClr val="F3E8FF"/>
          </a:solidFill>
          <a:ln w="12700">
            <a:solidFill>
              <a:srgbClr val="7C3AED"/>
            </a:solidFill>
          </a:ln>
        </p:spPr>
        <p:txBody>
          <a:bodyPr lIns="45719" rIns="45719"/>
          <a:lstStyle/>
          <a:p>
            <a:pPr>
              <a:defRPr b="0" sz="1800">
                <a:solidFill>
                  <a:srgbClr val="000000"/>
                </a:solidFill>
              </a:defRPr>
            </a:pPr>
          </a:p>
        </p:txBody>
      </p:sp>
      <p:sp>
        <p:nvSpPr>
          <p:cNvPr id="320" name="Text 12"/>
          <p:cNvSpPr txBox="1"/>
          <p:nvPr/>
        </p:nvSpPr>
        <p:spPr>
          <a:xfrm>
            <a:off x="878868" y="2980689"/>
            <a:ext cx="56692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7C3AED"/>
                </a:solidFill>
              </a:defRPr>
            </a:lvl1pPr>
          </a:lstStyle>
          <a:p>
            <a:pPr/>
            <a:r>
              <a:t>Fp1</a:t>
            </a:r>
          </a:p>
        </p:txBody>
      </p:sp>
      <p:sp>
        <p:nvSpPr>
          <p:cNvPr id="321" name="Shape 13"/>
          <p:cNvSpPr/>
          <p:nvPr/>
        </p:nvSpPr>
        <p:spPr>
          <a:xfrm>
            <a:off x="2021868" y="2564129"/>
            <a:ext cx="566929" cy="384049"/>
          </a:xfrm>
          <a:prstGeom prst="ellipse">
            <a:avLst/>
          </a:prstGeom>
          <a:solidFill>
            <a:srgbClr val="F3E8FF"/>
          </a:solidFill>
          <a:ln w="12700">
            <a:solidFill>
              <a:srgbClr val="7C3AED"/>
            </a:solidFill>
          </a:ln>
        </p:spPr>
        <p:txBody>
          <a:bodyPr lIns="45719" rIns="45719"/>
          <a:lstStyle/>
          <a:p>
            <a:pPr>
              <a:defRPr b="0" sz="1800">
                <a:solidFill>
                  <a:srgbClr val="000000"/>
                </a:solidFill>
              </a:defRPr>
            </a:pPr>
          </a:p>
        </p:txBody>
      </p:sp>
      <p:sp>
        <p:nvSpPr>
          <p:cNvPr id="322" name="Text 14"/>
          <p:cNvSpPr txBox="1"/>
          <p:nvPr/>
        </p:nvSpPr>
        <p:spPr>
          <a:xfrm>
            <a:off x="2021868" y="2660649"/>
            <a:ext cx="56692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7C3AED"/>
                </a:solidFill>
              </a:defRPr>
            </a:lvl1pPr>
          </a:lstStyle>
          <a:p>
            <a:pPr/>
            <a:r>
              <a:t>C3</a:t>
            </a:r>
          </a:p>
        </p:txBody>
      </p:sp>
      <p:sp>
        <p:nvSpPr>
          <p:cNvPr id="323" name="Shape 15"/>
          <p:cNvSpPr/>
          <p:nvPr/>
        </p:nvSpPr>
        <p:spPr>
          <a:xfrm>
            <a:off x="3073428" y="2884169"/>
            <a:ext cx="566929" cy="384049"/>
          </a:xfrm>
          <a:prstGeom prst="ellipse">
            <a:avLst/>
          </a:prstGeom>
          <a:solidFill>
            <a:srgbClr val="F3E8FF"/>
          </a:solidFill>
          <a:ln w="12700">
            <a:solidFill>
              <a:srgbClr val="7C3AED"/>
            </a:solidFill>
          </a:ln>
        </p:spPr>
        <p:txBody>
          <a:bodyPr lIns="45719" rIns="45719"/>
          <a:lstStyle/>
          <a:p>
            <a:pPr>
              <a:defRPr b="0" sz="1800">
                <a:solidFill>
                  <a:srgbClr val="000000"/>
                </a:solidFill>
              </a:defRPr>
            </a:pPr>
          </a:p>
        </p:txBody>
      </p:sp>
      <p:sp>
        <p:nvSpPr>
          <p:cNvPr id="324" name="Text 16"/>
          <p:cNvSpPr txBox="1"/>
          <p:nvPr/>
        </p:nvSpPr>
        <p:spPr>
          <a:xfrm>
            <a:off x="3073428" y="2980689"/>
            <a:ext cx="56692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7C3AED"/>
                </a:solidFill>
              </a:defRPr>
            </a:lvl1pPr>
          </a:lstStyle>
          <a:p>
            <a:pPr/>
            <a:r>
              <a:t>Cz</a:t>
            </a:r>
          </a:p>
        </p:txBody>
      </p:sp>
      <p:sp>
        <p:nvSpPr>
          <p:cNvPr id="325" name="Shape 17"/>
          <p:cNvSpPr/>
          <p:nvPr/>
        </p:nvSpPr>
        <p:spPr>
          <a:xfrm>
            <a:off x="4124988" y="2564129"/>
            <a:ext cx="566929" cy="384049"/>
          </a:xfrm>
          <a:prstGeom prst="ellipse">
            <a:avLst/>
          </a:prstGeom>
          <a:solidFill>
            <a:srgbClr val="F3E8FF"/>
          </a:solidFill>
          <a:ln w="12700">
            <a:solidFill>
              <a:srgbClr val="7C3AED"/>
            </a:solidFill>
          </a:ln>
        </p:spPr>
        <p:txBody>
          <a:bodyPr lIns="45719" rIns="45719"/>
          <a:lstStyle/>
          <a:p>
            <a:pPr>
              <a:defRPr b="0" sz="1800">
                <a:solidFill>
                  <a:srgbClr val="000000"/>
                </a:solidFill>
              </a:defRPr>
            </a:pPr>
          </a:p>
        </p:txBody>
      </p:sp>
      <p:sp>
        <p:nvSpPr>
          <p:cNvPr id="326" name="Text 18"/>
          <p:cNvSpPr txBox="1"/>
          <p:nvPr/>
        </p:nvSpPr>
        <p:spPr>
          <a:xfrm>
            <a:off x="4124988" y="2660649"/>
            <a:ext cx="56692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7C3AED"/>
                </a:solidFill>
              </a:defRPr>
            </a:lvl1pPr>
          </a:lstStyle>
          <a:p>
            <a:pPr/>
            <a:r>
              <a:t>C4</a:t>
            </a:r>
          </a:p>
        </p:txBody>
      </p:sp>
      <p:sp>
        <p:nvSpPr>
          <p:cNvPr id="327" name="Shape 19"/>
          <p:cNvSpPr/>
          <p:nvPr/>
        </p:nvSpPr>
        <p:spPr>
          <a:xfrm>
            <a:off x="5176548" y="2884169"/>
            <a:ext cx="566929" cy="384049"/>
          </a:xfrm>
          <a:prstGeom prst="ellipse">
            <a:avLst/>
          </a:prstGeom>
          <a:solidFill>
            <a:srgbClr val="F3E8FF"/>
          </a:solidFill>
          <a:ln w="12700">
            <a:solidFill>
              <a:srgbClr val="7C3AED"/>
            </a:solidFill>
          </a:ln>
        </p:spPr>
        <p:txBody>
          <a:bodyPr lIns="45719" rIns="45719"/>
          <a:lstStyle/>
          <a:p>
            <a:pPr>
              <a:defRPr b="0" sz="1800">
                <a:solidFill>
                  <a:srgbClr val="000000"/>
                </a:solidFill>
              </a:defRPr>
            </a:pPr>
          </a:p>
        </p:txBody>
      </p:sp>
      <p:sp>
        <p:nvSpPr>
          <p:cNvPr id="328" name="Text 20"/>
          <p:cNvSpPr txBox="1"/>
          <p:nvPr/>
        </p:nvSpPr>
        <p:spPr>
          <a:xfrm>
            <a:off x="5176548" y="2980689"/>
            <a:ext cx="56692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7C3AED"/>
                </a:solidFill>
              </a:defRPr>
            </a:lvl1pPr>
          </a:lstStyle>
          <a:p>
            <a:pPr/>
            <a:r>
              <a:t>Fp2</a:t>
            </a:r>
          </a:p>
        </p:txBody>
      </p:sp>
      <p:sp>
        <p:nvSpPr>
          <p:cNvPr id="329" name="Shape 21"/>
          <p:cNvSpPr/>
          <p:nvPr/>
        </p:nvSpPr>
        <p:spPr>
          <a:xfrm>
            <a:off x="1473228" y="3890009"/>
            <a:ext cx="566929" cy="384049"/>
          </a:xfrm>
          <a:prstGeom prst="ellipse">
            <a:avLst/>
          </a:prstGeom>
          <a:solidFill>
            <a:srgbClr val="F3E8FF"/>
          </a:solidFill>
          <a:ln w="12700">
            <a:solidFill>
              <a:srgbClr val="7C3AED"/>
            </a:solidFill>
          </a:ln>
        </p:spPr>
        <p:txBody>
          <a:bodyPr lIns="45719" rIns="45719"/>
          <a:lstStyle/>
          <a:p>
            <a:pPr>
              <a:defRPr b="0" sz="1800">
                <a:solidFill>
                  <a:srgbClr val="000000"/>
                </a:solidFill>
              </a:defRPr>
            </a:pPr>
          </a:p>
        </p:txBody>
      </p:sp>
      <p:sp>
        <p:nvSpPr>
          <p:cNvPr id="330" name="Text 22"/>
          <p:cNvSpPr txBox="1"/>
          <p:nvPr/>
        </p:nvSpPr>
        <p:spPr>
          <a:xfrm>
            <a:off x="1473228" y="3986529"/>
            <a:ext cx="56692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7C3AED"/>
                </a:solidFill>
              </a:defRPr>
            </a:lvl1pPr>
          </a:lstStyle>
          <a:p>
            <a:pPr/>
            <a:r>
              <a:t>P3</a:t>
            </a:r>
          </a:p>
        </p:txBody>
      </p:sp>
      <p:sp>
        <p:nvSpPr>
          <p:cNvPr id="331" name="Shape 23"/>
          <p:cNvSpPr/>
          <p:nvPr/>
        </p:nvSpPr>
        <p:spPr>
          <a:xfrm>
            <a:off x="2570508" y="3661409"/>
            <a:ext cx="566929" cy="384049"/>
          </a:xfrm>
          <a:prstGeom prst="ellipse">
            <a:avLst/>
          </a:prstGeom>
          <a:solidFill>
            <a:srgbClr val="F3E8FF"/>
          </a:solidFill>
          <a:ln w="12700">
            <a:solidFill>
              <a:srgbClr val="7C3AED"/>
            </a:solidFill>
          </a:ln>
        </p:spPr>
        <p:txBody>
          <a:bodyPr lIns="45719" rIns="45719"/>
          <a:lstStyle/>
          <a:p>
            <a:pPr>
              <a:defRPr b="0" sz="1800">
                <a:solidFill>
                  <a:srgbClr val="000000"/>
                </a:solidFill>
              </a:defRPr>
            </a:pPr>
          </a:p>
        </p:txBody>
      </p:sp>
      <p:sp>
        <p:nvSpPr>
          <p:cNvPr id="332" name="Text 24"/>
          <p:cNvSpPr txBox="1"/>
          <p:nvPr/>
        </p:nvSpPr>
        <p:spPr>
          <a:xfrm>
            <a:off x="2570508" y="3757929"/>
            <a:ext cx="56692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7C3AED"/>
                </a:solidFill>
              </a:defRPr>
            </a:lvl1pPr>
          </a:lstStyle>
          <a:p>
            <a:pPr/>
            <a:r>
              <a:t>Pz</a:t>
            </a:r>
          </a:p>
        </p:txBody>
      </p:sp>
      <p:sp>
        <p:nvSpPr>
          <p:cNvPr id="333" name="Shape 25"/>
          <p:cNvSpPr/>
          <p:nvPr/>
        </p:nvSpPr>
        <p:spPr>
          <a:xfrm>
            <a:off x="3667788" y="3890009"/>
            <a:ext cx="566929" cy="384049"/>
          </a:xfrm>
          <a:prstGeom prst="ellipse">
            <a:avLst/>
          </a:prstGeom>
          <a:solidFill>
            <a:srgbClr val="F3E8FF"/>
          </a:solidFill>
          <a:ln w="12700">
            <a:solidFill>
              <a:srgbClr val="7C3AED"/>
            </a:solidFill>
          </a:ln>
        </p:spPr>
        <p:txBody>
          <a:bodyPr lIns="45719" rIns="45719"/>
          <a:lstStyle/>
          <a:p>
            <a:pPr>
              <a:defRPr b="0" sz="1800">
                <a:solidFill>
                  <a:srgbClr val="000000"/>
                </a:solidFill>
              </a:defRPr>
            </a:pPr>
          </a:p>
        </p:txBody>
      </p:sp>
      <p:sp>
        <p:nvSpPr>
          <p:cNvPr id="334" name="Text 26"/>
          <p:cNvSpPr txBox="1"/>
          <p:nvPr/>
        </p:nvSpPr>
        <p:spPr>
          <a:xfrm>
            <a:off x="3667788" y="3986529"/>
            <a:ext cx="56692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7C3AED"/>
                </a:solidFill>
              </a:defRPr>
            </a:lvl1pPr>
          </a:lstStyle>
          <a:p>
            <a:pPr/>
            <a:r>
              <a:t>P4</a:t>
            </a:r>
          </a:p>
        </p:txBody>
      </p:sp>
      <p:sp>
        <p:nvSpPr>
          <p:cNvPr id="335" name="Shape 27"/>
          <p:cNvSpPr/>
          <p:nvPr/>
        </p:nvSpPr>
        <p:spPr>
          <a:xfrm>
            <a:off x="4719348" y="3661409"/>
            <a:ext cx="566929" cy="384049"/>
          </a:xfrm>
          <a:prstGeom prst="ellipse">
            <a:avLst/>
          </a:prstGeom>
          <a:solidFill>
            <a:srgbClr val="F3E8FF"/>
          </a:solidFill>
          <a:ln w="12700">
            <a:solidFill>
              <a:srgbClr val="7C3AED"/>
            </a:solidFill>
          </a:ln>
        </p:spPr>
        <p:txBody>
          <a:bodyPr lIns="45719" rIns="45719"/>
          <a:lstStyle/>
          <a:p>
            <a:pPr>
              <a:defRPr b="0" sz="1800">
                <a:solidFill>
                  <a:srgbClr val="000000"/>
                </a:solidFill>
              </a:defRPr>
            </a:pPr>
          </a:p>
        </p:txBody>
      </p:sp>
      <p:sp>
        <p:nvSpPr>
          <p:cNvPr id="336" name="Text 28"/>
          <p:cNvSpPr txBox="1"/>
          <p:nvPr/>
        </p:nvSpPr>
        <p:spPr>
          <a:xfrm>
            <a:off x="4719348" y="3757929"/>
            <a:ext cx="56692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7C3AED"/>
                </a:solidFill>
              </a:defRPr>
            </a:lvl1pPr>
          </a:lstStyle>
          <a:p>
            <a:pPr/>
            <a:r>
              <a:t>O2</a:t>
            </a:r>
          </a:p>
        </p:txBody>
      </p:sp>
      <p:sp>
        <p:nvSpPr>
          <p:cNvPr id="337" name="Text 29"/>
          <p:cNvSpPr txBox="1"/>
          <p:nvPr/>
        </p:nvSpPr>
        <p:spPr>
          <a:xfrm>
            <a:off x="2159028" y="4601209"/>
            <a:ext cx="192024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64748B"/>
                </a:solidFill>
              </a:defRPr>
            </a:lvl1pPr>
          </a:lstStyle>
          <a:p>
            <a:pPr/>
            <a:r>
              <a:t>… 22 nodes total</a:t>
            </a:r>
          </a:p>
        </p:txBody>
      </p:sp>
      <p:sp>
        <p:nvSpPr>
          <p:cNvPr id="338" name="Shape 30"/>
          <p:cNvSpPr/>
          <p:nvPr/>
        </p:nvSpPr>
        <p:spPr>
          <a:xfrm>
            <a:off x="6400800" y="1325880"/>
            <a:ext cx="2331721" cy="1051561"/>
          </a:xfrm>
          <a:prstGeom prst="roundRect">
            <a:avLst>
              <a:gd name="adj" fmla="val 6087"/>
            </a:avLst>
          </a:prstGeom>
          <a:solidFill>
            <a:srgbClr val="FFFFFF"/>
          </a:solidFill>
          <a:ln w="12700">
            <a:solidFill>
              <a:srgbClr val="2563EB"/>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339" name="Text 31"/>
          <p:cNvSpPr txBox="1"/>
          <p:nvPr/>
        </p:nvSpPr>
        <p:spPr>
          <a:xfrm>
            <a:off x="6510528" y="1492250"/>
            <a:ext cx="2112265"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2563EB"/>
                </a:solidFill>
              </a:defRPr>
            </a:lvl1pPr>
          </a:lstStyle>
          <a:p>
            <a:pPr/>
            <a:r>
              <a:t>1. Channel descriptor</a:t>
            </a:r>
          </a:p>
        </p:txBody>
      </p:sp>
      <p:sp>
        <p:nvSpPr>
          <p:cNvPr id="340" name="Text 32"/>
          <p:cNvSpPr txBox="1"/>
          <p:nvPr/>
        </p:nvSpPr>
        <p:spPr>
          <a:xfrm>
            <a:off x="6510528" y="1900173"/>
            <a:ext cx="2112265" cy="3053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Time-average each channel after Sinc</a:t>
            </a:r>
          </a:p>
        </p:txBody>
      </p:sp>
      <p:sp>
        <p:nvSpPr>
          <p:cNvPr id="341" name="Shape 33"/>
          <p:cNvSpPr/>
          <p:nvPr/>
        </p:nvSpPr>
        <p:spPr>
          <a:xfrm>
            <a:off x="8917319" y="1856358"/>
            <a:ext cx="365761" cy="1"/>
          </a:xfrm>
          <a:prstGeom prst="line">
            <a:avLst/>
          </a:prstGeom>
          <a:ln w="12700">
            <a:solidFill>
              <a:srgbClr val="64748B"/>
            </a:solidFill>
            <a:tailEnd type="triangle"/>
          </a:ln>
        </p:spPr>
        <p:txBody>
          <a:bodyPr lIns="45719" rIns="45719"/>
          <a:lstStyle/>
          <a:p>
            <a:pPr>
              <a:defRPr b="0" sz="1800">
                <a:solidFill>
                  <a:srgbClr val="000000"/>
                </a:solidFill>
              </a:defRPr>
            </a:pPr>
          </a:p>
        </p:txBody>
      </p:sp>
      <p:sp>
        <p:nvSpPr>
          <p:cNvPr id="342" name="Shape 34"/>
          <p:cNvSpPr/>
          <p:nvPr/>
        </p:nvSpPr>
        <p:spPr>
          <a:xfrm>
            <a:off x="9467878" y="1328632"/>
            <a:ext cx="2331721" cy="1051561"/>
          </a:xfrm>
          <a:prstGeom prst="roundRect">
            <a:avLst>
              <a:gd name="adj" fmla="val 6087"/>
            </a:avLst>
          </a:prstGeom>
          <a:solidFill>
            <a:srgbClr val="FFFFFF"/>
          </a:solidFill>
          <a:ln w="12700">
            <a:solidFill>
              <a:srgbClr val="7C3AED"/>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343" name="Text 35"/>
          <p:cNvSpPr txBox="1"/>
          <p:nvPr/>
        </p:nvSpPr>
        <p:spPr>
          <a:xfrm>
            <a:off x="9577606" y="1495001"/>
            <a:ext cx="2112265"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7C3AED"/>
                </a:solidFill>
              </a:defRPr>
            </a:lvl1pPr>
          </a:lstStyle>
          <a:p>
            <a:pPr/>
            <a:r>
              <a:t>2. Similarity</a:t>
            </a:r>
          </a:p>
        </p:txBody>
      </p:sp>
      <p:sp>
        <p:nvSpPr>
          <p:cNvPr id="344" name="Text 36"/>
          <p:cNvSpPr txBox="1"/>
          <p:nvPr/>
        </p:nvSpPr>
        <p:spPr>
          <a:xfrm>
            <a:off x="9577606" y="1902925"/>
            <a:ext cx="2112265" cy="3053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Learn Q and K, then pairwise scores</a:t>
            </a:r>
          </a:p>
        </p:txBody>
      </p:sp>
      <p:sp>
        <p:nvSpPr>
          <p:cNvPr id="345" name="Shape 37"/>
          <p:cNvSpPr/>
          <p:nvPr/>
        </p:nvSpPr>
        <p:spPr>
          <a:xfrm>
            <a:off x="10621366" y="2734691"/>
            <a:ext cx="1" cy="484633"/>
          </a:xfrm>
          <a:prstGeom prst="line">
            <a:avLst/>
          </a:prstGeom>
          <a:ln w="12700">
            <a:solidFill>
              <a:srgbClr val="64748B"/>
            </a:solidFill>
            <a:tailEnd type="triangle"/>
          </a:ln>
        </p:spPr>
        <p:txBody>
          <a:bodyPr lIns="45719" rIns="45719"/>
          <a:lstStyle/>
          <a:p>
            <a:pPr>
              <a:defRPr b="0" sz="1800">
                <a:solidFill>
                  <a:srgbClr val="000000"/>
                </a:solidFill>
              </a:defRPr>
            </a:pPr>
          </a:p>
        </p:txBody>
      </p:sp>
      <p:sp>
        <p:nvSpPr>
          <p:cNvPr id="346" name="Shape 38"/>
          <p:cNvSpPr/>
          <p:nvPr/>
        </p:nvSpPr>
        <p:spPr>
          <a:xfrm>
            <a:off x="9455505" y="3437465"/>
            <a:ext cx="2331721" cy="1051561"/>
          </a:xfrm>
          <a:prstGeom prst="roundRect">
            <a:avLst>
              <a:gd name="adj" fmla="val 6087"/>
            </a:avLst>
          </a:prstGeom>
          <a:solidFill>
            <a:srgbClr val="FFFFFF"/>
          </a:solidFill>
          <a:ln w="12700">
            <a:solidFill>
              <a:srgbClr val="0F766E"/>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347" name="Text 39"/>
          <p:cNvSpPr txBox="1"/>
          <p:nvPr/>
        </p:nvSpPr>
        <p:spPr>
          <a:xfrm>
            <a:off x="9565233" y="3603835"/>
            <a:ext cx="2112266"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0F766E"/>
                </a:solidFill>
              </a:defRPr>
            </a:lvl1pPr>
          </a:lstStyle>
          <a:p>
            <a:pPr/>
            <a:r>
              <a:t>3. Dynamic adjacency</a:t>
            </a:r>
          </a:p>
        </p:txBody>
      </p:sp>
      <p:sp>
        <p:nvSpPr>
          <p:cNvPr id="348" name="Text 40"/>
          <p:cNvSpPr txBox="1"/>
          <p:nvPr/>
        </p:nvSpPr>
        <p:spPr>
          <a:xfrm>
            <a:off x="9565233" y="4086750"/>
            <a:ext cx="2112266" cy="155327"/>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Softmax → sample-specific graph</a:t>
            </a:r>
          </a:p>
        </p:txBody>
      </p:sp>
      <p:sp>
        <p:nvSpPr>
          <p:cNvPr id="349" name="Shape 41"/>
          <p:cNvSpPr/>
          <p:nvPr/>
        </p:nvSpPr>
        <p:spPr>
          <a:xfrm flipH="1">
            <a:off x="8917319" y="3961118"/>
            <a:ext cx="365761" cy="1"/>
          </a:xfrm>
          <a:prstGeom prst="line">
            <a:avLst/>
          </a:prstGeom>
          <a:ln w="12700">
            <a:solidFill>
              <a:srgbClr val="64748B"/>
            </a:solidFill>
            <a:tailEnd type="triangle"/>
          </a:ln>
        </p:spPr>
        <p:txBody>
          <a:bodyPr lIns="45719" rIns="45719"/>
          <a:lstStyle/>
          <a:p>
            <a:pPr>
              <a:defRPr b="0" sz="1800">
                <a:solidFill>
                  <a:srgbClr val="000000"/>
                </a:solidFill>
              </a:defRPr>
            </a:pPr>
          </a:p>
        </p:txBody>
      </p:sp>
      <p:sp>
        <p:nvSpPr>
          <p:cNvPr id="350" name="Shape 42"/>
          <p:cNvSpPr/>
          <p:nvPr/>
        </p:nvSpPr>
        <p:spPr>
          <a:xfrm>
            <a:off x="6400800" y="3474720"/>
            <a:ext cx="2331721" cy="1051561"/>
          </a:xfrm>
          <a:prstGeom prst="roundRect">
            <a:avLst>
              <a:gd name="adj" fmla="val 6087"/>
            </a:avLst>
          </a:prstGeom>
          <a:solidFill>
            <a:srgbClr val="FFFFFF"/>
          </a:solidFill>
          <a:ln w="12700">
            <a:solidFill>
              <a:srgbClr val="16A34A"/>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351" name="Text 43"/>
          <p:cNvSpPr txBox="1"/>
          <p:nvPr/>
        </p:nvSpPr>
        <p:spPr>
          <a:xfrm>
            <a:off x="6510528" y="3641089"/>
            <a:ext cx="2112265"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16A34A"/>
                </a:solidFill>
              </a:defRPr>
            </a:lvl1pPr>
          </a:lstStyle>
          <a:p>
            <a:pPr/>
            <a:r>
              <a:t>4. Graph propagation</a:t>
            </a:r>
          </a:p>
        </p:txBody>
      </p:sp>
      <p:sp>
        <p:nvSpPr>
          <p:cNvPr id="352" name="Text 44"/>
          <p:cNvSpPr txBox="1"/>
          <p:nvPr/>
        </p:nvSpPr>
        <p:spPr>
          <a:xfrm>
            <a:off x="6510528" y="4125213"/>
            <a:ext cx="211226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Mix information across nodes</a:t>
            </a:r>
          </a:p>
        </p:txBody>
      </p:sp>
      <p:sp>
        <p:nvSpPr>
          <p:cNvPr id="353" name="Text 45"/>
          <p:cNvSpPr txBox="1"/>
          <p:nvPr/>
        </p:nvSpPr>
        <p:spPr>
          <a:xfrm>
            <a:off x="3019436" y="5907535"/>
            <a:ext cx="6153128"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164E63"/>
                </a:solidFill>
              </a:defRPr>
            </a:lvl1pPr>
          </a:lstStyle>
          <a:p>
            <a:pPr/>
            <a:r>
              <a:t>Dynamic Graph means the graph can change from trial to trial</a:t>
            </a:r>
          </a:p>
        </p:txBody>
      </p:sp>
      <p:sp>
        <p:nvSpPr>
          <p:cNvPr id="354" name="Slide Number Placeholder 0"/>
          <p:cNvSpPr txBox="1"/>
          <p:nvPr>
            <p:ph type="sldNum" sz="quarter" idx="4294967295"/>
          </p:nvPr>
        </p:nvSpPr>
        <p:spPr>
          <a:xfrm>
            <a:off x="11722607" y="6446520"/>
            <a:ext cx="160646" cy="2184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8" name="Text 0"/>
          <p:cNvSpPr txBox="1"/>
          <p:nvPr/>
        </p:nvSpPr>
        <p:spPr>
          <a:xfrm>
            <a:off x="594359" y="399287"/>
            <a:ext cx="109728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r>
              <a:t>Temporal learning + feature attention</a:t>
            </a:r>
          </a:p>
        </p:txBody>
      </p:sp>
      <p:sp>
        <p:nvSpPr>
          <p:cNvPr id="359" name="Text 1"/>
          <p:cNvSpPr txBox="1"/>
          <p:nvPr/>
        </p:nvSpPr>
        <p:spPr>
          <a:xfrm>
            <a:off x="574547" y="886713"/>
            <a:ext cx="1078992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64748B"/>
                </a:solidFill>
              </a:defRPr>
            </a:lvl1pPr>
          </a:lstStyle>
          <a:p>
            <a:pPr/>
            <a:r>
              <a:t>BiGRU learns the temporal story; SE decides which latent features deserve more weight.</a:t>
            </a:r>
          </a:p>
        </p:txBody>
      </p:sp>
      <p:sp>
        <p:nvSpPr>
          <p:cNvPr id="360" name="Shape 2"/>
          <p:cNvSpPr/>
          <p:nvPr/>
        </p:nvSpPr>
        <p:spPr>
          <a:xfrm>
            <a:off x="685800" y="1417319"/>
            <a:ext cx="5212080" cy="4160522"/>
          </a:xfrm>
          <a:prstGeom prst="roundRect">
            <a:avLst>
              <a:gd name="adj" fmla="val 1758"/>
            </a:avLst>
          </a:prstGeom>
          <a:solidFill>
            <a:srgbClr val="FFFFFF"/>
          </a:solidFill>
          <a:ln w="12700">
            <a:solidFill>
              <a:srgbClr val="C7DCCD"/>
            </a:solidFill>
          </a:ln>
        </p:spPr>
        <p:txBody>
          <a:bodyPr lIns="45719" rIns="45719"/>
          <a:lstStyle/>
          <a:p>
            <a:pPr>
              <a:defRPr b="0" sz="1800">
                <a:solidFill>
                  <a:srgbClr val="000000"/>
                </a:solidFill>
              </a:defRPr>
            </a:pPr>
          </a:p>
        </p:txBody>
      </p:sp>
      <p:sp>
        <p:nvSpPr>
          <p:cNvPr id="361" name="Text 3"/>
          <p:cNvSpPr txBox="1"/>
          <p:nvPr/>
        </p:nvSpPr>
        <p:spPr>
          <a:xfrm>
            <a:off x="960119" y="1751330"/>
            <a:ext cx="3840481"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900">
                <a:solidFill>
                  <a:srgbClr val="16A34A"/>
                </a:solidFill>
              </a:defRPr>
            </a:lvl1pPr>
          </a:lstStyle>
          <a:p>
            <a:pPr/>
            <a:r>
              <a:t>BiGRU — Temporal modeling</a:t>
            </a:r>
          </a:p>
        </p:txBody>
      </p:sp>
      <p:sp>
        <p:nvSpPr>
          <p:cNvPr id="362" name="Text 4"/>
          <p:cNvSpPr txBox="1"/>
          <p:nvPr/>
        </p:nvSpPr>
        <p:spPr>
          <a:xfrm>
            <a:off x="914400" y="2454910"/>
            <a:ext cx="132588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64748B"/>
                </a:solidFill>
              </a:defRPr>
            </a:lvl1pPr>
          </a:lstStyle>
          <a:p>
            <a:pPr/>
            <a:r>
              <a:t>Input sequence</a:t>
            </a:r>
          </a:p>
        </p:txBody>
      </p:sp>
      <p:sp>
        <p:nvSpPr>
          <p:cNvPr id="363" name="Text 5"/>
          <p:cNvSpPr txBox="1"/>
          <p:nvPr/>
        </p:nvSpPr>
        <p:spPr>
          <a:xfrm>
            <a:off x="914399" y="2693191"/>
            <a:ext cx="4069081" cy="38348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stStyle>
          <a:p>
            <a:pPr/>
            <a:r>
              <a:t>t₁  →  t₂  →  t₃  →  …  →  tₜ</a:t>
            </a:r>
          </a:p>
        </p:txBody>
      </p:sp>
      <p:sp>
        <p:nvSpPr>
          <p:cNvPr id="364" name="Shape 6"/>
          <p:cNvSpPr/>
          <p:nvPr/>
        </p:nvSpPr>
        <p:spPr>
          <a:xfrm>
            <a:off x="1188719" y="3337559"/>
            <a:ext cx="3474722" cy="1"/>
          </a:xfrm>
          <a:prstGeom prst="line">
            <a:avLst/>
          </a:prstGeom>
          <a:ln w="12700">
            <a:solidFill>
              <a:srgbClr val="16A34A"/>
            </a:solidFill>
            <a:tailEnd type="triangle"/>
          </a:ln>
        </p:spPr>
        <p:txBody>
          <a:bodyPr lIns="45719" rIns="45719"/>
          <a:lstStyle/>
          <a:p>
            <a:pPr>
              <a:defRPr b="0" sz="1800">
                <a:solidFill>
                  <a:srgbClr val="000000"/>
                </a:solidFill>
              </a:defRPr>
            </a:pPr>
          </a:p>
        </p:txBody>
      </p:sp>
      <p:sp>
        <p:nvSpPr>
          <p:cNvPr id="365" name="Shape 7"/>
          <p:cNvSpPr/>
          <p:nvPr/>
        </p:nvSpPr>
        <p:spPr>
          <a:xfrm flipH="1" flipV="1">
            <a:off x="1188719" y="3918457"/>
            <a:ext cx="3474721" cy="1"/>
          </a:xfrm>
          <a:prstGeom prst="line">
            <a:avLst/>
          </a:prstGeom>
          <a:ln w="12700">
            <a:solidFill>
              <a:srgbClr val="0F766E"/>
            </a:solidFill>
            <a:tailEnd type="triangle"/>
          </a:ln>
        </p:spPr>
        <p:txBody>
          <a:bodyPr lIns="45719" rIns="45719"/>
          <a:lstStyle/>
          <a:p>
            <a:pPr>
              <a:defRPr b="0" sz="1800">
                <a:solidFill>
                  <a:srgbClr val="000000"/>
                </a:solidFill>
              </a:defRPr>
            </a:pPr>
          </a:p>
        </p:txBody>
      </p:sp>
      <p:sp>
        <p:nvSpPr>
          <p:cNvPr id="366" name="Text 8"/>
          <p:cNvSpPr txBox="1"/>
          <p:nvPr/>
        </p:nvSpPr>
        <p:spPr>
          <a:xfrm>
            <a:off x="1097280" y="3166364"/>
            <a:ext cx="384048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16A34A"/>
                </a:solidFill>
              </a:defRPr>
            </a:lvl1pPr>
          </a:lstStyle>
          <a:p>
            <a:pPr/>
            <a:r>
              <a:t>Forward GRU: 32 hidden units</a:t>
            </a:r>
          </a:p>
        </p:txBody>
      </p:sp>
      <p:sp>
        <p:nvSpPr>
          <p:cNvPr id="367" name="Text 9"/>
          <p:cNvSpPr txBox="1"/>
          <p:nvPr/>
        </p:nvSpPr>
        <p:spPr>
          <a:xfrm>
            <a:off x="1097280" y="4016755"/>
            <a:ext cx="384048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0F766E"/>
                </a:solidFill>
              </a:defRPr>
            </a:lvl1pPr>
          </a:lstStyle>
          <a:p>
            <a:pPr/>
            <a:r>
              <a:t>Backward GRU: 32 hidden units</a:t>
            </a:r>
          </a:p>
        </p:txBody>
      </p:sp>
      <p:sp>
        <p:nvSpPr>
          <p:cNvPr id="368" name="Text 10"/>
          <p:cNvSpPr txBox="1"/>
          <p:nvPr/>
        </p:nvSpPr>
        <p:spPr>
          <a:xfrm>
            <a:off x="960120" y="4647946"/>
            <a:ext cx="448056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lvl1pPr>
          </a:lstStyle>
          <a:p>
            <a:pPr/>
            <a:r>
              <a:t>Concatenate → 64-D temporal representation</a:t>
            </a:r>
          </a:p>
        </p:txBody>
      </p:sp>
      <p:sp>
        <p:nvSpPr>
          <p:cNvPr id="369" name="Shape 11"/>
          <p:cNvSpPr/>
          <p:nvPr/>
        </p:nvSpPr>
        <p:spPr>
          <a:xfrm>
            <a:off x="6263640" y="1417319"/>
            <a:ext cx="5212081" cy="4160522"/>
          </a:xfrm>
          <a:prstGeom prst="roundRect">
            <a:avLst>
              <a:gd name="adj" fmla="val 1758"/>
            </a:avLst>
          </a:prstGeom>
          <a:solidFill>
            <a:srgbClr val="FFFFFF"/>
          </a:solidFill>
          <a:ln w="12700">
            <a:solidFill>
              <a:srgbClr val="E8D7B0"/>
            </a:solidFill>
          </a:ln>
        </p:spPr>
        <p:txBody>
          <a:bodyPr lIns="45719" rIns="45719"/>
          <a:lstStyle/>
          <a:p>
            <a:pPr>
              <a:defRPr b="0" sz="1800">
                <a:solidFill>
                  <a:srgbClr val="000000"/>
                </a:solidFill>
              </a:defRPr>
            </a:pPr>
          </a:p>
        </p:txBody>
      </p:sp>
      <p:sp>
        <p:nvSpPr>
          <p:cNvPr id="370" name="Text 12"/>
          <p:cNvSpPr txBox="1"/>
          <p:nvPr/>
        </p:nvSpPr>
        <p:spPr>
          <a:xfrm>
            <a:off x="6537959" y="1751330"/>
            <a:ext cx="4389121"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900">
                <a:solidFill>
                  <a:srgbClr val="D97706"/>
                </a:solidFill>
              </a:defRPr>
            </a:lvl1pPr>
          </a:lstStyle>
          <a:p>
            <a:pPr/>
            <a:r>
              <a:t>SE attention — feature reweighting</a:t>
            </a:r>
          </a:p>
        </p:txBody>
      </p:sp>
      <p:sp>
        <p:nvSpPr>
          <p:cNvPr id="371" name="Text 13"/>
          <p:cNvSpPr txBox="1"/>
          <p:nvPr/>
        </p:nvSpPr>
        <p:spPr>
          <a:xfrm>
            <a:off x="6537959" y="2342727"/>
            <a:ext cx="4526281" cy="43518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1E293B"/>
                </a:solidFill>
              </a:defRPr>
            </a:lvl1pPr>
          </a:lstStyle>
          <a:p>
            <a:pPr/>
            <a:r>
              <a:t>64-D features → squeeze by temporal mean → 64 weights</a:t>
            </a:r>
          </a:p>
        </p:txBody>
      </p:sp>
      <p:sp>
        <p:nvSpPr>
          <p:cNvPr id="372" name="Shape 14"/>
          <p:cNvSpPr/>
          <p:nvPr/>
        </p:nvSpPr>
        <p:spPr>
          <a:xfrm>
            <a:off x="6463875" y="3081527"/>
            <a:ext cx="1143001" cy="731521"/>
          </a:xfrm>
          <a:prstGeom prst="roundRect">
            <a:avLst>
              <a:gd name="adj" fmla="val 8750"/>
            </a:avLst>
          </a:prstGeom>
          <a:solidFill>
            <a:srgbClr val="FFFFFF"/>
          </a:solidFill>
          <a:ln w="12700">
            <a:solidFill>
              <a:srgbClr val="2563EB"/>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373" name="Text 15"/>
          <p:cNvSpPr txBox="1"/>
          <p:nvPr/>
        </p:nvSpPr>
        <p:spPr>
          <a:xfrm>
            <a:off x="6573604" y="3235197"/>
            <a:ext cx="923545"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2563EB"/>
                </a:solidFill>
              </a:defRPr>
            </a:lvl1pPr>
          </a:lstStyle>
          <a:p>
            <a:pPr/>
            <a:r>
              <a:t>64</a:t>
            </a:r>
          </a:p>
        </p:txBody>
      </p:sp>
      <p:sp>
        <p:nvSpPr>
          <p:cNvPr id="374" name="Text 16"/>
          <p:cNvSpPr txBox="1"/>
          <p:nvPr/>
        </p:nvSpPr>
        <p:spPr>
          <a:xfrm>
            <a:off x="6573604" y="3572001"/>
            <a:ext cx="92354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features</a:t>
            </a:r>
          </a:p>
        </p:txBody>
      </p:sp>
      <p:sp>
        <p:nvSpPr>
          <p:cNvPr id="375" name="Shape 17"/>
          <p:cNvSpPr/>
          <p:nvPr/>
        </p:nvSpPr>
        <p:spPr>
          <a:xfrm>
            <a:off x="7774516" y="3447288"/>
            <a:ext cx="407587" cy="1"/>
          </a:xfrm>
          <a:prstGeom prst="line">
            <a:avLst/>
          </a:prstGeom>
          <a:ln w="12700">
            <a:solidFill>
              <a:srgbClr val="D97706"/>
            </a:solidFill>
            <a:tailEnd type="triangle"/>
          </a:ln>
        </p:spPr>
        <p:txBody>
          <a:bodyPr lIns="45719" rIns="45719"/>
          <a:lstStyle/>
          <a:p>
            <a:pPr>
              <a:defRPr b="0" sz="1800">
                <a:solidFill>
                  <a:srgbClr val="000000"/>
                </a:solidFill>
              </a:defRPr>
            </a:pPr>
          </a:p>
        </p:txBody>
      </p:sp>
      <p:sp>
        <p:nvSpPr>
          <p:cNvPr id="376" name="Shape 18"/>
          <p:cNvSpPr/>
          <p:nvPr/>
        </p:nvSpPr>
        <p:spPr>
          <a:xfrm>
            <a:off x="8351520" y="3087369"/>
            <a:ext cx="1143001" cy="731521"/>
          </a:xfrm>
          <a:prstGeom prst="roundRect">
            <a:avLst>
              <a:gd name="adj" fmla="val 8750"/>
            </a:avLst>
          </a:prstGeom>
          <a:solidFill>
            <a:srgbClr val="FFFFFF"/>
          </a:solidFill>
          <a:ln w="12700">
            <a:solidFill>
              <a:srgbClr val="D97706"/>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377" name="Text 19"/>
          <p:cNvSpPr txBox="1"/>
          <p:nvPr/>
        </p:nvSpPr>
        <p:spPr>
          <a:xfrm>
            <a:off x="8461248" y="3241039"/>
            <a:ext cx="923545"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D97706"/>
                </a:solidFill>
              </a:defRPr>
            </a:lvl1pPr>
          </a:lstStyle>
          <a:p>
            <a:pPr/>
            <a:r>
              <a:t>4</a:t>
            </a:r>
          </a:p>
        </p:txBody>
      </p:sp>
      <p:sp>
        <p:nvSpPr>
          <p:cNvPr id="378" name="Text 20"/>
          <p:cNvSpPr txBox="1"/>
          <p:nvPr/>
        </p:nvSpPr>
        <p:spPr>
          <a:xfrm>
            <a:off x="8461248" y="3577843"/>
            <a:ext cx="92354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bottleneck</a:t>
            </a:r>
          </a:p>
        </p:txBody>
      </p:sp>
      <p:sp>
        <p:nvSpPr>
          <p:cNvPr id="379" name="Shape 21"/>
          <p:cNvSpPr/>
          <p:nvPr/>
        </p:nvSpPr>
        <p:spPr>
          <a:xfrm>
            <a:off x="9659239" y="3438016"/>
            <a:ext cx="453307" cy="1"/>
          </a:xfrm>
          <a:prstGeom prst="line">
            <a:avLst/>
          </a:prstGeom>
          <a:ln w="12700">
            <a:solidFill>
              <a:srgbClr val="D97706"/>
            </a:solidFill>
            <a:tailEnd type="triangle"/>
          </a:ln>
        </p:spPr>
        <p:txBody>
          <a:bodyPr lIns="45719" rIns="45719"/>
          <a:lstStyle/>
          <a:p>
            <a:pPr>
              <a:defRPr b="0" sz="1800">
                <a:solidFill>
                  <a:srgbClr val="000000"/>
                </a:solidFill>
              </a:defRPr>
            </a:pPr>
          </a:p>
        </p:txBody>
      </p:sp>
      <p:sp>
        <p:nvSpPr>
          <p:cNvPr id="380" name="Shape 22"/>
          <p:cNvSpPr/>
          <p:nvPr/>
        </p:nvSpPr>
        <p:spPr>
          <a:xfrm>
            <a:off x="10201064" y="3044951"/>
            <a:ext cx="1143001" cy="731521"/>
          </a:xfrm>
          <a:prstGeom prst="roundRect">
            <a:avLst>
              <a:gd name="adj" fmla="val 8750"/>
            </a:avLst>
          </a:prstGeom>
          <a:solidFill>
            <a:srgbClr val="FFFFFF"/>
          </a:solidFill>
          <a:ln w="12700">
            <a:solidFill>
              <a:srgbClr val="16A34A"/>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381" name="Text 23"/>
          <p:cNvSpPr txBox="1"/>
          <p:nvPr/>
        </p:nvSpPr>
        <p:spPr>
          <a:xfrm>
            <a:off x="10452184" y="3201035"/>
            <a:ext cx="694945"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16A34A"/>
                </a:solidFill>
              </a:defRPr>
            </a:lvl1pPr>
          </a:lstStyle>
          <a:p>
            <a:pPr/>
            <a:r>
              <a:t>64</a:t>
            </a:r>
          </a:p>
        </p:txBody>
      </p:sp>
      <p:sp>
        <p:nvSpPr>
          <p:cNvPr id="382" name="Text 24"/>
          <p:cNvSpPr txBox="1"/>
          <p:nvPr/>
        </p:nvSpPr>
        <p:spPr>
          <a:xfrm>
            <a:off x="10452184" y="3549395"/>
            <a:ext cx="69494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weights</a:t>
            </a:r>
          </a:p>
        </p:txBody>
      </p:sp>
      <p:sp>
        <p:nvSpPr>
          <p:cNvPr id="383" name="Text 25"/>
          <p:cNvSpPr txBox="1"/>
          <p:nvPr/>
        </p:nvSpPr>
        <p:spPr>
          <a:xfrm>
            <a:off x="6812280" y="4723383"/>
            <a:ext cx="406908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lvl1pPr>
          </a:lstStyle>
          <a:p>
            <a:pPr/>
            <a:r>
              <a:t>Example: important latent feature × 0.90; less useful feature × 0.25</a:t>
            </a:r>
          </a:p>
        </p:txBody>
      </p:sp>
      <p:sp>
        <p:nvSpPr>
          <p:cNvPr id="384" name="Slide Number Placeholder 0"/>
          <p:cNvSpPr txBox="1"/>
          <p:nvPr>
            <p:ph type="sldNum" sz="quarter" idx="4294967295"/>
          </p:nvPr>
        </p:nvSpPr>
        <p:spPr>
          <a:xfrm>
            <a:off x="11722607" y="6446520"/>
            <a:ext cx="160646" cy="2184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85" name="Text 5"/>
          <p:cNvSpPr txBox="1"/>
          <p:nvPr/>
        </p:nvSpPr>
        <p:spPr>
          <a:xfrm>
            <a:off x="822959" y="3434109"/>
            <a:ext cx="4389122" cy="38348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stStyle>
          <a:p>
            <a:pPr/>
            <a:r>
              <a:t>t₁ ←  t₂  ← t₃    …  ←  tₜ</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9" name="Text 0"/>
          <p:cNvSpPr txBox="1"/>
          <p:nvPr/>
        </p:nvSpPr>
        <p:spPr>
          <a:xfrm>
            <a:off x="594359" y="399287"/>
            <a:ext cx="109728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r>
              <a:t>Three learning objectives</a:t>
            </a:r>
          </a:p>
        </p:txBody>
      </p:sp>
      <p:sp>
        <p:nvSpPr>
          <p:cNvPr id="390" name="Text 1"/>
          <p:cNvSpPr txBox="1"/>
          <p:nvPr/>
        </p:nvSpPr>
        <p:spPr>
          <a:xfrm>
            <a:off x="612647" y="886713"/>
            <a:ext cx="1078992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64748B"/>
                </a:solidFill>
              </a:defRPr>
            </a:lvl1pPr>
          </a:lstStyle>
          <a:p>
            <a:pPr/>
            <a:r>
              <a:t>The same 64-D representation is trained to be useful, separable, and less subject-specific.</a:t>
            </a:r>
          </a:p>
        </p:txBody>
      </p:sp>
      <p:sp>
        <p:nvSpPr>
          <p:cNvPr id="391" name="Shape 2"/>
          <p:cNvSpPr/>
          <p:nvPr/>
        </p:nvSpPr>
        <p:spPr>
          <a:xfrm>
            <a:off x="4000499" y="1644046"/>
            <a:ext cx="4160522" cy="914401"/>
          </a:xfrm>
          <a:prstGeom prst="roundRect">
            <a:avLst>
              <a:gd name="adj" fmla="val 8000"/>
            </a:avLst>
          </a:prstGeom>
          <a:solidFill>
            <a:srgbClr val="E8F3F5"/>
          </a:solidFill>
          <a:ln w="12700">
            <a:solidFill>
              <a:srgbClr val="0F766E"/>
            </a:solidFill>
          </a:ln>
        </p:spPr>
        <p:txBody>
          <a:bodyPr lIns="45719" rIns="45719"/>
          <a:lstStyle/>
          <a:p>
            <a:pPr>
              <a:defRPr b="0" sz="1800">
                <a:solidFill>
                  <a:srgbClr val="000000"/>
                </a:solidFill>
              </a:defRPr>
            </a:pPr>
          </a:p>
        </p:txBody>
      </p:sp>
      <p:sp>
        <p:nvSpPr>
          <p:cNvPr id="392" name="Text 3"/>
          <p:cNvSpPr txBox="1"/>
          <p:nvPr/>
        </p:nvSpPr>
        <p:spPr>
          <a:xfrm>
            <a:off x="4229099" y="1912270"/>
            <a:ext cx="3703322"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164E63"/>
                </a:solidFill>
              </a:defRPr>
            </a:lvl1pPr>
          </a:lstStyle>
          <a:p>
            <a:pPr/>
            <a:r>
              <a:t>64-D latent representation</a:t>
            </a:r>
          </a:p>
        </p:txBody>
      </p:sp>
      <p:sp>
        <p:nvSpPr>
          <p:cNvPr id="393" name="Shape 4"/>
          <p:cNvSpPr/>
          <p:nvPr/>
        </p:nvSpPr>
        <p:spPr>
          <a:xfrm>
            <a:off x="2690367" y="2772425"/>
            <a:ext cx="1" cy="431801"/>
          </a:xfrm>
          <a:prstGeom prst="line">
            <a:avLst/>
          </a:prstGeom>
          <a:ln w="12700">
            <a:solidFill>
              <a:srgbClr val="64748B"/>
            </a:solidFill>
            <a:tailEnd type="triangle"/>
          </a:ln>
        </p:spPr>
        <p:txBody>
          <a:bodyPr lIns="45719" rIns="45719"/>
          <a:lstStyle/>
          <a:p>
            <a:pPr>
              <a:defRPr b="0" sz="1800">
                <a:solidFill>
                  <a:srgbClr val="000000"/>
                </a:solidFill>
              </a:defRPr>
            </a:pPr>
          </a:p>
        </p:txBody>
      </p:sp>
      <p:sp>
        <p:nvSpPr>
          <p:cNvPr id="394" name="Shape 5"/>
          <p:cNvSpPr/>
          <p:nvPr/>
        </p:nvSpPr>
        <p:spPr>
          <a:xfrm>
            <a:off x="1344167" y="3250326"/>
            <a:ext cx="2743201" cy="1325882"/>
          </a:xfrm>
          <a:prstGeom prst="roundRect">
            <a:avLst>
              <a:gd name="adj" fmla="val 4828"/>
            </a:avLst>
          </a:prstGeom>
          <a:solidFill>
            <a:srgbClr val="FFFFFF"/>
          </a:solidFill>
          <a:ln w="12700">
            <a:solidFill>
              <a:srgbClr val="2563EB"/>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395" name="Text 6"/>
          <p:cNvSpPr txBox="1"/>
          <p:nvPr/>
        </p:nvSpPr>
        <p:spPr>
          <a:xfrm>
            <a:off x="1453895" y="3410346"/>
            <a:ext cx="2523745"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2563EB"/>
                </a:solidFill>
              </a:defRPr>
            </a:lvl1pPr>
          </a:lstStyle>
          <a:p>
            <a:pPr/>
            <a:r>
              <a:t>Task classifier</a:t>
            </a:r>
          </a:p>
        </p:txBody>
      </p:sp>
      <p:sp>
        <p:nvSpPr>
          <p:cNvPr id="396" name="Text 7"/>
          <p:cNvSpPr txBox="1"/>
          <p:nvPr/>
        </p:nvSpPr>
        <p:spPr>
          <a:xfrm>
            <a:off x="1453895" y="3936380"/>
            <a:ext cx="252374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Left Fist / Right Fist</a:t>
            </a:r>
          </a:p>
        </p:txBody>
      </p:sp>
      <p:sp>
        <p:nvSpPr>
          <p:cNvPr id="397" name="Text 8"/>
          <p:cNvSpPr txBox="1"/>
          <p:nvPr/>
        </p:nvSpPr>
        <p:spPr>
          <a:xfrm>
            <a:off x="1508759" y="4086415"/>
            <a:ext cx="246888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1E293B"/>
                </a:solidFill>
              </a:defRPr>
            </a:lvl1pPr>
          </a:lstStyle>
          <a:p>
            <a:pPr/>
            <a:r>
              <a:t>Learn class-discriminative features</a:t>
            </a:r>
          </a:p>
        </p:txBody>
      </p:sp>
      <p:sp>
        <p:nvSpPr>
          <p:cNvPr id="398" name="Shape 9"/>
          <p:cNvSpPr/>
          <p:nvPr/>
        </p:nvSpPr>
        <p:spPr>
          <a:xfrm>
            <a:off x="6007608" y="2768305"/>
            <a:ext cx="1" cy="431801"/>
          </a:xfrm>
          <a:prstGeom prst="line">
            <a:avLst/>
          </a:prstGeom>
          <a:ln w="12700">
            <a:solidFill>
              <a:srgbClr val="64748B"/>
            </a:solidFill>
            <a:tailEnd type="triangle"/>
          </a:ln>
        </p:spPr>
        <p:txBody>
          <a:bodyPr lIns="45719" rIns="45719"/>
          <a:lstStyle/>
          <a:p>
            <a:pPr>
              <a:defRPr b="0" sz="1800">
                <a:solidFill>
                  <a:srgbClr val="000000"/>
                </a:solidFill>
              </a:defRPr>
            </a:pPr>
          </a:p>
        </p:txBody>
      </p:sp>
      <p:sp>
        <p:nvSpPr>
          <p:cNvPr id="399" name="Shape 10"/>
          <p:cNvSpPr/>
          <p:nvPr/>
        </p:nvSpPr>
        <p:spPr>
          <a:xfrm>
            <a:off x="4636008" y="3250326"/>
            <a:ext cx="2743201" cy="1325882"/>
          </a:xfrm>
          <a:prstGeom prst="roundRect">
            <a:avLst>
              <a:gd name="adj" fmla="val 4828"/>
            </a:avLst>
          </a:prstGeom>
          <a:solidFill>
            <a:srgbClr val="FFFFFF"/>
          </a:solidFill>
          <a:ln w="12700">
            <a:solidFill>
              <a:srgbClr val="E11D48"/>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400" name="Text 11"/>
          <p:cNvSpPr txBox="1"/>
          <p:nvPr/>
        </p:nvSpPr>
        <p:spPr>
          <a:xfrm>
            <a:off x="4745735" y="3410346"/>
            <a:ext cx="2523745"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E11D48"/>
                </a:solidFill>
              </a:defRPr>
            </a:lvl1pPr>
          </a:lstStyle>
          <a:p>
            <a:pPr/>
            <a:r>
              <a:t>GRL + Domain classifier</a:t>
            </a:r>
          </a:p>
        </p:txBody>
      </p:sp>
      <p:sp>
        <p:nvSpPr>
          <p:cNvPr id="401" name="Text 12"/>
          <p:cNvSpPr txBox="1"/>
          <p:nvPr/>
        </p:nvSpPr>
        <p:spPr>
          <a:xfrm>
            <a:off x="4745735" y="3872880"/>
            <a:ext cx="252374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Subject 1 / 2 / 3 / …</a:t>
            </a:r>
          </a:p>
        </p:txBody>
      </p:sp>
      <p:sp>
        <p:nvSpPr>
          <p:cNvPr id="402" name="Text 13"/>
          <p:cNvSpPr txBox="1"/>
          <p:nvPr/>
        </p:nvSpPr>
        <p:spPr>
          <a:xfrm>
            <a:off x="4771135" y="4124213"/>
            <a:ext cx="2468882"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1E293B"/>
                </a:solidFill>
              </a:defRPr>
            </a:lvl1pPr>
          </a:lstStyle>
          <a:p>
            <a:pPr/>
            <a:r>
              <a:t>Make subject identity harder to recover</a:t>
            </a:r>
          </a:p>
        </p:txBody>
      </p:sp>
      <p:sp>
        <p:nvSpPr>
          <p:cNvPr id="403" name="Shape 15"/>
          <p:cNvSpPr/>
          <p:nvPr/>
        </p:nvSpPr>
        <p:spPr>
          <a:xfrm>
            <a:off x="7927847" y="3250326"/>
            <a:ext cx="2743201" cy="1325882"/>
          </a:xfrm>
          <a:prstGeom prst="roundRect">
            <a:avLst>
              <a:gd name="adj" fmla="val 4828"/>
            </a:avLst>
          </a:prstGeom>
          <a:solidFill>
            <a:srgbClr val="FFFFFF"/>
          </a:solidFill>
          <a:ln w="12700">
            <a:solidFill>
              <a:srgbClr val="16A34A"/>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404" name="Text 16"/>
          <p:cNvSpPr txBox="1"/>
          <p:nvPr/>
        </p:nvSpPr>
        <p:spPr>
          <a:xfrm>
            <a:off x="8037575" y="3410346"/>
            <a:ext cx="2523745"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16A34A"/>
                </a:solidFill>
              </a:defRPr>
            </a:lvl1pPr>
          </a:lstStyle>
          <a:p>
            <a:pPr/>
            <a:r>
              <a:t>SupCon projection head</a:t>
            </a:r>
          </a:p>
        </p:txBody>
      </p:sp>
      <p:sp>
        <p:nvSpPr>
          <p:cNvPr id="405" name="Text 18"/>
          <p:cNvSpPr txBox="1"/>
          <p:nvPr/>
        </p:nvSpPr>
        <p:spPr>
          <a:xfrm>
            <a:off x="8065008" y="4005913"/>
            <a:ext cx="246888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1E293B"/>
                </a:solidFill>
              </a:defRPr>
            </a:lvl1pPr>
          </a:lstStyle>
          <a:p>
            <a:pPr/>
            <a:r>
              <a:t>Same class closer and Different class farther</a:t>
            </a:r>
          </a:p>
        </p:txBody>
      </p:sp>
      <p:sp>
        <p:nvSpPr>
          <p:cNvPr id="406" name="Shape 19"/>
          <p:cNvSpPr/>
          <p:nvPr/>
        </p:nvSpPr>
        <p:spPr>
          <a:xfrm>
            <a:off x="3741420" y="5330554"/>
            <a:ext cx="4709160" cy="713233"/>
          </a:xfrm>
          <a:prstGeom prst="roundRect">
            <a:avLst>
              <a:gd name="adj" fmla="val 10256"/>
            </a:avLst>
          </a:prstGeom>
          <a:solidFill>
            <a:srgbClr val="FFF7ED"/>
          </a:solidFill>
          <a:ln w="12700">
            <a:solidFill>
              <a:srgbClr val="D97706"/>
            </a:solidFill>
          </a:ln>
        </p:spPr>
        <p:txBody>
          <a:bodyPr lIns="45719" rIns="45719"/>
          <a:lstStyle/>
          <a:p>
            <a:pPr>
              <a:defRPr b="0" sz="1800">
                <a:solidFill>
                  <a:srgbClr val="000000"/>
                </a:solidFill>
              </a:defRPr>
            </a:pPr>
          </a:p>
        </p:txBody>
      </p:sp>
      <p:sp>
        <p:nvSpPr>
          <p:cNvPr id="407" name="Text 20"/>
          <p:cNvSpPr txBox="1"/>
          <p:nvPr/>
        </p:nvSpPr>
        <p:spPr>
          <a:xfrm>
            <a:off x="3970020" y="5457554"/>
            <a:ext cx="429768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lvl1pPr>
          </a:lstStyle>
          <a:p>
            <a:pPr/>
            <a:r>
              <a:t>Core idea: Classify the task without relying on who the subject is.</a:t>
            </a:r>
          </a:p>
        </p:txBody>
      </p:sp>
      <p:sp>
        <p:nvSpPr>
          <p:cNvPr id="408" name="Slide Number Placeholder 0"/>
          <p:cNvSpPr txBox="1"/>
          <p:nvPr>
            <p:ph type="sldNum" sz="quarter" idx="4294967295"/>
          </p:nvPr>
        </p:nvSpPr>
        <p:spPr>
          <a:xfrm>
            <a:off x="11722607" y="6446520"/>
            <a:ext cx="217151" cy="2184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09" name="Shape 9"/>
          <p:cNvSpPr/>
          <p:nvPr/>
        </p:nvSpPr>
        <p:spPr>
          <a:xfrm>
            <a:off x="9286747" y="2759725"/>
            <a:ext cx="1" cy="431801"/>
          </a:xfrm>
          <a:prstGeom prst="line">
            <a:avLst/>
          </a:prstGeom>
          <a:ln w="12700">
            <a:solidFill>
              <a:srgbClr val="64748B"/>
            </a:solidFill>
            <a:tailEnd type="triangle"/>
          </a:ln>
        </p:spPr>
        <p:txBody>
          <a:bodyPr lIns="45719" rIns="45719"/>
          <a:lstStyle/>
          <a:p>
            <a:pPr>
              <a:defRPr b="0" sz="1800">
                <a:solidFill>
                  <a:srgbClr val="000000"/>
                </a:solidFill>
              </a:defRPr>
            </a:pPr>
          </a:p>
        </p:txBody>
      </p:sp>
      <p:sp>
        <p:nvSpPr>
          <p:cNvPr id="410" name="Line"/>
          <p:cNvSpPr/>
          <p:nvPr/>
        </p:nvSpPr>
        <p:spPr>
          <a:xfrm>
            <a:off x="2684583" y="2766028"/>
            <a:ext cx="6600331" cy="1"/>
          </a:xfrm>
          <a:prstGeom prst="line">
            <a:avLst/>
          </a:prstGeom>
          <a:ln w="12700">
            <a:solidFill>
              <a:schemeClr val="accent1"/>
            </a:solidFill>
            <a:miter/>
          </a:ln>
        </p:spPr>
        <p:txBody>
          <a:bodyPr lIns="45719" rIns="45719"/>
          <a:lstStyle/>
          <a:p>
            <a:pPr>
              <a:defRPr b="0" sz="1800">
                <a:solidFill>
                  <a:srgbClr val="000000"/>
                </a:solidFill>
              </a:defRPr>
            </a:pP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4" name="Text 0"/>
          <p:cNvSpPr txBox="1"/>
          <p:nvPr/>
        </p:nvSpPr>
        <p:spPr>
          <a:xfrm>
            <a:off x="594359" y="399287"/>
            <a:ext cx="109728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r>
              <a:t>Training loss + target-time AdaBN</a:t>
            </a:r>
          </a:p>
        </p:txBody>
      </p:sp>
      <p:sp>
        <p:nvSpPr>
          <p:cNvPr id="415" name="Text 1"/>
          <p:cNvSpPr txBox="1"/>
          <p:nvPr/>
        </p:nvSpPr>
        <p:spPr>
          <a:xfrm>
            <a:off x="612647" y="886713"/>
            <a:ext cx="1078992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64748B"/>
                </a:solidFill>
              </a:defRPr>
            </a:lvl1pPr>
          </a:lstStyle>
          <a:p>
            <a:pPr/>
            <a:r>
              <a:t>Training removes subject bias; test-time AdaBN adjusts normalization to the target distribution.</a:t>
            </a:r>
          </a:p>
        </p:txBody>
      </p:sp>
      <p:sp>
        <p:nvSpPr>
          <p:cNvPr id="416" name="Shape 2"/>
          <p:cNvSpPr/>
          <p:nvPr/>
        </p:nvSpPr>
        <p:spPr>
          <a:xfrm>
            <a:off x="777240" y="1371600"/>
            <a:ext cx="2926080" cy="1051561"/>
          </a:xfrm>
          <a:prstGeom prst="roundRect">
            <a:avLst>
              <a:gd name="adj" fmla="val 6087"/>
            </a:avLst>
          </a:prstGeom>
          <a:solidFill>
            <a:srgbClr val="FFFFFF"/>
          </a:solidFill>
          <a:ln w="12700">
            <a:solidFill>
              <a:srgbClr val="164E63"/>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417" name="Text 3"/>
          <p:cNvSpPr txBox="1"/>
          <p:nvPr/>
        </p:nvSpPr>
        <p:spPr>
          <a:xfrm>
            <a:off x="886967" y="1518919"/>
            <a:ext cx="2706625"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700">
                <a:solidFill>
                  <a:srgbClr val="164E63"/>
                </a:solidFill>
              </a:defRPr>
            </a:lvl1pPr>
          </a:lstStyle>
          <a:p>
            <a:pPr/>
            <a:r>
              <a:t>Total loss</a:t>
            </a:r>
          </a:p>
        </p:txBody>
      </p:sp>
      <p:sp>
        <p:nvSpPr>
          <p:cNvPr id="418" name="Text 4"/>
          <p:cNvSpPr txBox="1"/>
          <p:nvPr/>
        </p:nvSpPr>
        <p:spPr>
          <a:xfrm>
            <a:off x="886967" y="2022094"/>
            <a:ext cx="270662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Task + Domain + Contrastive</a:t>
            </a:r>
          </a:p>
        </p:txBody>
      </p:sp>
      <p:sp>
        <p:nvSpPr>
          <p:cNvPr id="419" name="Shape 5"/>
          <p:cNvSpPr/>
          <p:nvPr/>
        </p:nvSpPr>
        <p:spPr>
          <a:xfrm>
            <a:off x="777240" y="2788920"/>
            <a:ext cx="2926080" cy="1051561"/>
          </a:xfrm>
          <a:prstGeom prst="roundRect">
            <a:avLst>
              <a:gd name="adj" fmla="val 6087"/>
            </a:avLst>
          </a:prstGeom>
          <a:solidFill>
            <a:srgbClr val="FFFFFF"/>
          </a:solidFill>
          <a:ln w="12700">
            <a:solidFill>
              <a:srgbClr val="2563EB"/>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420" name="Text 6"/>
          <p:cNvSpPr txBox="1"/>
          <p:nvPr/>
        </p:nvSpPr>
        <p:spPr>
          <a:xfrm>
            <a:off x="886967" y="2948939"/>
            <a:ext cx="2706625"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2563EB"/>
                </a:solidFill>
              </a:defRPr>
            </a:lvl1pPr>
          </a:lstStyle>
          <a:p>
            <a:pPr/>
            <a:r>
              <a:t>Configured weights</a:t>
            </a:r>
          </a:p>
        </p:txBody>
      </p:sp>
      <p:sp>
        <p:nvSpPr>
          <p:cNvPr id="421" name="Text 7"/>
          <p:cNvSpPr txBox="1"/>
          <p:nvPr/>
        </p:nvSpPr>
        <p:spPr>
          <a:xfrm>
            <a:off x="886967" y="3363213"/>
            <a:ext cx="2706625" cy="3053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p>
            <a:pPr algn="ctr">
              <a:defRPr sz="1000">
                <a:solidFill>
                  <a:srgbClr val="1E293B"/>
                </a:solidFill>
              </a:defRPr>
            </a:pPr>
            <a:r>
              <a:t>Domain = 1.0</a:t>
            </a:r>
          </a:p>
          <a:p>
            <a:pPr algn="ctr">
              <a:defRPr sz="1000">
                <a:solidFill>
                  <a:srgbClr val="1E293B"/>
                </a:solidFill>
              </a:defRPr>
            </a:pPr>
            <a:r>
              <a:t>SupCon = 0.5</a:t>
            </a:r>
          </a:p>
        </p:txBody>
      </p:sp>
      <p:sp>
        <p:nvSpPr>
          <p:cNvPr id="422" name="Shape 8"/>
          <p:cNvSpPr/>
          <p:nvPr/>
        </p:nvSpPr>
        <p:spPr>
          <a:xfrm>
            <a:off x="777240" y="4206240"/>
            <a:ext cx="2926080" cy="1051561"/>
          </a:xfrm>
          <a:prstGeom prst="roundRect">
            <a:avLst>
              <a:gd name="adj" fmla="val 6087"/>
            </a:avLst>
          </a:prstGeom>
          <a:solidFill>
            <a:srgbClr val="FFFFFF"/>
          </a:solidFill>
          <a:ln w="12700">
            <a:solidFill>
              <a:srgbClr val="16A34A"/>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423" name="Text 9"/>
          <p:cNvSpPr txBox="1"/>
          <p:nvPr/>
        </p:nvSpPr>
        <p:spPr>
          <a:xfrm>
            <a:off x="886967" y="4366259"/>
            <a:ext cx="2706625"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16A34A"/>
                </a:solidFill>
              </a:defRPr>
            </a:lvl1pPr>
          </a:lstStyle>
          <a:p>
            <a:pPr/>
            <a:r>
              <a:t>Optimization</a:t>
            </a:r>
          </a:p>
        </p:txBody>
      </p:sp>
      <p:sp>
        <p:nvSpPr>
          <p:cNvPr id="424" name="Text 10"/>
          <p:cNvSpPr txBox="1"/>
          <p:nvPr/>
        </p:nvSpPr>
        <p:spPr>
          <a:xfrm>
            <a:off x="886967" y="4780534"/>
            <a:ext cx="2706625" cy="3053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p>
            <a:pPr algn="ctr">
              <a:defRPr sz="1000">
                <a:solidFill>
                  <a:srgbClr val="1E293B"/>
                </a:solidFill>
              </a:defRPr>
            </a:pPr>
            <a:r>
              <a:t>AdamW</a:t>
            </a:r>
          </a:p>
          <a:p>
            <a:pPr algn="ctr">
              <a:defRPr sz="1000">
                <a:solidFill>
                  <a:srgbClr val="1E293B"/>
                </a:solidFill>
              </a:defRPr>
            </a:pPr>
            <a:r>
              <a:t>lr 1e-3 • 100 epochs</a:t>
            </a:r>
          </a:p>
        </p:txBody>
      </p:sp>
      <p:sp>
        <p:nvSpPr>
          <p:cNvPr id="425" name="Shape 11"/>
          <p:cNvSpPr/>
          <p:nvPr/>
        </p:nvSpPr>
        <p:spPr>
          <a:xfrm flipH="1">
            <a:off x="4160520" y="1371600"/>
            <a:ext cx="1" cy="3977641"/>
          </a:xfrm>
          <a:prstGeom prst="line">
            <a:avLst/>
          </a:prstGeom>
          <a:ln w="12700">
            <a:solidFill>
              <a:srgbClr val="CBD5E1"/>
            </a:solidFill>
          </a:ln>
        </p:spPr>
        <p:txBody>
          <a:bodyPr lIns="45719" rIns="45719"/>
          <a:lstStyle/>
          <a:p>
            <a:pPr>
              <a:defRPr b="0" sz="1800">
                <a:solidFill>
                  <a:srgbClr val="000000"/>
                </a:solidFill>
              </a:defRPr>
            </a:pPr>
          </a:p>
        </p:txBody>
      </p:sp>
      <p:sp>
        <p:nvSpPr>
          <p:cNvPr id="426" name="Text 12"/>
          <p:cNvSpPr txBox="1"/>
          <p:nvPr/>
        </p:nvSpPr>
        <p:spPr>
          <a:xfrm>
            <a:off x="4572000" y="1327149"/>
            <a:ext cx="3200400"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100">
                <a:solidFill>
                  <a:srgbClr val="0EA5E9"/>
                </a:solidFill>
              </a:defRPr>
            </a:lvl1pPr>
          </a:lstStyle>
          <a:p>
            <a:pPr/>
            <a:r>
              <a:t>Target-time AdaBN</a:t>
            </a:r>
          </a:p>
        </p:txBody>
      </p:sp>
      <p:sp>
        <p:nvSpPr>
          <p:cNvPr id="427" name="Shape 13"/>
          <p:cNvSpPr/>
          <p:nvPr/>
        </p:nvSpPr>
        <p:spPr>
          <a:xfrm>
            <a:off x="4572000" y="1965960"/>
            <a:ext cx="2331721" cy="960121"/>
          </a:xfrm>
          <a:prstGeom prst="roundRect">
            <a:avLst>
              <a:gd name="adj" fmla="val 6667"/>
            </a:avLst>
          </a:prstGeom>
          <a:solidFill>
            <a:srgbClr val="FFFFFF"/>
          </a:solidFill>
          <a:ln w="12700">
            <a:solidFill>
              <a:srgbClr val="0EA5E9"/>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428" name="Text 14"/>
          <p:cNvSpPr txBox="1"/>
          <p:nvPr/>
        </p:nvSpPr>
        <p:spPr>
          <a:xfrm>
            <a:off x="4681728" y="2132330"/>
            <a:ext cx="2112265"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0EA5E9"/>
                </a:solidFill>
              </a:defRPr>
            </a:lvl1pPr>
          </a:lstStyle>
          <a:p>
            <a:pPr/>
            <a:r>
              <a:t>Unlabeled target EEG</a:t>
            </a:r>
          </a:p>
        </p:txBody>
      </p:sp>
      <p:sp>
        <p:nvSpPr>
          <p:cNvPr id="429" name="Text 15"/>
          <p:cNvSpPr txBox="1"/>
          <p:nvPr/>
        </p:nvSpPr>
        <p:spPr>
          <a:xfrm>
            <a:off x="4681728" y="2570734"/>
            <a:ext cx="211226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Labels are NOT used</a:t>
            </a:r>
          </a:p>
        </p:txBody>
      </p:sp>
      <p:sp>
        <p:nvSpPr>
          <p:cNvPr id="430" name="Shape 16"/>
          <p:cNvSpPr/>
          <p:nvPr/>
        </p:nvSpPr>
        <p:spPr>
          <a:xfrm>
            <a:off x="7040880" y="2450592"/>
            <a:ext cx="502920" cy="1"/>
          </a:xfrm>
          <a:prstGeom prst="line">
            <a:avLst/>
          </a:prstGeom>
          <a:ln w="12700">
            <a:solidFill>
              <a:srgbClr val="0EA5E9"/>
            </a:solidFill>
            <a:tailEnd type="triangle"/>
          </a:ln>
        </p:spPr>
        <p:txBody>
          <a:bodyPr lIns="45719" rIns="45719"/>
          <a:lstStyle/>
          <a:p>
            <a:pPr>
              <a:defRPr b="0" sz="1800">
                <a:solidFill>
                  <a:srgbClr val="000000"/>
                </a:solidFill>
              </a:defRPr>
            </a:pPr>
          </a:p>
        </p:txBody>
      </p:sp>
      <p:sp>
        <p:nvSpPr>
          <p:cNvPr id="431" name="Shape 17"/>
          <p:cNvSpPr/>
          <p:nvPr/>
        </p:nvSpPr>
        <p:spPr>
          <a:xfrm>
            <a:off x="7589519" y="1965960"/>
            <a:ext cx="2331721" cy="960121"/>
          </a:xfrm>
          <a:prstGeom prst="roundRect">
            <a:avLst>
              <a:gd name="adj" fmla="val 6667"/>
            </a:avLst>
          </a:prstGeom>
          <a:solidFill>
            <a:srgbClr val="FFFFFF"/>
          </a:solidFill>
          <a:ln w="12700">
            <a:solidFill>
              <a:srgbClr val="7C3AED"/>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432" name="Text 18"/>
          <p:cNvSpPr txBox="1"/>
          <p:nvPr/>
        </p:nvSpPr>
        <p:spPr>
          <a:xfrm>
            <a:off x="7699247" y="2132330"/>
            <a:ext cx="2112265"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7C3AED"/>
                </a:solidFill>
              </a:defRPr>
            </a:lvl1pPr>
          </a:lstStyle>
          <a:p>
            <a:pPr/>
            <a:r>
              <a:t>Reset / update BN stats</a:t>
            </a:r>
          </a:p>
        </p:txBody>
      </p:sp>
      <p:sp>
        <p:nvSpPr>
          <p:cNvPr id="433" name="Text 19"/>
          <p:cNvSpPr txBox="1"/>
          <p:nvPr/>
        </p:nvSpPr>
        <p:spPr>
          <a:xfrm>
            <a:off x="7699247" y="2570734"/>
            <a:ext cx="211226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One no-grad target pass</a:t>
            </a:r>
          </a:p>
        </p:txBody>
      </p:sp>
      <p:sp>
        <p:nvSpPr>
          <p:cNvPr id="434" name="Shape 20"/>
          <p:cNvSpPr/>
          <p:nvPr/>
        </p:nvSpPr>
        <p:spPr>
          <a:xfrm>
            <a:off x="10058400" y="2450592"/>
            <a:ext cx="502920" cy="1"/>
          </a:xfrm>
          <a:prstGeom prst="line">
            <a:avLst/>
          </a:prstGeom>
          <a:ln w="12700">
            <a:solidFill>
              <a:srgbClr val="0EA5E9"/>
            </a:solidFill>
            <a:tailEnd type="triangle"/>
          </a:ln>
        </p:spPr>
        <p:txBody>
          <a:bodyPr lIns="45719" rIns="45719"/>
          <a:lstStyle/>
          <a:p>
            <a:pPr>
              <a:defRPr b="0" sz="1800">
                <a:solidFill>
                  <a:srgbClr val="000000"/>
                </a:solidFill>
              </a:defRPr>
            </a:pPr>
          </a:p>
        </p:txBody>
      </p:sp>
      <p:sp>
        <p:nvSpPr>
          <p:cNvPr id="435" name="Shape 21"/>
          <p:cNvSpPr/>
          <p:nvPr/>
        </p:nvSpPr>
        <p:spPr>
          <a:xfrm>
            <a:off x="10561319" y="1965960"/>
            <a:ext cx="1420275" cy="960121"/>
          </a:xfrm>
          <a:prstGeom prst="roundRect">
            <a:avLst>
              <a:gd name="adj" fmla="val 6667"/>
            </a:avLst>
          </a:prstGeom>
          <a:solidFill>
            <a:srgbClr val="FFFFFF"/>
          </a:solidFill>
          <a:ln w="12700">
            <a:solidFill>
              <a:srgbClr val="16A34A"/>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436" name="Text 22"/>
          <p:cNvSpPr txBox="1"/>
          <p:nvPr/>
        </p:nvSpPr>
        <p:spPr>
          <a:xfrm>
            <a:off x="10969704" y="2181606"/>
            <a:ext cx="603505"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16A34A"/>
                </a:solidFill>
              </a:defRPr>
            </a:lvl1pPr>
          </a:lstStyle>
          <a:p>
            <a:pPr/>
            <a:r>
              <a:t>Predict</a:t>
            </a:r>
          </a:p>
        </p:txBody>
      </p:sp>
      <p:sp>
        <p:nvSpPr>
          <p:cNvPr id="437" name="Text 23"/>
          <p:cNvSpPr txBox="1"/>
          <p:nvPr/>
        </p:nvSpPr>
        <p:spPr>
          <a:xfrm>
            <a:off x="4611370" y="3610610"/>
            <a:ext cx="676656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E11D48"/>
                </a:solidFill>
              </a:defRPr>
            </a:lvl1pPr>
          </a:lstStyle>
          <a:p>
            <a:pPr/>
            <a:r>
              <a:t>This is unsupervised test-time adaptation, not strict zero-calibration.</a:t>
            </a:r>
          </a:p>
        </p:txBody>
      </p:sp>
      <p:sp>
        <p:nvSpPr>
          <p:cNvPr id="438" name="Text 24"/>
          <p:cNvSpPr txBox="1"/>
          <p:nvPr/>
        </p:nvSpPr>
        <p:spPr>
          <a:xfrm>
            <a:off x="4686300" y="4221861"/>
            <a:ext cx="6537960"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1E293B"/>
                </a:solidFill>
              </a:defRPr>
            </a:lvl1pPr>
          </a:lstStyle>
          <a:p>
            <a:pPr/>
            <a:r>
              <a:t>Why? EEG statistics can shift across subjects even after domain-adversarial training.</a:t>
            </a:r>
          </a:p>
        </p:txBody>
      </p:sp>
      <p:sp>
        <p:nvSpPr>
          <p:cNvPr id="439" name="Shape 25"/>
          <p:cNvSpPr/>
          <p:nvPr/>
        </p:nvSpPr>
        <p:spPr>
          <a:xfrm>
            <a:off x="5862348" y="5096002"/>
            <a:ext cx="3840481" cy="310897"/>
          </a:xfrm>
          <a:prstGeom prst="roundRect">
            <a:avLst>
              <a:gd name="adj" fmla="val 35294"/>
            </a:avLst>
          </a:prstGeom>
          <a:solidFill>
            <a:srgbClr val="164E63"/>
          </a:solidFill>
          <a:ln w="12700">
            <a:solidFill>
              <a:srgbClr val="164E63"/>
            </a:solidFill>
          </a:ln>
        </p:spPr>
        <p:txBody>
          <a:bodyPr lIns="45719" rIns="45719"/>
          <a:lstStyle/>
          <a:p>
            <a:pPr>
              <a:defRPr b="0" sz="1800">
                <a:solidFill>
                  <a:srgbClr val="000000"/>
                </a:solidFill>
              </a:defRPr>
            </a:pPr>
          </a:p>
        </p:txBody>
      </p:sp>
      <p:sp>
        <p:nvSpPr>
          <p:cNvPr id="440" name="Text 26"/>
          <p:cNvSpPr txBox="1"/>
          <p:nvPr/>
        </p:nvSpPr>
        <p:spPr>
          <a:xfrm>
            <a:off x="5875048" y="5177663"/>
            <a:ext cx="38404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defRPr>
            </a:lvl1pPr>
          </a:lstStyle>
          <a:p>
            <a:pPr/>
            <a:r>
              <a:t>Target labels are never used for BN adaptation</a:t>
            </a:r>
          </a:p>
        </p:txBody>
      </p:sp>
      <p:sp>
        <p:nvSpPr>
          <p:cNvPr id="441" name="Slide Number Placeholder 0"/>
          <p:cNvSpPr txBox="1"/>
          <p:nvPr>
            <p:ph type="sldNum" sz="quarter" idx="4294967295"/>
          </p:nvPr>
        </p:nvSpPr>
        <p:spPr>
          <a:xfrm>
            <a:off x="11722607" y="6446520"/>
            <a:ext cx="209660" cy="2184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42" name="Text 19"/>
          <p:cNvSpPr txBox="1"/>
          <p:nvPr/>
        </p:nvSpPr>
        <p:spPr>
          <a:xfrm>
            <a:off x="10796463" y="2494534"/>
            <a:ext cx="949987" cy="3053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Left or Right Fist</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6" name="Text 0"/>
          <p:cNvSpPr txBox="1"/>
          <p:nvPr/>
        </p:nvSpPr>
        <p:spPr>
          <a:xfrm>
            <a:off x="594359" y="399287"/>
            <a:ext cx="109728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r>
              <a:t>Results</a:t>
            </a:r>
          </a:p>
        </p:txBody>
      </p:sp>
      <p:sp>
        <p:nvSpPr>
          <p:cNvPr id="447" name="Text 1"/>
          <p:cNvSpPr txBox="1"/>
          <p:nvPr/>
        </p:nvSpPr>
        <p:spPr>
          <a:xfrm>
            <a:off x="612647" y="886713"/>
            <a:ext cx="1078992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64748B"/>
                </a:solidFill>
              </a:defRPr>
            </a:lvl1pPr>
          </a:lstStyle>
          <a:p>
            <a:pPr/>
            <a:r>
              <a:t>Publication evaluation used a subject-held-out protocol on PhysioNet motor-imagery EEG.</a:t>
            </a:r>
          </a:p>
        </p:txBody>
      </p:sp>
      <p:sp>
        <p:nvSpPr>
          <p:cNvPr id="448" name="Shape 2"/>
          <p:cNvSpPr/>
          <p:nvPr/>
        </p:nvSpPr>
        <p:spPr>
          <a:xfrm>
            <a:off x="685800" y="1325880"/>
            <a:ext cx="2377440" cy="1097281"/>
          </a:xfrm>
          <a:prstGeom prst="roundRect">
            <a:avLst>
              <a:gd name="adj" fmla="val 5833"/>
            </a:avLst>
          </a:prstGeom>
          <a:solidFill>
            <a:srgbClr val="FFFFFF"/>
          </a:solidFill>
          <a:ln w="12700">
            <a:solidFill>
              <a:srgbClr val="164E63"/>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449" name="Text 3"/>
          <p:cNvSpPr txBox="1"/>
          <p:nvPr/>
        </p:nvSpPr>
        <p:spPr>
          <a:xfrm>
            <a:off x="795527" y="1479550"/>
            <a:ext cx="2157985"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164E63"/>
                </a:solidFill>
              </a:defRPr>
            </a:lvl1pPr>
          </a:lstStyle>
          <a:p>
            <a:pPr/>
            <a:r>
              <a:t>109 subjects available</a:t>
            </a:r>
          </a:p>
        </p:txBody>
      </p:sp>
      <p:sp>
        <p:nvSpPr>
          <p:cNvPr id="450" name="Text 4"/>
          <p:cNvSpPr txBox="1"/>
          <p:nvPr/>
        </p:nvSpPr>
        <p:spPr>
          <a:xfrm>
            <a:off x="795527" y="1999234"/>
            <a:ext cx="215798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PhysioNet dataset</a:t>
            </a:r>
          </a:p>
        </p:txBody>
      </p:sp>
      <p:sp>
        <p:nvSpPr>
          <p:cNvPr id="451" name="Shape 5"/>
          <p:cNvSpPr/>
          <p:nvPr/>
        </p:nvSpPr>
        <p:spPr>
          <a:xfrm>
            <a:off x="3246120" y="1325880"/>
            <a:ext cx="2377441" cy="1097281"/>
          </a:xfrm>
          <a:prstGeom prst="roundRect">
            <a:avLst>
              <a:gd name="adj" fmla="val 5833"/>
            </a:avLst>
          </a:prstGeom>
          <a:solidFill>
            <a:srgbClr val="FFFFFF"/>
          </a:solidFill>
          <a:ln w="12700">
            <a:solidFill>
              <a:srgbClr val="2563EB"/>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452" name="Text 6"/>
          <p:cNvSpPr txBox="1"/>
          <p:nvPr/>
        </p:nvSpPr>
        <p:spPr>
          <a:xfrm>
            <a:off x="3355847" y="1498599"/>
            <a:ext cx="2157985"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2563EB"/>
                </a:solidFill>
              </a:defRPr>
            </a:lvl1pPr>
          </a:lstStyle>
          <a:p>
            <a:pPr/>
            <a:r>
              <a:t>10 target subjects</a:t>
            </a:r>
          </a:p>
        </p:txBody>
      </p:sp>
      <p:sp>
        <p:nvSpPr>
          <p:cNvPr id="453" name="Text 7"/>
          <p:cNvSpPr txBox="1"/>
          <p:nvPr/>
        </p:nvSpPr>
        <p:spPr>
          <a:xfrm>
            <a:off x="3355847" y="1999234"/>
            <a:ext cx="215798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4, 15, 23, 29, 31, 42, 55, 71, 82, 95</a:t>
            </a:r>
          </a:p>
        </p:txBody>
      </p:sp>
      <p:sp>
        <p:nvSpPr>
          <p:cNvPr id="454" name="Shape 8"/>
          <p:cNvSpPr/>
          <p:nvPr/>
        </p:nvSpPr>
        <p:spPr>
          <a:xfrm>
            <a:off x="5806440" y="1325880"/>
            <a:ext cx="2377441" cy="1097281"/>
          </a:xfrm>
          <a:prstGeom prst="roundRect">
            <a:avLst>
              <a:gd name="adj" fmla="val 5833"/>
            </a:avLst>
          </a:prstGeom>
          <a:solidFill>
            <a:srgbClr val="FFFFFF"/>
          </a:solidFill>
          <a:ln w="12700">
            <a:solidFill>
              <a:srgbClr val="7C3AED"/>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455" name="Text 9"/>
          <p:cNvSpPr txBox="1"/>
          <p:nvPr/>
        </p:nvSpPr>
        <p:spPr>
          <a:xfrm>
            <a:off x="5916167" y="1492250"/>
            <a:ext cx="2157985"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7C3AED"/>
                </a:solidFill>
              </a:defRPr>
            </a:lvl1pPr>
          </a:lstStyle>
          <a:p>
            <a:pPr/>
            <a:r>
              <a:t>45 trials / target</a:t>
            </a:r>
          </a:p>
        </p:txBody>
      </p:sp>
      <p:sp>
        <p:nvSpPr>
          <p:cNvPr id="456" name="Text 10"/>
          <p:cNvSpPr txBox="1"/>
          <p:nvPr/>
        </p:nvSpPr>
        <p:spPr>
          <a:xfrm>
            <a:off x="5916167" y="1999234"/>
            <a:ext cx="215798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15 trials from each run 4, 8, 12</a:t>
            </a:r>
          </a:p>
        </p:txBody>
      </p:sp>
      <p:sp>
        <p:nvSpPr>
          <p:cNvPr id="457" name="Shape 11"/>
          <p:cNvSpPr/>
          <p:nvPr/>
        </p:nvSpPr>
        <p:spPr>
          <a:xfrm>
            <a:off x="8366759" y="1325880"/>
            <a:ext cx="2834641" cy="1097281"/>
          </a:xfrm>
          <a:prstGeom prst="roundRect">
            <a:avLst>
              <a:gd name="adj" fmla="val 5833"/>
            </a:avLst>
          </a:prstGeom>
          <a:solidFill>
            <a:srgbClr val="FFFFFF"/>
          </a:solidFill>
          <a:ln w="12700">
            <a:solidFill>
              <a:srgbClr val="0EA5E9"/>
            </a:solidFill>
          </a:ln>
          <a:effectLst>
            <a:outerShdw sx="100000" sy="100000" kx="0" ky="0" algn="b" rotWithShape="0" blurRad="12700" dist="50800" dir="2700000">
              <a:srgbClr val="CBD5E1">
                <a:alpha val="18000"/>
              </a:srgbClr>
            </a:outerShdw>
          </a:effectLst>
        </p:spPr>
        <p:txBody>
          <a:bodyPr lIns="45719" rIns="45719"/>
          <a:lstStyle/>
          <a:p>
            <a:pPr>
              <a:defRPr b="0" sz="1800">
                <a:solidFill>
                  <a:srgbClr val="000000"/>
                </a:solidFill>
              </a:defRPr>
            </a:pPr>
          </a:p>
        </p:txBody>
      </p:sp>
      <p:sp>
        <p:nvSpPr>
          <p:cNvPr id="458" name="Text 12"/>
          <p:cNvSpPr txBox="1"/>
          <p:nvPr/>
        </p:nvSpPr>
        <p:spPr>
          <a:xfrm>
            <a:off x="8476488" y="1492250"/>
            <a:ext cx="2615185"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0EA5E9"/>
                </a:solidFill>
              </a:defRPr>
            </a:lvl1pPr>
          </a:lstStyle>
          <a:p>
            <a:pPr/>
            <a:r>
              <a:t>Target-time AdaBN</a:t>
            </a:r>
          </a:p>
        </p:txBody>
      </p:sp>
      <p:sp>
        <p:nvSpPr>
          <p:cNvPr id="459" name="Text 13"/>
          <p:cNvSpPr txBox="1"/>
          <p:nvPr/>
        </p:nvSpPr>
        <p:spPr>
          <a:xfrm>
            <a:off x="8476488" y="1999234"/>
            <a:ext cx="2615185" cy="152909"/>
          </a:xfrm>
          <a:prstGeom prst="rect">
            <a:avLst/>
          </a:prstGeom>
          <a:ln w="12700">
            <a:miter lim="400000"/>
          </a:ln>
          <a:extLst>
            <a:ext uri="{C572A759-6A51-4108-AA02-DFA0A04FC94B}">
              <ma14:wrappingTextBoxFlag xmlns:ma14="http://schemas.microsoft.com/office/mac/drawingml/2011/main" val="1"/>
            </a:ext>
          </a:extLst>
        </p:spPr>
        <p:txBody>
          <a:bodyPr lIns="253" tIns="253" rIns="253" bIns="253" anchor="ctr">
            <a:spAutoFit/>
          </a:bodyPr>
          <a:lstStyle>
            <a:lvl1pPr algn="ctr">
              <a:defRPr sz="1000">
                <a:solidFill>
                  <a:srgbClr val="1E293B"/>
                </a:solidFill>
              </a:defRPr>
            </a:lvl1pPr>
          </a:lstStyle>
          <a:p>
            <a:pPr/>
            <a:r>
              <a:t>Unlabeled target recordings used</a:t>
            </a:r>
          </a:p>
        </p:txBody>
      </p:sp>
      <p:sp>
        <p:nvSpPr>
          <p:cNvPr id="460" name="Shape 14"/>
          <p:cNvSpPr/>
          <p:nvPr/>
        </p:nvSpPr>
        <p:spPr>
          <a:xfrm>
            <a:off x="822960" y="2880360"/>
            <a:ext cx="5428437" cy="2589745"/>
          </a:xfrm>
          <a:prstGeom prst="roundRect">
            <a:avLst>
              <a:gd name="adj" fmla="val 3021"/>
            </a:avLst>
          </a:prstGeom>
          <a:solidFill>
            <a:srgbClr val="FFFFFF"/>
          </a:solidFill>
          <a:ln w="12700">
            <a:solidFill>
              <a:srgbClr val="CBD5E1"/>
            </a:solidFill>
          </a:ln>
        </p:spPr>
        <p:txBody>
          <a:bodyPr lIns="45719" rIns="45719"/>
          <a:lstStyle/>
          <a:p>
            <a:pPr>
              <a:defRPr b="0" sz="1800">
                <a:solidFill>
                  <a:srgbClr val="000000"/>
                </a:solidFill>
              </a:defRPr>
            </a:pPr>
          </a:p>
        </p:txBody>
      </p:sp>
      <p:sp>
        <p:nvSpPr>
          <p:cNvPr id="461" name="Text 15"/>
          <p:cNvSpPr txBox="1"/>
          <p:nvPr/>
        </p:nvSpPr>
        <p:spPr>
          <a:xfrm>
            <a:off x="1097280" y="2938271"/>
            <a:ext cx="2194561" cy="762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r>
              <a:t>Mean performance</a:t>
            </a:r>
          </a:p>
        </p:txBody>
      </p:sp>
      <p:sp>
        <p:nvSpPr>
          <p:cNvPr id="462" name="Text 16"/>
          <p:cNvSpPr txBox="1"/>
          <p:nvPr/>
        </p:nvSpPr>
        <p:spPr>
          <a:xfrm>
            <a:off x="1342618" y="3745229"/>
            <a:ext cx="4389121" cy="520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400">
                <a:solidFill>
                  <a:srgbClr val="16A34A"/>
                </a:solidFill>
              </a:defRPr>
            </a:lvl1pPr>
          </a:lstStyle>
          <a:p>
            <a:pPr/>
            <a:r>
              <a:t>80.44 ± 8.18%</a:t>
            </a:r>
          </a:p>
        </p:txBody>
      </p:sp>
      <p:sp>
        <p:nvSpPr>
          <p:cNvPr id="463" name="Text 17"/>
          <p:cNvSpPr txBox="1"/>
          <p:nvPr/>
        </p:nvSpPr>
        <p:spPr>
          <a:xfrm>
            <a:off x="1376680" y="4364101"/>
            <a:ext cx="18288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64748B"/>
                </a:solidFill>
              </a:defRPr>
            </a:lvl1pPr>
          </a:lstStyle>
          <a:p>
            <a:pPr/>
            <a:r>
              <a:t>Accuracy</a:t>
            </a:r>
          </a:p>
        </p:txBody>
      </p:sp>
      <p:sp>
        <p:nvSpPr>
          <p:cNvPr id="464" name="Text 18"/>
          <p:cNvSpPr txBox="1"/>
          <p:nvPr/>
        </p:nvSpPr>
        <p:spPr>
          <a:xfrm>
            <a:off x="3910315" y="4567682"/>
            <a:ext cx="2194561" cy="762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164E63"/>
                </a:solidFill>
              </a:defRPr>
            </a:lvl1pPr>
          </a:lstStyle>
          <a:p>
            <a:pPr/>
            <a:r>
              <a:t>κ = 0.6089 ± 0.1635</a:t>
            </a:r>
          </a:p>
        </p:txBody>
      </p:sp>
      <p:sp>
        <p:nvSpPr>
          <p:cNvPr id="465" name="Text 19"/>
          <p:cNvSpPr txBox="1"/>
          <p:nvPr/>
        </p:nvSpPr>
        <p:spPr>
          <a:xfrm>
            <a:off x="932179" y="5133460"/>
            <a:ext cx="2524762"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64748B"/>
                </a:solidFill>
              </a:defRPr>
            </a:lvl1pPr>
          </a:lstStyle>
          <a:p>
            <a:pPr/>
            <a:r>
              <a:t>Aggregate ROC-AUC = 0.8964</a:t>
            </a:r>
          </a:p>
        </p:txBody>
      </p:sp>
      <p:sp>
        <p:nvSpPr>
          <p:cNvPr id="466" name="Slide Number Placeholder 0"/>
          <p:cNvSpPr txBox="1"/>
          <p:nvPr>
            <p:ph type="sldNum" sz="quarter" idx="4294967295"/>
          </p:nvPr>
        </p:nvSpPr>
        <p:spPr>
          <a:xfrm>
            <a:off x="11722607" y="6446520"/>
            <a:ext cx="217151" cy="2184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467" name="Image 0" descr="Image 0"/>
          <p:cNvPicPr>
            <a:picLocks noChangeAspect="1"/>
          </p:cNvPicPr>
          <p:nvPr/>
        </p:nvPicPr>
        <p:blipFill>
          <a:blip r:embed="rId3">
            <a:extLst/>
          </a:blip>
          <a:stretch>
            <a:fillRect/>
          </a:stretch>
        </p:blipFill>
        <p:spPr>
          <a:xfrm>
            <a:off x="6834920" y="2870453"/>
            <a:ext cx="4657565" cy="2609558"/>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1" name="Slide Number"/>
          <p:cNvSpPr txBox="1"/>
          <p:nvPr>
            <p:ph type="sldNum" sz="quarter" idx="4294967295"/>
          </p:nvPr>
        </p:nvSpPr>
        <p:spPr>
          <a:xfrm>
            <a:off x="11722607" y="6446520"/>
            <a:ext cx="217151" cy="2184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72" name="TextBox 3"/>
          <p:cNvSpPr txBox="1"/>
          <p:nvPr/>
        </p:nvSpPr>
        <p:spPr>
          <a:xfrm>
            <a:off x="594359" y="382777"/>
            <a:ext cx="11018522"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2400">
                <a:solidFill>
                  <a:srgbClr val="0E1629"/>
                </a:solidFill>
              </a:defRPr>
            </a:lvl1pPr>
          </a:lstStyle>
          <a:p>
            <a:pPr/>
            <a:r>
              <a:t>Ablation Study: Every Core Module Matters</a:t>
            </a:r>
          </a:p>
        </p:txBody>
      </p:sp>
      <p:sp>
        <p:nvSpPr>
          <p:cNvPr id="473" name="TextBox 4"/>
          <p:cNvSpPr txBox="1"/>
          <p:nvPr/>
        </p:nvSpPr>
        <p:spPr>
          <a:xfrm>
            <a:off x="612648" y="865632"/>
            <a:ext cx="1088136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b="0" sz="1000">
                <a:solidFill>
                  <a:srgbClr val="63738B"/>
                </a:solidFill>
              </a:defRPr>
            </a:lvl1pPr>
          </a:lstStyle>
          <a:p>
            <a:pPr/>
            <a:r>
              <a:t>Removing any core component sharply reduces the reported classification accuracy.</a:t>
            </a:r>
          </a:p>
        </p:txBody>
      </p:sp>
      <p:sp>
        <p:nvSpPr>
          <p:cNvPr id="474" name="Rounded Rectangle 6"/>
          <p:cNvSpPr/>
          <p:nvPr/>
        </p:nvSpPr>
        <p:spPr>
          <a:xfrm>
            <a:off x="658368" y="1307591"/>
            <a:ext cx="2514601" cy="987554"/>
          </a:xfrm>
          <a:prstGeom prst="roundRect">
            <a:avLst>
              <a:gd name="adj" fmla="val 16667"/>
            </a:avLst>
          </a:prstGeom>
          <a:solidFill>
            <a:srgbClr val="EAF7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475" name="TextBox 7"/>
          <p:cNvSpPr txBox="1"/>
          <p:nvPr/>
        </p:nvSpPr>
        <p:spPr>
          <a:xfrm>
            <a:off x="850391" y="1448053"/>
            <a:ext cx="2112266"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900">
                <a:solidFill>
                  <a:srgbClr val="147A49"/>
                </a:solidFill>
              </a:defRPr>
            </a:lvl1pPr>
          </a:lstStyle>
          <a:p>
            <a:pPr/>
            <a:r>
              <a:t>BASELINE / FULL MODEL</a:t>
            </a:r>
          </a:p>
        </p:txBody>
      </p:sp>
      <p:sp>
        <p:nvSpPr>
          <p:cNvPr id="476" name="TextBox 8"/>
          <p:cNvSpPr txBox="1"/>
          <p:nvPr/>
        </p:nvSpPr>
        <p:spPr>
          <a:xfrm>
            <a:off x="841247" y="1652016"/>
            <a:ext cx="2103122"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a:solidFill>
                  <a:srgbClr val="147A49"/>
                </a:solidFill>
              </a:defRPr>
            </a:lvl1pPr>
          </a:lstStyle>
          <a:p>
            <a:pPr/>
            <a:r>
              <a:t>86.67%</a:t>
            </a:r>
          </a:p>
        </p:txBody>
      </p:sp>
      <p:sp>
        <p:nvSpPr>
          <p:cNvPr id="477" name="Rounded Rectangle 9"/>
          <p:cNvSpPr/>
          <p:nvPr/>
        </p:nvSpPr>
        <p:spPr>
          <a:xfrm>
            <a:off x="3364991" y="1307591"/>
            <a:ext cx="3895345" cy="987554"/>
          </a:xfrm>
          <a:prstGeom prst="roundRect">
            <a:avLst>
              <a:gd name="adj" fmla="val 16667"/>
            </a:avLst>
          </a:prstGeom>
          <a:solidFill>
            <a:srgbClr val="F3EEFF"/>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478" name="TextBox 10"/>
          <p:cNvSpPr txBox="1"/>
          <p:nvPr/>
        </p:nvSpPr>
        <p:spPr>
          <a:xfrm>
            <a:off x="3566159" y="1448053"/>
            <a:ext cx="34290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900">
                <a:solidFill>
                  <a:srgbClr val="7B39ED"/>
                </a:solidFill>
              </a:defRPr>
            </a:lvl1pPr>
          </a:lstStyle>
          <a:p>
            <a:pPr/>
            <a:r>
              <a:t>LARGEST ABLATION IMPACT</a:t>
            </a:r>
          </a:p>
        </p:txBody>
      </p:sp>
      <p:sp>
        <p:nvSpPr>
          <p:cNvPr id="479" name="TextBox 11"/>
          <p:cNvSpPr txBox="1"/>
          <p:nvPr/>
        </p:nvSpPr>
        <p:spPr>
          <a:xfrm>
            <a:off x="3566159" y="1708150"/>
            <a:ext cx="34290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1600">
                <a:solidFill>
                  <a:srgbClr val="0E1629"/>
                </a:solidFill>
              </a:defRPr>
            </a:lvl1pPr>
          </a:lstStyle>
          <a:p>
            <a:pPr/>
            <a:r>
              <a:t>Dynamic GNN: −37.78 pp</a:t>
            </a:r>
          </a:p>
        </p:txBody>
      </p:sp>
      <p:sp>
        <p:nvSpPr>
          <p:cNvPr id="480" name="Rounded Rectangle 12"/>
          <p:cNvSpPr/>
          <p:nvPr/>
        </p:nvSpPr>
        <p:spPr>
          <a:xfrm>
            <a:off x="7452359" y="1307591"/>
            <a:ext cx="4069081" cy="987554"/>
          </a:xfrm>
          <a:prstGeom prst="roundRect">
            <a:avLst>
              <a:gd name="adj" fmla="val 16667"/>
            </a:avLst>
          </a:prstGeom>
          <a:solidFill>
            <a:srgbClr val="F2F6F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481" name="TextBox 13"/>
          <p:cNvSpPr txBox="1"/>
          <p:nvPr/>
        </p:nvSpPr>
        <p:spPr>
          <a:xfrm>
            <a:off x="7653526" y="1448053"/>
            <a:ext cx="36118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900">
                <a:solidFill>
                  <a:srgbClr val="2D67D8"/>
                </a:solidFill>
              </a:defRPr>
            </a:lvl1pPr>
          </a:lstStyle>
          <a:p>
            <a:pPr/>
            <a:r>
              <a:t>LOWEST ABLATED ACCURACY</a:t>
            </a:r>
          </a:p>
        </p:txBody>
      </p:sp>
      <p:sp>
        <p:nvSpPr>
          <p:cNvPr id="482" name="TextBox 14"/>
          <p:cNvSpPr txBox="1"/>
          <p:nvPr/>
        </p:nvSpPr>
        <p:spPr>
          <a:xfrm>
            <a:off x="7653526" y="1714499"/>
            <a:ext cx="361188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1500">
                <a:solidFill>
                  <a:srgbClr val="0E1629"/>
                </a:solidFill>
              </a:defRPr>
            </a:lvl1pPr>
          </a:lstStyle>
          <a:p>
            <a:pPr/>
            <a:r>
              <a:t>48.89% without Dynamic GNN</a:t>
            </a:r>
          </a:p>
        </p:txBody>
      </p:sp>
      <p:sp>
        <p:nvSpPr>
          <p:cNvPr id="483" name="TextBox 15"/>
          <p:cNvSpPr txBox="1"/>
          <p:nvPr/>
        </p:nvSpPr>
        <p:spPr>
          <a:xfrm>
            <a:off x="850391" y="2499614"/>
            <a:ext cx="22402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900">
                <a:solidFill>
                  <a:srgbClr val="63738B"/>
                </a:solidFill>
              </a:defRPr>
            </a:lvl1pPr>
          </a:lstStyle>
          <a:p>
            <a:pPr/>
            <a:r>
              <a:t>CONDITION</a:t>
            </a:r>
          </a:p>
        </p:txBody>
      </p:sp>
      <p:sp>
        <p:nvSpPr>
          <p:cNvPr id="484" name="TextBox 16"/>
          <p:cNvSpPr txBox="1"/>
          <p:nvPr/>
        </p:nvSpPr>
        <p:spPr>
          <a:xfrm>
            <a:off x="3401567" y="2499614"/>
            <a:ext cx="201168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900">
                <a:solidFill>
                  <a:srgbClr val="63738B"/>
                </a:solidFill>
              </a:defRPr>
            </a:lvl1pPr>
          </a:lstStyle>
          <a:p>
            <a:pPr/>
            <a:r>
              <a:t>ACCURACY</a:t>
            </a:r>
          </a:p>
        </p:txBody>
      </p:sp>
      <p:sp>
        <p:nvSpPr>
          <p:cNvPr id="485" name="TextBox 17"/>
          <p:cNvSpPr txBox="1"/>
          <p:nvPr/>
        </p:nvSpPr>
        <p:spPr>
          <a:xfrm>
            <a:off x="6620256" y="2499614"/>
            <a:ext cx="16002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900">
                <a:solidFill>
                  <a:srgbClr val="63738B"/>
                </a:solidFill>
              </a:defRPr>
            </a:lvl1pPr>
          </a:lstStyle>
          <a:p>
            <a:pPr/>
            <a:r>
              <a:t>DROP VS FULL</a:t>
            </a:r>
          </a:p>
        </p:txBody>
      </p:sp>
      <p:sp>
        <p:nvSpPr>
          <p:cNvPr id="486" name="TextBox 18"/>
          <p:cNvSpPr txBox="1"/>
          <p:nvPr/>
        </p:nvSpPr>
        <p:spPr>
          <a:xfrm>
            <a:off x="8778240" y="2499614"/>
            <a:ext cx="18288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900">
                <a:solidFill>
                  <a:srgbClr val="63738B"/>
                </a:solidFill>
              </a:defRPr>
            </a:lvl1pPr>
          </a:lstStyle>
          <a:p>
            <a:pPr/>
            <a:r>
              <a:t>RELATIVE DROP</a:t>
            </a:r>
          </a:p>
        </p:txBody>
      </p:sp>
      <p:sp>
        <p:nvSpPr>
          <p:cNvPr id="487" name="Rounded Rectangle 19"/>
          <p:cNvSpPr/>
          <p:nvPr/>
        </p:nvSpPr>
        <p:spPr>
          <a:xfrm>
            <a:off x="658368" y="2743200"/>
            <a:ext cx="10863072" cy="539496"/>
          </a:xfrm>
          <a:prstGeom prst="roundRect">
            <a:avLst>
              <a:gd name="adj" fmla="val 16667"/>
            </a:avLst>
          </a:prstGeom>
          <a:solidFill>
            <a:srgbClr val="EAF7F0"/>
          </a:solidFill>
          <a:ln w="10160">
            <a:solidFill>
              <a:srgbClr val="DCE4EE"/>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488" name="TextBox 20"/>
          <p:cNvSpPr txBox="1"/>
          <p:nvPr/>
        </p:nvSpPr>
        <p:spPr>
          <a:xfrm>
            <a:off x="850391" y="2924047"/>
            <a:ext cx="235915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1200">
                <a:solidFill>
                  <a:srgbClr val="147A49"/>
                </a:solidFill>
              </a:defRPr>
            </a:lvl1pPr>
          </a:lstStyle>
          <a:p>
            <a:pPr/>
            <a:r>
              <a:t>Baseline / full model</a:t>
            </a:r>
          </a:p>
        </p:txBody>
      </p:sp>
      <p:sp>
        <p:nvSpPr>
          <p:cNvPr id="489" name="Rounded Rectangle 21"/>
          <p:cNvSpPr/>
          <p:nvPr/>
        </p:nvSpPr>
        <p:spPr>
          <a:xfrm>
            <a:off x="3401567" y="2958083"/>
            <a:ext cx="2084833" cy="118873"/>
          </a:xfrm>
          <a:prstGeom prst="roundRect">
            <a:avLst>
              <a:gd name="adj" fmla="val 16667"/>
            </a:avLst>
          </a:prstGeom>
          <a:solidFill>
            <a:srgbClr val="E7EDF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490" name="Rounded Rectangle 22"/>
          <p:cNvSpPr/>
          <p:nvPr/>
        </p:nvSpPr>
        <p:spPr>
          <a:xfrm>
            <a:off x="3401567" y="2958083"/>
            <a:ext cx="1806924" cy="118873"/>
          </a:xfrm>
          <a:prstGeom prst="roundRect">
            <a:avLst>
              <a:gd name="adj" fmla="val 16667"/>
            </a:avLst>
          </a:prstGeom>
          <a:solidFill>
            <a:srgbClr val="18A15E"/>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491" name="TextBox 23"/>
          <p:cNvSpPr txBox="1"/>
          <p:nvPr/>
        </p:nvSpPr>
        <p:spPr>
          <a:xfrm>
            <a:off x="5614415" y="2924048"/>
            <a:ext cx="8046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defTabSz="457200">
              <a:defRPr sz="1200">
                <a:solidFill>
                  <a:srgbClr val="147A49"/>
                </a:solidFill>
              </a:defRPr>
            </a:lvl1pPr>
          </a:lstStyle>
          <a:p>
            <a:pPr/>
            <a:r>
              <a:t>86.67%</a:t>
            </a:r>
          </a:p>
        </p:txBody>
      </p:sp>
      <p:sp>
        <p:nvSpPr>
          <p:cNvPr id="492" name="TextBox 24"/>
          <p:cNvSpPr txBox="1"/>
          <p:nvPr/>
        </p:nvSpPr>
        <p:spPr>
          <a:xfrm>
            <a:off x="6620256" y="2930398"/>
            <a:ext cx="16002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b="0" sz="1100">
                <a:solidFill>
                  <a:srgbClr val="63738B"/>
                </a:solidFill>
              </a:defRPr>
            </a:lvl1pPr>
          </a:lstStyle>
          <a:p>
            <a:pPr/>
            <a:r>
              <a:t>—</a:t>
            </a:r>
          </a:p>
        </p:txBody>
      </p:sp>
      <p:sp>
        <p:nvSpPr>
          <p:cNvPr id="493" name="TextBox 25"/>
          <p:cNvSpPr txBox="1"/>
          <p:nvPr/>
        </p:nvSpPr>
        <p:spPr>
          <a:xfrm>
            <a:off x="8778240" y="2930398"/>
            <a:ext cx="16002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b="0" sz="1100">
                <a:solidFill>
                  <a:srgbClr val="63738B"/>
                </a:solidFill>
              </a:defRPr>
            </a:lvl1pPr>
          </a:lstStyle>
          <a:p>
            <a:pPr/>
            <a:r>
              <a:t>—</a:t>
            </a:r>
          </a:p>
        </p:txBody>
      </p:sp>
      <p:sp>
        <p:nvSpPr>
          <p:cNvPr id="494" name="Rounded Rectangle 26"/>
          <p:cNvSpPr/>
          <p:nvPr/>
        </p:nvSpPr>
        <p:spPr>
          <a:xfrm>
            <a:off x="658368" y="3323844"/>
            <a:ext cx="10863072" cy="539497"/>
          </a:xfrm>
          <a:prstGeom prst="roundRect">
            <a:avLst>
              <a:gd name="adj" fmla="val 16667"/>
            </a:avLst>
          </a:prstGeom>
          <a:solidFill>
            <a:srgbClr val="F8FAFC"/>
          </a:solidFill>
          <a:ln w="10160">
            <a:solidFill>
              <a:srgbClr val="DCE4EE"/>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495" name="TextBox 27"/>
          <p:cNvSpPr txBox="1"/>
          <p:nvPr/>
        </p:nvSpPr>
        <p:spPr>
          <a:xfrm>
            <a:off x="850391" y="3504690"/>
            <a:ext cx="235915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b="0" sz="1200">
                <a:solidFill>
                  <a:srgbClr val="1C2939"/>
                </a:solidFill>
              </a:defRPr>
            </a:lvl1pPr>
          </a:lstStyle>
          <a:p>
            <a:pPr/>
            <a:r>
              <a:t>Sinc ablated</a:t>
            </a:r>
          </a:p>
        </p:txBody>
      </p:sp>
      <p:sp>
        <p:nvSpPr>
          <p:cNvPr id="496" name="Rounded Rectangle 28"/>
          <p:cNvSpPr/>
          <p:nvPr/>
        </p:nvSpPr>
        <p:spPr>
          <a:xfrm>
            <a:off x="3401567" y="3538727"/>
            <a:ext cx="2084833" cy="118873"/>
          </a:xfrm>
          <a:prstGeom prst="roundRect">
            <a:avLst>
              <a:gd name="adj" fmla="val 16667"/>
            </a:avLst>
          </a:prstGeom>
          <a:solidFill>
            <a:srgbClr val="E7EDF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497" name="Rounded Rectangle 29"/>
          <p:cNvSpPr/>
          <p:nvPr/>
        </p:nvSpPr>
        <p:spPr>
          <a:xfrm>
            <a:off x="3401567" y="3538727"/>
            <a:ext cx="1065558" cy="118873"/>
          </a:xfrm>
          <a:prstGeom prst="roundRect">
            <a:avLst>
              <a:gd name="adj" fmla="val 16667"/>
            </a:avLst>
          </a:prstGeom>
          <a:solidFill>
            <a:srgbClr val="2D67D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498" name="TextBox 30"/>
          <p:cNvSpPr txBox="1"/>
          <p:nvPr/>
        </p:nvSpPr>
        <p:spPr>
          <a:xfrm>
            <a:off x="5614415" y="3504692"/>
            <a:ext cx="8046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defTabSz="457200">
              <a:defRPr sz="1200">
                <a:solidFill>
                  <a:srgbClr val="1C2939"/>
                </a:solidFill>
              </a:defRPr>
            </a:lvl1pPr>
          </a:lstStyle>
          <a:p>
            <a:pPr/>
            <a:r>
              <a:t>51.11%</a:t>
            </a:r>
          </a:p>
        </p:txBody>
      </p:sp>
      <p:sp>
        <p:nvSpPr>
          <p:cNvPr id="499" name="TextBox 31"/>
          <p:cNvSpPr txBox="1"/>
          <p:nvPr/>
        </p:nvSpPr>
        <p:spPr>
          <a:xfrm>
            <a:off x="6620256" y="3511042"/>
            <a:ext cx="16002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1100">
                <a:solidFill>
                  <a:srgbClr val="D55B6B"/>
                </a:solidFill>
              </a:defRPr>
            </a:lvl1pPr>
          </a:lstStyle>
          <a:p>
            <a:pPr/>
            <a:r>
              <a:t>35.56 pp</a:t>
            </a:r>
          </a:p>
        </p:txBody>
      </p:sp>
      <p:sp>
        <p:nvSpPr>
          <p:cNvPr id="500" name="TextBox 32"/>
          <p:cNvSpPr txBox="1"/>
          <p:nvPr/>
        </p:nvSpPr>
        <p:spPr>
          <a:xfrm>
            <a:off x="8778240" y="3511042"/>
            <a:ext cx="16002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1100">
                <a:solidFill>
                  <a:srgbClr val="D55B6B"/>
                </a:solidFill>
              </a:defRPr>
            </a:lvl1pPr>
          </a:lstStyle>
          <a:p>
            <a:pPr/>
            <a:r>
              <a:t>41.03%</a:t>
            </a:r>
          </a:p>
        </p:txBody>
      </p:sp>
      <p:sp>
        <p:nvSpPr>
          <p:cNvPr id="501" name="Rounded Rectangle 33"/>
          <p:cNvSpPr/>
          <p:nvPr/>
        </p:nvSpPr>
        <p:spPr>
          <a:xfrm>
            <a:off x="658368" y="3904486"/>
            <a:ext cx="10863072" cy="539497"/>
          </a:xfrm>
          <a:prstGeom prst="roundRect">
            <a:avLst>
              <a:gd name="adj" fmla="val 16667"/>
            </a:avLst>
          </a:prstGeom>
          <a:solidFill>
            <a:srgbClr val="F3EEFF"/>
          </a:solidFill>
          <a:ln w="10160">
            <a:solidFill>
              <a:srgbClr val="DCE4EE"/>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502" name="TextBox 34"/>
          <p:cNvSpPr txBox="1"/>
          <p:nvPr/>
        </p:nvSpPr>
        <p:spPr>
          <a:xfrm>
            <a:off x="850391" y="4085335"/>
            <a:ext cx="235915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1200">
                <a:solidFill>
                  <a:srgbClr val="7B39ED"/>
                </a:solidFill>
              </a:defRPr>
            </a:lvl1pPr>
          </a:lstStyle>
          <a:p>
            <a:pPr/>
            <a:r>
              <a:t>Dynamic GNN ablated</a:t>
            </a:r>
          </a:p>
        </p:txBody>
      </p:sp>
      <p:sp>
        <p:nvSpPr>
          <p:cNvPr id="503" name="Rounded Rectangle 35"/>
          <p:cNvSpPr/>
          <p:nvPr/>
        </p:nvSpPr>
        <p:spPr>
          <a:xfrm>
            <a:off x="3401567" y="4119371"/>
            <a:ext cx="2084833" cy="118873"/>
          </a:xfrm>
          <a:prstGeom prst="roundRect">
            <a:avLst>
              <a:gd name="adj" fmla="val 16667"/>
            </a:avLst>
          </a:prstGeom>
          <a:solidFill>
            <a:srgbClr val="E7EDF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504" name="Rounded Rectangle 36"/>
          <p:cNvSpPr/>
          <p:nvPr/>
        </p:nvSpPr>
        <p:spPr>
          <a:xfrm>
            <a:off x="3401567" y="4119371"/>
            <a:ext cx="1019275" cy="118873"/>
          </a:xfrm>
          <a:prstGeom prst="roundRect">
            <a:avLst>
              <a:gd name="adj" fmla="val 16667"/>
            </a:avLst>
          </a:prstGeom>
          <a:solidFill>
            <a:srgbClr val="7B39ED"/>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505" name="TextBox 37"/>
          <p:cNvSpPr txBox="1"/>
          <p:nvPr/>
        </p:nvSpPr>
        <p:spPr>
          <a:xfrm>
            <a:off x="5614415" y="4085335"/>
            <a:ext cx="8046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defTabSz="457200">
              <a:defRPr sz="1200">
                <a:solidFill>
                  <a:srgbClr val="7B39ED"/>
                </a:solidFill>
              </a:defRPr>
            </a:lvl1pPr>
          </a:lstStyle>
          <a:p>
            <a:pPr/>
            <a:r>
              <a:t>48.89%</a:t>
            </a:r>
          </a:p>
        </p:txBody>
      </p:sp>
      <p:sp>
        <p:nvSpPr>
          <p:cNvPr id="506" name="TextBox 38"/>
          <p:cNvSpPr txBox="1"/>
          <p:nvPr/>
        </p:nvSpPr>
        <p:spPr>
          <a:xfrm>
            <a:off x="6620256" y="4091685"/>
            <a:ext cx="16002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1100">
                <a:solidFill>
                  <a:srgbClr val="D55B6B"/>
                </a:solidFill>
              </a:defRPr>
            </a:lvl1pPr>
          </a:lstStyle>
          <a:p>
            <a:pPr/>
            <a:r>
              <a:t>37.78 pp</a:t>
            </a:r>
          </a:p>
        </p:txBody>
      </p:sp>
      <p:sp>
        <p:nvSpPr>
          <p:cNvPr id="507" name="TextBox 39"/>
          <p:cNvSpPr txBox="1"/>
          <p:nvPr/>
        </p:nvSpPr>
        <p:spPr>
          <a:xfrm>
            <a:off x="8778240" y="4091685"/>
            <a:ext cx="16002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1100">
                <a:solidFill>
                  <a:srgbClr val="D55B6B"/>
                </a:solidFill>
              </a:defRPr>
            </a:lvl1pPr>
          </a:lstStyle>
          <a:p>
            <a:pPr/>
            <a:r>
              <a:t>43.59%</a:t>
            </a:r>
          </a:p>
        </p:txBody>
      </p:sp>
      <p:sp>
        <p:nvSpPr>
          <p:cNvPr id="508" name="Rounded Rectangle 40"/>
          <p:cNvSpPr/>
          <p:nvPr/>
        </p:nvSpPr>
        <p:spPr>
          <a:xfrm>
            <a:off x="658368" y="4485130"/>
            <a:ext cx="10863072" cy="539497"/>
          </a:xfrm>
          <a:prstGeom prst="roundRect">
            <a:avLst>
              <a:gd name="adj" fmla="val 16667"/>
            </a:avLst>
          </a:prstGeom>
          <a:solidFill>
            <a:srgbClr val="F8FAFC"/>
          </a:solidFill>
          <a:ln w="10160">
            <a:solidFill>
              <a:srgbClr val="DCE4EE"/>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509" name="TextBox 41"/>
          <p:cNvSpPr txBox="1"/>
          <p:nvPr/>
        </p:nvSpPr>
        <p:spPr>
          <a:xfrm>
            <a:off x="850391" y="4665979"/>
            <a:ext cx="235915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b="0" sz="1200">
                <a:solidFill>
                  <a:srgbClr val="1C2939"/>
                </a:solidFill>
              </a:defRPr>
            </a:lvl1pPr>
          </a:lstStyle>
          <a:p>
            <a:pPr/>
            <a:r>
              <a:t>BiGRU ablated</a:t>
            </a:r>
          </a:p>
        </p:txBody>
      </p:sp>
      <p:sp>
        <p:nvSpPr>
          <p:cNvPr id="510" name="Rounded Rectangle 42"/>
          <p:cNvSpPr/>
          <p:nvPr/>
        </p:nvSpPr>
        <p:spPr>
          <a:xfrm>
            <a:off x="3401567" y="4700015"/>
            <a:ext cx="2084833" cy="118873"/>
          </a:xfrm>
          <a:prstGeom prst="roundRect">
            <a:avLst>
              <a:gd name="adj" fmla="val 16667"/>
            </a:avLst>
          </a:prstGeom>
          <a:solidFill>
            <a:srgbClr val="E7EDF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511" name="Rounded Rectangle 43"/>
          <p:cNvSpPr/>
          <p:nvPr/>
        </p:nvSpPr>
        <p:spPr>
          <a:xfrm>
            <a:off x="3401567" y="4700015"/>
            <a:ext cx="1065558" cy="118873"/>
          </a:xfrm>
          <a:prstGeom prst="roundRect">
            <a:avLst>
              <a:gd name="adj" fmla="val 16667"/>
            </a:avLst>
          </a:prstGeom>
          <a:solidFill>
            <a:srgbClr val="2D67D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512" name="TextBox 44"/>
          <p:cNvSpPr txBox="1"/>
          <p:nvPr/>
        </p:nvSpPr>
        <p:spPr>
          <a:xfrm>
            <a:off x="5614415" y="4665979"/>
            <a:ext cx="8046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defTabSz="457200">
              <a:defRPr sz="1200">
                <a:solidFill>
                  <a:srgbClr val="1C2939"/>
                </a:solidFill>
              </a:defRPr>
            </a:lvl1pPr>
          </a:lstStyle>
          <a:p>
            <a:pPr/>
            <a:r>
              <a:t>51.11%</a:t>
            </a:r>
          </a:p>
        </p:txBody>
      </p:sp>
      <p:sp>
        <p:nvSpPr>
          <p:cNvPr id="513" name="TextBox 45"/>
          <p:cNvSpPr txBox="1"/>
          <p:nvPr/>
        </p:nvSpPr>
        <p:spPr>
          <a:xfrm>
            <a:off x="6620256" y="4672329"/>
            <a:ext cx="16002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1100">
                <a:solidFill>
                  <a:srgbClr val="D55B6B"/>
                </a:solidFill>
              </a:defRPr>
            </a:lvl1pPr>
          </a:lstStyle>
          <a:p>
            <a:pPr/>
            <a:r>
              <a:t>35.56 pp</a:t>
            </a:r>
          </a:p>
        </p:txBody>
      </p:sp>
      <p:sp>
        <p:nvSpPr>
          <p:cNvPr id="514" name="TextBox 46"/>
          <p:cNvSpPr txBox="1"/>
          <p:nvPr/>
        </p:nvSpPr>
        <p:spPr>
          <a:xfrm>
            <a:off x="8778240" y="4672329"/>
            <a:ext cx="16002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1100">
                <a:solidFill>
                  <a:srgbClr val="D55B6B"/>
                </a:solidFill>
              </a:defRPr>
            </a:lvl1pPr>
          </a:lstStyle>
          <a:p>
            <a:pPr/>
            <a:r>
              <a:t>41.03%</a:t>
            </a:r>
          </a:p>
        </p:txBody>
      </p:sp>
      <p:sp>
        <p:nvSpPr>
          <p:cNvPr id="515" name="Rounded Rectangle 47"/>
          <p:cNvSpPr/>
          <p:nvPr/>
        </p:nvSpPr>
        <p:spPr>
          <a:xfrm>
            <a:off x="658368" y="5065774"/>
            <a:ext cx="10863072" cy="539497"/>
          </a:xfrm>
          <a:prstGeom prst="roundRect">
            <a:avLst>
              <a:gd name="adj" fmla="val 16667"/>
            </a:avLst>
          </a:prstGeom>
          <a:solidFill>
            <a:srgbClr val="F8FAFC"/>
          </a:solidFill>
          <a:ln w="10160">
            <a:solidFill>
              <a:srgbClr val="DCE4EE"/>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516" name="TextBox 48"/>
          <p:cNvSpPr txBox="1"/>
          <p:nvPr/>
        </p:nvSpPr>
        <p:spPr>
          <a:xfrm>
            <a:off x="850391" y="5246622"/>
            <a:ext cx="235915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b="0" sz="1200">
                <a:solidFill>
                  <a:srgbClr val="1C2939"/>
                </a:solidFill>
              </a:defRPr>
            </a:lvl1pPr>
          </a:lstStyle>
          <a:p>
            <a:pPr/>
            <a:r>
              <a:t>SE attention ablated</a:t>
            </a:r>
          </a:p>
        </p:txBody>
      </p:sp>
      <p:sp>
        <p:nvSpPr>
          <p:cNvPr id="517" name="Rounded Rectangle 49"/>
          <p:cNvSpPr/>
          <p:nvPr/>
        </p:nvSpPr>
        <p:spPr>
          <a:xfrm>
            <a:off x="3401567" y="5280659"/>
            <a:ext cx="2084833" cy="118873"/>
          </a:xfrm>
          <a:prstGeom prst="roundRect">
            <a:avLst>
              <a:gd name="adj" fmla="val 16667"/>
            </a:avLst>
          </a:prstGeom>
          <a:solidFill>
            <a:srgbClr val="E7EDF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518" name="Rounded Rectangle 50"/>
          <p:cNvSpPr/>
          <p:nvPr/>
        </p:nvSpPr>
        <p:spPr>
          <a:xfrm>
            <a:off x="3401567" y="5280659"/>
            <a:ext cx="1065558" cy="118873"/>
          </a:xfrm>
          <a:prstGeom prst="roundRect">
            <a:avLst>
              <a:gd name="adj" fmla="val 16667"/>
            </a:avLst>
          </a:prstGeom>
          <a:solidFill>
            <a:srgbClr val="2D67D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519" name="TextBox 51"/>
          <p:cNvSpPr txBox="1"/>
          <p:nvPr/>
        </p:nvSpPr>
        <p:spPr>
          <a:xfrm>
            <a:off x="5614415" y="5246623"/>
            <a:ext cx="8046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defTabSz="457200">
              <a:defRPr sz="1200">
                <a:solidFill>
                  <a:srgbClr val="1C2939"/>
                </a:solidFill>
              </a:defRPr>
            </a:lvl1pPr>
          </a:lstStyle>
          <a:p>
            <a:pPr/>
            <a:r>
              <a:t>51.11%</a:t>
            </a:r>
          </a:p>
        </p:txBody>
      </p:sp>
      <p:sp>
        <p:nvSpPr>
          <p:cNvPr id="520" name="TextBox 52"/>
          <p:cNvSpPr txBox="1"/>
          <p:nvPr/>
        </p:nvSpPr>
        <p:spPr>
          <a:xfrm>
            <a:off x="6620256" y="5252973"/>
            <a:ext cx="16002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1100">
                <a:solidFill>
                  <a:srgbClr val="D55B6B"/>
                </a:solidFill>
              </a:defRPr>
            </a:lvl1pPr>
          </a:lstStyle>
          <a:p>
            <a:pPr/>
            <a:r>
              <a:t>35.56 pp</a:t>
            </a:r>
          </a:p>
        </p:txBody>
      </p:sp>
      <p:sp>
        <p:nvSpPr>
          <p:cNvPr id="521" name="TextBox 53"/>
          <p:cNvSpPr txBox="1"/>
          <p:nvPr/>
        </p:nvSpPr>
        <p:spPr>
          <a:xfrm>
            <a:off x="8778240" y="5252973"/>
            <a:ext cx="16002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1100">
                <a:solidFill>
                  <a:srgbClr val="D55B6B"/>
                </a:solidFill>
              </a:defRPr>
            </a:lvl1pPr>
          </a:lstStyle>
          <a:p>
            <a:pPr/>
            <a:r>
              <a:t>41.03%</a:t>
            </a:r>
          </a:p>
        </p:txBody>
      </p:sp>
      <p:sp>
        <p:nvSpPr>
          <p:cNvPr id="522" name="Rounded Rectangle 54"/>
          <p:cNvSpPr/>
          <p:nvPr/>
        </p:nvSpPr>
        <p:spPr>
          <a:xfrm>
            <a:off x="658368" y="5696711"/>
            <a:ext cx="10863072" cy="393193"/>
          </a:xfrm>
          <a:prstGeom prst="roundRect">
            <a:avLst>
              <a:gd name="adj" fmla="val 16667"/>
            </a:avLst>
          </a:prstGeom>
          <a:solidFill>
            <a:srgbClr val="F2F6F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b="0" sz="1800">
                <a:solidFill>
                  <a:srgbClr val="FFFFFF"/>
                </a:solidFill>
                <a:latin typeface="Calibri"/>
                <a:ea typeface="Calibri"/>
                <a:cs typeface="Calibri"/>
                <a:sym typeface="Calibri"/>
              </a:defRPr>
            </a:pPr>
          </a:p>
        </p:txBody>
      </p:sp>
      <p:sp>
        <p:nvSpPr>
          <p:cNvPr id="523" name="TextBox 55"/>
          <p:cNvSpPr txBox="1"/>
          <p:nvPr/>
        </p:nvSpPr>
        <p:spPr>
          <a:xfrm>
            <a:off x="832103" y="5796026"/>
            <a:ext cx="987553"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900">
                <a:solidFill>
                  <a:srgbClr val="13596A"/>
                </a:solidFill>
              </a:defRPr>
            </a:lvl1pPr>
          </a:lstStyle>
          <a:p>
            <a:pPr/>
            <a:r>
              <a:t>TAKEAWAY</a:t>
            </a:r>
          </a:p>
        </p:txBody>
      </p:sp>
      <p:sp>
        <p:nvSpPr>
          <p:cNvPr id="524" name="TextBox 56"/>
          <p:cNvSpPr txBox="1"/>
          <p:nvPr/>
        </p:nvSpPr>
        <p:spPr>
          <a:xfrm>
            <a:off x="1847087" y="5778753"/>
            <a:ext cx="930859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defTabSz="457200">
              <a:defRPr sz="1100">
                <a:solidFill>
                  <a:srgbClr val="0E1629"/>
                </a:solidFill>
              </a:defRPr>
            </a:lvl1pPr>
          </a:lstStyle>
          <a:p>
            <a:pPr/>
            <a:r>
              <a:t>Dynamic GNN removal produces the lowest accuracy and the largest drop from the full model.</a:t>
            </a:r>
          </a:p>
        </p:txBody>
      </p:sp>
      <p:sp>
        <p:nvSpPr>
          <p:cNvPr id="525" name="TextBox 57"/>
          <p:cNvSpPr txBox="1"/>
          <p:nvPr/>
        </p:nvSpPr>
        <p:spPr>
          <a:xfrm>
            <a:off x="685799" y="6245352"/>
            <a:ext cx="1083564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457200">
              <a:defRPr b="0" sz="800">
                <a:solidFill>
                  <a:srgbClr val="63738B"/>
                </a:solidFill>
              </a:defRPr>
            </a:lvl1pPr>
          </a:lstStyle>
          <a:p>
            <a:pPr/>
            <a:r>
              <a:t>Protocol note: the main Results slide reports 80.44 ± 8.18% across 10 targets / 450 trials. State the exact ablation split and compare only under a matched evaluation protocol.</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7" name="Text 0"/>
          <p:cNvSpPr txBox="1"/>
          <p:nvPr/>
        </p:nvSpPr>
        <p:spPr>
          <a:xfrm>
            <a:off x="548639" y="355345"/>
            <a:ext cx="11064242"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7233B"/>
                </a:solidFill>
                <a:latin typeface="Aptos Display"/>
                <a:ea typeface="Aptos Display"/>
                <a:cs typeface="Aptos Display"/>
                <a:sym typeface="Aptos Display"/>
              </a:defRPr>
            </a:lvl1pPr>
          </a:lstStyle>
          <a:p>
            <a:pPr/>
            <a:r>
              <a:t>Discussion, Limitations &amp; Next Experiments</a:t>
            </a:r>
          </a:p>
        </p:txBody>
      </p:sp>
      <p:sp>
        <p:nvSpPr>
          <p:cNvPr id="528" name="Text 1"/>
          <p:cNvSpPr txBox="1"/>
          <p:nvPr/>
        </p:nvSpPr>
        <p:spPr>
          <a:xfrm>
            <a:off x="566927" y="847344"/>
            <a:ext cx="1078992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2748A"/>
                </a:solidFill>
              </a:defRPr>
            </a:lvl1pPr>
          </a:lstStyle>
          <a:p>
            <a:pPr/>
            <a:r>
              <a:t>What the current evaluation demonstrates—and what remains to be established.</a:t>
            </a:r>
          </a:p>
        </p:txBody>
      </p:sp>
      <p:sp>
        <p:nvSpPr>
          <p:cNvPr id="529" name="Text 2"/>
          <p:cNvSpPr txBox="1"/>
          <p:nvPr/>
        </p:nvSpPr>
        <p:spPr>
          <a:xfrm>
            <a:off x="640079" y="1118869"/>
            <a:ext cx="292608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19A15F"/>
                </a:solidFill>
              </a:defRPr>
            </a:lvl1pPr>
          </a:lstStyle>
          <a:p>
            <a:pPr/>
            <a:r>
              <a:t>WHAT IS DEMONSTRATED</a:t>
            </a:r>
          </a:p>
        </p:txBody>
      </p:sp>
      <p:sp>
        <p:nvSpPr>
          <p:cNvPr id="530" name="Shape 3"/>
          <p:cNvSpPr/>
          <p:nvPr/>
        </p:nvSpPr>
        <p:spPr>
          <a:xfrm>
            <a:off x="594359" y="1371600"/>
            <a:ext cx="3429001" cy="1325881"/>
          </a:xfrm>
          <a:prstGeom prst="roundRect">
            <a:avLst>
              <a:gd name="adj" fmla="val 4138"/>
            </a:avLst>
          </a:prstGeom>
          <a:solidFill>
            <a:srgbClr val="EAF8F0"/>
          </a:solidFill>
          <a:ln w="15240">
            <a:solidFill>
              <a:srgbClr val="19A15F"/>
            </a:solidFill>
          </a:ln>
        </p:spPr>
        <p:txBody>
          <a:bodyPr lIns="45719" rIns="45719"/>
          <a:lstStyle/>
          <a:p>
            <a:pPr>
              <a:defRPr b="0" sz="1800">
                <a:solidFill>
                  <a:srgbClr val="000000"/>
                </a:solidFill>
              </a:defRPr>
            </a:pPr>
          </a:p>
        </p:txBody>
      </p:sp>
      <p:sp>
        <p:nvSpPr>
          <p:cNvPr id="531" name="Text 4"/>
          <p:cNvSpPr txBox="1"/>
          <p:nvPr/>
        </p:nvSpPr>
        <p:spPr>
          <a:xfrm>
            <a:off x="758951" y="1508760"/>
            <a:ext cx="3099818"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500">
                <a:solidFill>
                  <a:srgbClr val="19A15F"/>
                </a:solidFill>
                <a:latin typeface="Aptos Display"/>
                <a:ea typeface="Aptos Display"/>
                <a:cs typeface="Aptos Display"/>
                <a:sym typeface="Aptos Display"/>
              </a:defRPr>
            </a:lvl1pPr>
          </a:lstStyle>
          <a:p>
            <a:pPr/>
            <a:r>
              <a:t>Integrated modeling</a:t>
            </a:r>
          </a:p>
        </p:txBody>
      </p:sp>
      <p:sp>
        <p:nvSpPr>
          <p:cNvPr id="532" name="Text 5"/>
          <p:cNvSpPr txBox="1"/>
          <p:nvPr/>
        </p:nvSpPr>
        <p:spPr>
          <a:xfrm>
            <a:off x="758951" y="1938527"/>
            <a:ext cx="3099818" cy="6126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000">
                <a:solidFill>
                  <a:srgbClr val="1D2A3A"/>
                </a:solidFill>
              </a:defRPr>
            </a:lvl1pPr>
          </a:lstStyle>
          <a:p>
            <a:pPr/>
            <a:r>
              <a:t>Frequency, spatial, temporal, attention, and domain adaptation are handled in one pipeline.</a:t>
            </a:r>
          </a:p>
        </p:txBody>
      </p:sp>
      <p:sp>
        <p:nvSpPr>
          <p:cNvPr id="533" name="Shape 6"/>
          <p:cNvSpPr/>
          <p:nvPr/>
        </p:nvSpPr>
        <p:spPr>
          <a:xfrm>
            <a:off x="4160520" y="1371600"/>
            <a:ext cx="3429001" cy="1325881"/>
          </a:xfrm>
          <a:prstGeom prst="roundRect">
            <a:avLst>
              <a:gd name="adj" fmla="val 4138"/>
            </a:avLst>
          </a:prstGeom>
          <a:solidFill>
            <a:srgbClr val="EAF1FF"/>
          </a:solidFill>
          <a:ln w="15240">
            <a:solidFill>
              <a:srgbClr val="2E68D8"/>
            </a:solidFill>
          </a:ln>
        </p:spPr>
        <p:txBody>
          <a:bodyPr lIns="45719" rIns="45719"/>
          <a:lstStyle/>
          <a:p>
            <a:pPr>
              <a:defRPr b="0" sz="1800">
                <a:solidFill>
                  <a:srgbClr val="000000"/>
                </a:solidFill>
              </a:defRPr>
            </a:pPr>
          </a:p>
        </p:txBody>
      </p:sp>
      <p:sp>
        <p:nvSpPr>
          <p:cNvPr id="534" name="Text 7"/>
          <p:cNvSpPr txBox="1"/>
          <p:nvPr/>
        </p:nvSpPr>
        <p:spPr>
          <a:xfrm>
            <a:off x="4325111" y="1508760"/>
            <a:ext cx="3099817"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500">
                <a:solidFill>
                  <a:srgbClr val="2E68D8"/>
                </a:solidFill>
                <a:latin typeface="Aptos Display"/>
                <a:ea typeface="Aptos Display"/>
                <a:cs typeface="Aptos Display"/>
                <a:sym typeface="Aptos Display"/>
              </a:defRPr>
            </a:lvl1pPr>
          </a:lstStyle>
          <a:p>
            <a:pPr/>
            <a:r>
              <a:t>Held-out performance</a:t>
            </a:r>
          </a:p>
        </p:txBody>
      </p:sp>
      <p:sp>
        <p:nvSpPr>
          <p:cNvPr id="535" name="Text 8"/>
          <p:cNvSpPr txBox="1"/>
          <p:nvPr/>
        </p:nvSpPr>
        <p:spPr>
          <a:xfrm>
            <a:off x="4325111" y="1938527"/>
            <a:ext cx="3099817" cy="6126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000">
                <a:solidFill>
                  <a:srgbClr val="1D2A3A"/>
                </a:solidFill>
              </a:defRPr>
            </a:lvl1pPr>
          </a:lstStyle>
          <a:p>
            <a:pPr/>
            <a:r>
              <a:t>80.44 ± 8.18% mean accuracy across 10 held-out targets and 450 trials.</a:t>
            </a:r>
          </a:p>
        </p:txBody>
      </p:sp>
      <p:sp>
        <p:nvSpPr>
          <p:cNvPr id="536" name="Shape 9"/>
          <p:cNvSpPr/>
          <p:nvPr/>
        </p:nvSpPr>
        <p:spPr>
          <a:xfrm>
            <a:off x="7726680" y="1371600"/>
            <a:ext cx="3429001" cy="1325881"/>
          </a:xfrm>
          <a:prstGeom prst="roundRect">
            <a:avLst>
              <a:gd name="adj" fmla="val 4138"/>
            </a:avLst>
          </a:prstGeom>
          <a:solidFill>
            <a:srgbClr val="EAF7FB"/>
          </a:solidFill>
          <a:ln w="15240">
            <a:solidFill>
              <a:srgbClr val="1194D7"/>
            </a:solidFill>
          </a:ln>
        </p:spPr>
        <p:txBody>
          <a:bodyPr lIns="45719" rIns="45719"/>
          <a:lstStyle/>
          <a:p>
            <a:pPr>
              <a:defRPr b="0" sz="1800">
                <a:solidFill>
                  <a:srgbClr val="000000"/>
                </a:solidFill>
              </a:defRPr>
            </a:pPr>
          </a:p>
        </p:txBody>
      </p:sp>
      <p:sp>
        <p:nvSpPr>
          <p:cNvPr id="537" name="Text 10"/>
          <p:cNvSpPr txBox="1"/>
          <p:nvPr/>
        </p:nvSpPr>
        <p:spPr>
          <a:xfrm>
            <a:off x="7891271" y="1508760"/>
            <a:ext cx="3099817"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500">
                <a:solidFill>
                  <a:srgbClr val="1194D7"/>
                </a:solidFill>
                <a:latin typeface="Aptos Display"/>
                <a:ea typeface="Aptos Display"/>
                <a:cs typeface="Aptos Display"/>
                <a:sym typeface="Aptos Display"/>
              </a:defRPr>
            </a:lvl1pPr>
          </a:lstStyle>
          <a:p>
            <a:pPr/>
            <a:r>
              <a:t>Target adaptation</a:t>
            </a:r>
          </a:p>
        </p:txBody>
      </p:sp>
      <p:sp>
        <p:nvSpPr>
          <p:cNvPr id="538" name="Text 11"/>
          <p:cNvSpPr txBox="1"/>
          <p:nvPr/>
        </p:nvSpPr>
        <p:spPr>
          <a:xfrm>
            <a:off x="7891271" y="1938527"/>
            <a:ext cx="3099817" cy="6126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000">
                <a:solidFill>
                  <a:srgbClr val="1D2A3A"/>
                </a:solidFill>
              </a:defRPr>
            </a:lvl1pPr>
          </a:lstStyle>
          <a:p>
            <a:pPr/>
            <a:r>
              <a:t>AdaBN reduces normalization mismatch using unlabeled target EEG.</a:t>
            </a:r>
          </a:p>
        </p:txBody>
      </p:sp>
      <p:sp>
        <p:nvSpPr>
          <p:cNvPr id="539" name="Text 12"/>
          <p:cNvSpPr txBox="1"/>
          <p:nvPr/>
        </p:nvSpPr>
        <p:spPr>
          <a:xfrm>
            <a:off x="640079" y="3039110"/>
            <a:ext cx="292608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D55C6C"/>
                </a:solidFill>
              </a:defRPr>
            </a:lvl1pPr>
          </a:lstStyle>
          <a:p>
            <a:pPr/>
            <a:r>
              <a:t>LIMITATIONS / CAUTION</a:t>
            </a:r>
          </a:p>
        </p:txBody>
      </p:sp>
      <p:sp>
        <p:nvSpPr>
          <p:cNvPr id="540" name="Shape 13"/>
          <p:cNvSpPr/>
          <p:nvPr/>
        </p:nvSpPr>
        <p:spPr>
          <a:xfrm>
            <a:off x="594359" y="3310128"/>
            <a:ext cx="5074922" cy="1078993"/>
          </a:xfrm>
          <a:prstGeom prst="roundRect">
            <a:avLst>
              <a:gd name="adj" fmla="val 5085"/>
            </a:avLst>
          </a:prstGeom>
          <a:solidFill>
            <a:srgbClr val="FCECEF"/>
          </a:solidFill>
          <a:ln w="15240">
            <a:solidFill>
              <a:srgbClr val="D55C6C"/>
            </a:solidFill>
          </a:ln>
        </p:spPr>
        <p:txBody>
          <a:bodyPr lIns="45719" rIns="45719"/>
          <a:lstStyle/>
          <a:p>
            <a:pPr>
              <a:defRPr b="0" sz="1800">
                <a:solidFill>
                  <a:srgbClr val="000000"/>
                </a:solidFill>
              </a:defRPr>
            </a:pPr>
          </a:p>
        </p:txBody>
      </p:sp>
      <p:sp>
        <p:nvSpPr>
          <p:cNvPr id="541" name="Text 14"/>
          <p:cNvSpPr txBox="1"/>
          <p:nvPr/>
        </p:nvSpPr>
        <p:spPr>
          <a:xfrm>
            <a:off x="758952" y="3447288"/>
            <a:ext cx="4745736"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400">
                <a:solidFill>
                  <a:srgbClr val="D55C6C"/>
                </a:solidFill>
                <a:latin typeface="Aptos Display"/>
                <a:ea typeface="Aptos Display"/>
                <a:cs typeface="Aptos Display"/>
                <a:sym typeface="Aptos Display"/>
              </a:defRPr>
            </a:lvl1pPr>
          </a:lstStyle>
          <a:p>
            <a:pPr/>
            <a:r>
              <a:t>Adaptation wording</a:t>
            </a:r>
          </a:p>
        </p:txBody>
      </p:sp>
      <p:sp>
        <p:nvSpPr>
          <p:cNvPr id="542" name="Text 15"/>
          <p:cNvSpPr txBox="1"/>
          <p:nvPr/>
        </p:nvSpPr>
        <p:spPr>
          <a:xfrm>
            <a:off x="758952" y="3877055"/>
            <a:ext cx="4745736"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000">
                <a:solidFill>
                  <a:srgbClr val="1D2A3A"/>
                </a:solidFill>
              </a:defRPr>
            </a:lvl1pPr>
          </a:lstStyle>
          <a:p>
            <a:pPr/>
            <a:r>
              <a:t>Because unlabeled target EEG is used for AdaBN, the final procedure is unsupervised test-time adaptation—not strict zero-calibration.</a:t>
            </a:r>
          </a:p>
        </p:txBody>
      </p:sp>
      <p:sp>
        <p:nvSpPr>
          <p:cNvPr id="543" name="Shape 16"/>
          <p:cNvSpPr/>
          <p:nvPr/>
        </p:nvSpPr>
        <p:spPr>
          <a:xfrm>
            <a:off x="5897879" y="3310128"/>
            <a:ext cx="5257801" cy="1078993"/>
          </a:xfrm>
          <a:prstGeom prst="roundRect">
            <a:avLst>
              <a:gd name="adj" fmla="val 5085"/>
            </a:avLst>
          </a:prstGeom>
          <a:solidFill>
            <a:srgbClr val="FFF3E6"/>
          </a:solidFill>
          <a:ln w="15240">
            <a:solidFill>
              <a:srgbClr val="D98214"/>
            </a:solidFill>
          </a:ln>
        </p:spPr>
        <p:txBody>
          <a:bodyPr lIns="45719" rIns="45719"/>
          <a:lstStyle/>
          <a:p>
            <a:pPr>
              <a:defRPr b="0" sz="1800">
                <a:solidFill>
                  <a:srgbClr val="000000"/>
                </a:solidFill>
              </a:defRPr>
            </a:pPr>
          </a:p>
        </p:txBody>
      </p:sp>
      <p:sp>
        <p:nvSpPr>
          <p:cNvPr id="544" name="Text 17"/>
          <p:cNvSpPr txBox="1"/>
          <p:nvPr/>
        </p:nvSpPr>
        <p:spPr>
          <a:xfrm>
            <a:off x="6062472" y="3447288"/>
            <a:ext cx="4928616"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400">
                <a:solidFill>
                  <a:srgbClr val="D98214"/>
                </a:solidFill>
                <a:latin typeface="Aptos Display"/>
                <a:ea typeface="Aptos Display"/>
                <a:cs typeface="Aptos Display"/>
                <a:sym typeface="Aptos Display"/>
              </a:defRPr>
            </a:lvl1pPr>
          </a:lstStyle>
          <a:p>
            <a:pPr/>
            <a:r>
              <a:t>Evidence scope</a:t>
            </a:r>
          </a:p>
        </p:txBody>
      </p:sp>
      <p:sp>
        <p:nvSpPr>
          <p:cNvPr id="545" name="Text 18"/>
          <p:cNvSpPr txBox="1"/>
          <p:nvPr/>
        </p:nvSpPr>
        <p:spPr>
          <a:xfrm>
            <a:off x="6062472" y="3877055"/>
            <a:ext cx="4928616"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000">
                <a:solidFill>
                  <a:srgbClr val="1D2A3A"/>
                </a:solidFill>
              </a:defRPr>
            </a:lvl1pPr>
          </a:lstStyle>
          <a:p>
            <a:pPr/>
            <a:r>
              <a:t>This reports the complete framework; controlled ablations and same-protocol baselines are still needed to isolate each component’s contribution.</a:t>
            </a:r>
          </a:p>
        </p:txBody>
      </p:sp>
      <p:sp>
        <p:nvSpPr>
          <p:cNvPr id="546" name="Text 19"/>
          <p:cNvSpPr txBox="1"/>
          <p:nvPr/>
        </p:nvSpPr>
        <p:spPr>
          <a:xfrm>
            <a:off x="640079" y="4840478"/>
            <a:ext cx="292608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145A6B"/>
                </a:solidFill>
              </a:defRPr>
            </a:lvl1pPr>
          </a:lstStyle>
          <a:p>
            <a:pPr/>
            <a:r>
              <a:t>NEXT EXPERIMENTS</a:t>
            </a:r>
          </a:p>
        </p:txBody>
      </p:sp>
      <p:sp>
        <p:nvSpPr>
          <p:cNvPr id="547" name="Shape 22"/>
          <p:cNvSpPr/>
          <p:nvPr/>
        </p:nvSpPr>
        <p:spPr>
          <a:xfrm>
            <a:off x="749808" y="5260340"/>
            <a:ext cx="146305" cy="146305"/>
          </a:xfrm>
          <a:prstGeom prst="ellipse">
            <a:avLst/>
          </a:prstGeom>
          <a:solidFill>
            <a:srgbClr val="145A6B"/>
          </a:solidFill>
          <a:ln w="12700">
            <a:solidFill>
              <a:srgbClr val="145A6B"/>
            </a:solidFill>
          </a:ln>
        </p:spPr>
        <p:txBody>
          <a:bodyPr lIns="45719" rIns="45719"/>
          <a:lstStyle/>
          <a:p>
            <a:pPr>
              <a:defRPr b="0" sz="1800">
                <a:solidFill>
                  <a:srgbClr val="000000"/>
                </a:solidFill>
              </a:defRPr>
            </a:pPr>
          </a:p>
        </p:txBody>
      </p:sp>
      <p:sp>
        <p:nvSpPr>
          <p:cNvPr id="548" name="Text 23"/>
          <p:cNvSpPr txBox="1"/>
          <p:nvPr/>
        </p:nvSpPr>
        <p:spPr>
          <a:xfrm>
            <a:off x="1005839" y="5232908"/>
            <a:ext cx="9875522" cy="2194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000">
                <a:solidFill>
                  <a:srgbClr val="1D2A3A"/>
                </a:solidFill>
              </a:defRPr>
            </a:lvl1pPr>
          </a:lstStyle>
          <a:p>
            <a:pPr/>
            <a:r>
              <a:t>All-subject evaluation and same-protocol baseline comparisons</a:t>
            </a:r>
          </a:p>
        </p:txBody>
      </p:sp>
      <p:sp>
        <p:nvSpPr>
          <p:cNvPr id="549" name="Shape 24"/>
          <p:cNvSpPr/>
          <p:nvPr/>
        </p:nvSpPr>
        <p:spPr>
          <a:xfrm>
            <a:off x="749808" y="5671820"/>
            <a:ext cx="146305" cy="146305"/>
          </a:xfrm>
          <a:prstGeom prst="ellipse">
            <a:avLst/>
          </a:prstGeom>
          <a:solidFill>
            <a:srgbClr val="145A6B"/>
          </a:solidFill>
          <a:ln w="12700">
            <a:solidFill>
              <a:srgbClr val="145A6B"/>
            </a:solidFill>
          </a:ln>
        </p:spPr>
        <p:txBody>
          <a:bodyPr lIns="45719" rIns="45719"/>
          <a:lstStyle/>
          <a:p>
            <a:pPr>
              <a:defRPr b="0" sz="1800">
                <a:solidFill>
                  <a:srgbClr val="000000"/>
                </a:solidFill>
              </a:defRPr>
            </a:pPr>
          </a:p>
        </p:txBody>
      </p:sp>
      <p:sp>
        <p:nvSpPr>
          <p:cNvPr id="550" name="Text 25"/>
          <p:cNvSpPr txBox="1"/>
          <p:nvPr/>
        </p:nvSpPr>
        <p:spPr>
          <a:xfrm>
            <a:off x="1005839" y="5644388"/>
            <a:ext cx="9875522" cy="2194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000">
                <a:solidFill>
                  <a:srgbClr val="1D2A3A"/>
                </a:solidFill>
              </a:defRPr>
            </a:lvl1pPr>
          </a:lstStyle>
          <a:p>
            <a:pPr/>
            <a:r>
              <a:t>Quantify the separate effect of AdaBN on target performance</a:t>
            </a:r>
          </a:p>
        </p:txBody>
      </p:sp>
      <p:sp>
        <p:nvSpPr>
          <p:cNvPr id="551" name="Slide Number Placeholder 0"/>
          <p:cNvSpPr txBox="1"/>
          <p:nvPr>
            <p:ph type="sldNum" sz="quarter" idx="4294967295"/>
          </p:nvPr>
        </p:nvSpPr>
        <p:spPr>
          <a:xfrm>
            <a:off x="11631168" y="6556247"/>
            <a:ext cx="217151" cy="218441"/>
          </a:xfrm>
          <a:prstGeom prst="rect">
            <a:avLst/>
          </a:prstGeom>
          <a:extLst>
            <a:ext uri="{C572A759-6A51-4108-AA02-DFA0A04FC94B}">
              <ma14:wrappingTextBoxFlag xmlns:ma14="http://schemas.microsoft.com/office/mac/drawingml/2011/main" val="1"/>
            </a:ext>
          </a:extLst>
        </p:spPr>
        <p:txBody>
          <a:bodyPr/>
          <a:lstStyle>
            <a:lvl1pPr>
              <a:defRPr>
                <a:solidFill>
                  <a:srgbClr val="6B7F90"/>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5" name="Text 0"/>
          <p:cNvSpPr txBox="1"/>
          <p:nvPr/>
        </p:nvSpPr>
        <p:spPr>
          <a:xfrm>
            <a:off x="548639" y="355345"/>
            <a:ext cx="11064242"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7233B"/>
                </a:solidFill>
                <a:latin typeface="Aptos Display"/>
                <a:ea typeface="Aptos Display"/>
                <a:cs typeface="Aptos Display"/>
                <a:sym typeface="Aptos Display"/>
              </a:defRPr>
            </a:lvl1pPr>
          </a:lstStyle>
          <a:p>
            <a:pPr/>
            <a:r>
              <a:t>Conclusion &amp; Future Work</a:t>
            </a:r>
          </a:p>
        </p:txBody>
      </p:sp>
      <p:sp>
        <p:nvSpPr>
          <p:cNvPr id="556" name="Text 1"/>
          <p:cNvSpPr txBox="1"/>
          <p:nvPr/>
        </p:nvSpPr>
        <p:spPr>
          <a:xfrm>
            <a:off x="566927" y="847344"/>
            <a:ext cx="1078992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2748A"/>
                </a:solidFill>
              </a:defRPr>
            </a:lvl1pPr>
          </a:lstStyle>
          <a:p>
            <a:pPr/>
            <a:r>
              <a:t>Final take-away for the project review.</a:t>
            </a:r>
          </a:p>
        </p:txBody>
      </p:sp>
      <p:sp>
        <p:nvSpPr>
          <p:cNvPr id="557" name="Shape 2"/>
          <p:cNvSpPr/>
          <p:nvPr/>
        </p:nvSpPr>
        <p:spPr>
          <a:xfrm>
            <a:off x="685800" y="1417319"/>
            <a:ext cx="3246121" cy="1920241"/>
          </a:xfrm>
          <a:prstGeom prst="roundRect">
            <a:avLst>
              <a:gd name="adj" fmla="val 2857"/>
            </a:avLst>
          </a:prstGeom>
          <a:solidFill>
            <a:srgbClr val="EEF5F7"/>
          </a:solidFill>
          <a:ln w="15240">
            <a:solidFill>
              <a:srgbClr val="145A6B"/>
            </a:solidFill>
          </a:ln>
        </p:spPr>
        <p:txBody>
          <a:bodyPr lIns="45719" rIns="45719"/>
          <a:lstStyle/>
          <a:p>
            <a:pPr>
              <a:defRPr b="0" sz="1800">
                <a:solidFill>
                  <a:srgbClr val="000000"/>
                </a:solidFill>
              </a:defRPr>
            </a:pPr>
          </a:p>
        </p:txBody>
      </p:sp>
      <p:sp>
        <p:nvSpPr>
          <p:cNvPr id="558" name="Text 3"/>
          <p:cNvSpPr txBox="1"/>
          <p:nvPr/>
        </p:nvSpPr>
        <p:spPr>
          <a:xfrm>
            <a:off x="850392" y="1554480"/>
            <a:ext cx="2916936"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600">
                <a:solidFill>
                  <a:srgbClr val="145A6B"/>
                </a:solidFill>
                <a:latin typeface="Aptos Display"/>
                <a:ea typeface="Aptos Display"/>
                <a:cs typeface="Aptos Display"/>
                <a:sym typeface="Aptos Display"/>
              </a:defRPr>
            </a:lvl1pPr>
          </a:lstStyle>
          <a:p>
            <a:pPr/>
            <a:r>
              <a:t>What I built</a:t>
            </a:r>
          </a:p>
        </p:txBody>
      </p:sp>
      <p:sp>
        <p:nvSpPr>
          <p:cNvPr id="559" name="Text 4"/>
          <p:cNvSpPr txBox="1"/>
          <p:nvPr/>
        </p:nvSpPr>
        <p:spPr>
          <a:xfrm>
            <a:off x="850392" y="1984248"/>
            <a:ext cx="2916936" cy="120700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100">
                <a:solidFill>
                  <a:srgbClr val="1D2A3A"/>
                </a:solidFill>
              </a:defRPr>
            </a:lvl1pPr>
          </a:lstStyle>
          <a:p>
            <a:pPr/>
            <a:r>
              <a:t>22×750 EEG → Sinc filters → dynamic graph → frequency pooling → BiGRU → SE → GRL + SupCon → AdaBN</a:t>
            </a:r>
          </a:p>
        </p:txBody>
      </p:sp>
      <p:sp>
        <p:nvSpPr>
          <p:cNvPr id="560" name="Shape 5"/>
          <p:cNvSpPr/>
          <p:nvPr/>
        </p:nvSpPr>
        <p:spPr>
          <a:xfrm>
            <a:off x="4160520" y="1417319"/>
            <a:ext cx="3246121" cy="1920241"/>
          </a:xfrm>
          <a:prstGeom prst="roundRect">
            <a:avLst>
              <a:gd name="adj" fmla="val 2857"/>
            </a:avLst>
          </a:prstGeom>
          <a:solidFill>
            <a:srgbClr val="EAF8F0"/>
          </a:solidFill>
          <a:ln w="15240">
            <a:solidFill>
              <a:srgbClr val="19A15F"/>
            </a:solidFill>
          </a:ln>
        </p:spPr>
        <p:txBody>
          <a:bodyPr lIns="45719" rIns="45719"/>
          <a:lstStyle/>
          <a:p>
            <a:pPr>
              <a:defRPr b="0" sz="1800">
                <a:solidFill>
                  <a:srgbClr val="000000"/>
                </a:solidFill>
              </a:defRPr>
            </a:pPr>
          </a:p>
        </p:txBody>
      </p:sp>
      <p:sp>
        <p:nvSpPr>
          <p:cNvPr id="561" name="Text 6"/>
          <p:cNvSpPr txBox="1"/>
          <p:nvPr/>
        </p:nvSpPr>
        <p:spPr>
          <a:xfrm>
            <a:off x="4325111" y="1554480"/>
            <a:ext cx="2916937"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600">
                <a:solidFill>
                  <a:srgbClr val="19A15F"/>
                </a:solidFill>
                <a:latin typeface="Aptos Display"/>
                <a:ea typeface="Aptos Display"/>
                <a:cs typeface="Aptos Display"/>
                <a:sym typeface="Aptos Display"/>
              </a:defRPr>
            </a:lvl1pPr>
          </a:lstStyle>
          <a:p>
            <a:pPr/>
            <a:r>
              <a:t>What I demonstrated</a:t>
            </a:r>
          </a:p>
        </p:txBody>
      </p:sp>
      <p:sp>
        <p:nvSpPr>
          <p:cNvPr id="562" name="Text 7"/>
          <p:cNvSpPr txBox="1"/>
          <p:nvPr/>
        </p:nvSpPr>
        <p:spPr>
          <a:xfrm>
            <a:off x="4325111" y="1984248"/>
            <a:ext cx="2916937" cy="120700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defRPr sz="1100">
                <a:solidFill>
                  <a:srgbClr val="1D2A3A"/>
                </a:solidFill>
              </a:defRPr>
            </a:pPr>
            <a:r>
              <a:t>80.44 ± 8.18% accuracy</a:t>
            </a:r>
          </a:p>
          <a:p>
            <a:pPr>
              <a:defRPr sz="1100">
                <a:solidFill>
                  <a:srgbClr val="1D2A3A"/>
                </a:solidFill>
              </a:defRPr>
            </a:pPr>
            <a:r>
              <a:t>κ = 0.6089 ± 0.1635</a:t>
            </a:r>
          </a:p>
          <a:p>
            <a:pPr>
              <a:defRPr sz="1100">
                <a:solidFill>
                  <a:srgbClr val="1D2A3A"/>
                </a:solidFill>
              </a:defRPr>
            </a:pPr>
            <a:r>
              <a:t>ROC-AUC = 0.8964</a:t>
            </a:r>
          </a:p>
          <a:p>
            <a:pPr>
              <a:defRPr sz="1100">
                <a:solidFill>
                  <a:srgbClr val="1D2A3A"/>
                </a:solidFill>
              </a:defRPr>
            </a:pPr>
            <a:r>
              <a:t>10 held-out targets / 450 trials</a:t>
            </a:r>
          </a:p>
        </p:txBody>
      </p:sp>
      <p:sp>
        <p:nvSpPr>
          <p:cNvPr id="563" name="Shape 8"/>
          <p:cNvSpPr/>
          <p:nvPr/>
        </p:nvSpPr>
        <p:spPr>
          <a:xfrm>
            <a:off x="7635240" y="1417319"/>
            <a:ext cx="3246121" cy="1920241"/>
          </a:xfrm>
          <a:prstGeom prst="roundRect">
            <a:avLst>
              <a:gd name="adj" fmla="val 2857"/>
            </a:avLst>
          </a:prstGeom>
          <a:solidFill>
            <a:srgbClr val="FFF3E6"/>
          </a:solidFill>
          <a:ln w="15240">
            <a:solidFill>
              <a:srgbClr val="D98214"/>
            </a:solidFill>
          </a:ln>
        </p:spPr>
        <p:txBody>
          <a:bodyPr lIns="45719" rIns="45719"/>
          <a:lstStyle/>
          <a:p>
            <a:pPr>
              <a:defRPr b="0" sz="1800">
                <a:solidFill>
                  <a:srgbClr val="000000"/>
                </a:solidFill>
              </a:defRPr>
            </a:pPr>
          </a:p>
        </p:txBody>
      </p:sp>
      <p:sp>
        <p:nvSpPr>
          <p:cNvPr id="564" name="Text 9"/>
          <p:cNvSpPr txBox="1"/>
          <p:nvPr/>
        </p:nvSpPr>
        <p:spPr>
          <a:xfrm>
            <a:off x="7799831" y="1554480"/>
            <a:ext cx="2916937"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sz="1600">
                <a:solidFill>
                  <a:srgbClr val="D98214"/>
                </a:solidFill>
                <a:latin typeface="Aptos Display"/>
                <a:ea typeface="Aptos Display"/>
                <a:cs typeface="Aptos Display"/>
                <a:sym typeface="Aptos Display"/>
              </a:defRPr>
            </a:lvl1pPr>
          </a:lstStyle>
          <a:p>
            <a:pPr/>
            <a:r>
              <a:t>What comes next</a:t>
            </a:r>
          </a:p>
        </p:txBody>
      </p:sp>
      <p:sp>
        <p:nvSpPr>
          <p:cNvPr id="565" name="Text 10"/>
          <p:cNvSpPr txBox="1"/>
          <p:nvPr/>
        </p:nvSpPr>
        <p:spPr>
          <a:xfrm>
            <a:off x="7799831" y="1984248"/>
            <a:ext cx="2916937" cy="120700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marL="110289" indent="-110289">
              <a:buSzPct val="100000"/>
              <a:buChar char="•"/>
              <a:defRPr sz="1100">
                <a:solidFill>
                  <a:srgbClr val="1D2A3A"/>
                </a:solidFill>
              </a:defRPr>
            </a:pPr>
            <a:r>
              <a:t>All-subject evaluation</a:t>
            </a:r>
          </a:p>
          <a:p>
            <a:pPr marL="110289" indent="-110289">
              <a:buSzPct val="100000"/>
              <a:buChar char="•"/>
              <a:defRPr sz="1100">
                <a:solidFill>
                  <a:srgbClr val="1D2A3A"/>
                </a:solidFill>
              </a:defRPr>
            </a:pPr>
            <a:r>
              <a:t>Same-protocol baselines</a:t>
            </a:r>
          </a:p>
          <a:p>
            <a:pPr marL="110289" indent="-110289">
              <a:buSzPct val="100000"/>
              <a:buChar char="•"/>
              <a:defRPr sz="1100">
                <a:solidFill>
                  <a:srgbClr val="1D2A3A"/>
                </a:solidFill>
              </a:defRPr>
            </a:pPr>
            <a:r>
              <a:t>Quantify AdaBN contribution</a:t>
            </a:r>
          </a:p>
        </p:txBody>
      </p:sp>
      <p:sp>
        <p:nvSpPr>
          <p:cNvPr id="566" name="Shape 11"/>
          <p:cNvSpPr/>
          <p:nvPr/>
        </p:nvSpPr>
        <p:spPr>
          <a:xfrm>
            <a:off x="1234439" y="3977640"/>
            <a:ext cx="9738361" cy="1078993"/>
          </a:xfrm>
          <a:prstGeom prst="roundRect">
            <a:avLst>
              <a:gd name="adj" fmla="val 5085"/>
            </a:avLst>
          </a:prstGeom>
          <a:solidFill>
            <a:srgbClr val="FFFFFF"/>
          </a:solidFill>
          <a:ln w="12700">
            <a:solidFill>
              <a:srgbClr val="BDD5DE"/>
            </a:solidFill>
          </a:ln>
        </p:spPr>
        <p:txBody>
          <a:bodyPr lIns="45719" rIns="45719"/>
          <a:lstStyle/>
          <a:p>
            <a:pPr>
              <a:defRPr b="0" sz="1800">
                <a:solidFill>
                  <a:srgbClr val="000000"/>
                </a:solidFill>
              </a:defRPr>
            </a:pPr>
          </a:p>
        </p:txBody>
      </p:sp>
      <p:sp>
        <p:nvSpPr>
          <p:cNvPr id="567" name="Text 12"/>
          <p:cNvSpPr txBox="1"/>
          <p:nvPr/>
        </p:nvSpPr>
        <p:spPr>
          <a:xfrm>
            <a:off x="1645920" y="4286503"/>
            <a:ext cx="164592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145A6B"/>
                </a:solidFill>
              </a:defRPr>
            </a:lvl1pPr>
          </a:lstStyle>
          <a:p>
            <a:pPr/>
            <a:r>
              <a:t>Main message</a:t>
            </a:r>
          </a:p>
        </p:txBody>
      </p:sp>
      <p:sp>
        <p:nvSpPr>
          <p:cNvPr id="568" name="Text 13"/>
          <p:cNvSpPr txBox="1"/>
          <p:nvPr/>
        </p:nvSpPr>
        <p:spPr>
          <a:xfrm>
            <a:off x="3520440" y="4187952"/>
            <a:ext cx="6949441" cy="48577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868680">
              <a:defRPr sz="1520">
                <a:solidFill>
                  <a:srgbClr val="17233B"/>
                </a:solidFill>
              </a:defRPr>
            </a:lvl1pPr>
          </a:lstStyle>
          <a:p>
            <a:pPr/>
            <a:r>
              <a:t>Subject-independent EEG classification improves when spectral, spatial, temporal, and subject-domain variation are treated together.</a:t>
            </a:r>
          </a:p>
        </p:txBody>
      </p:sp>
      <p:sp>
        <p:nvSpPr>
          <p:cNvPr id="569" name="Text 14"/>
          <p:cNvSpPr txBox="1"/>
          <p:nvPr/>
        </p:nvSpPr>
        <p:spPr>
          <a:xfrm>
            <a:off x="822959" y="5709411"/>
            <a:ext cx="10607042"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800">
                <a:solidFill>
                  <a:srgbClr val="145A6B"/>
                </a:solidFill>
                <a:latin typeface="Aptos Display"/>
                <a:ea typeface="Aptos Display"/>
                <a:cs typeface="Aptos Display"/>
                <a:sym typeface="Aptos Display"/>
              </a:defRPr>
            </a:lvl1pPr>
          </a:lstStyle>
          <a:p>
            <a:pPr/>
            <a:r>
              <a:t>THANK YOU</a:t>
            </a:r>
          </a:p>
        </p:txBody>
      </p:sp>
      <p:sp>
        <p:nvSpPr>
          <p:cNvPr id="570" name="Text 15"/>
          <p:cNvSpPr txBox="1"/>
          <p:nvPr/>
        </p:nvSpPr>
        <p:spPr>
          <a:xfrm>
            <a:off x="822959" y="6222238"/>
            <a:ext cx="1060704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2748A"/>
                </a:solidFill>
              </a:defRPr>
            </a:lvl1pPr>
          </a:lstStyle>
          <a:p>
            <a:pPr/>
            <a:r>
              <a:t>Questions &amp; Discussion</a:t>
            </a:r>
          </a:p>
        </p:txBody>
      </p:sp>
      <p:sp>
        <p:nvSpPr>
          <p:cNvPr id="571" name="Slide Number Placeholder 0"/>
          <p:cNvSpPr txBox="1"/>
          <p:nvPr>
            <p:ph type="sldNum" sz="quarter" idx="4294967295"/>
          </p:nvPr>
        </p:nvSpPr>
        <p:spPr>
          <a:xfrm>
            <a:off x="11631168" y="6556247"/>
            <a:ext cx="217151" cy="218441"/>
          </a:xfrm>
          <a:prstGeom prst="rect">
            <a:avLst/>
          </a:prstGeom>
          <a:extLst>
            <a:ext uri="{C572A759-6A51-4108-AA02-DFA0A04FC94B}">
              <ma14:wrappingTextBoxFlag xmlns:ma14="http://schemas.microsoft.com/office/mac/drawingml/2011/main" val="1"/>
            </a:ext>
          </a:extLst>
        </p:spPr>
        <p:txBody>
          <a:bodyPr/>
          <a:lstStyle>
            <a:lvl1pPr>
              <a:defRPr>
                <a:solidFill>
                  <a:srgbClr val="6B7F90"/>
                </a:solidFill>
              </a:defRPr>
            </a:lvl1p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F172A"/>
      </a:dk1>
      <a:lt1>
        <a:srgbClr val="F7F9FC"/>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1" baseline="0" cap="none" i="0" spc="0" strike="noStrike" sz="2500" u="none" kumimoji="0" normalizeH="0">
            <a:ln>
              <a:noFill/>
            </a:ln>
            <a:solidFill>
              <a:srgbClr val="0F172A"/>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1" baseline="0" cap="none" i="0" spc="0" strike="noStrike" sz="2500" u="none" kumimoji="0" normalizeH="0">
            <a:ln>
              <a:noFill/>
            </a:ln>
            <a:solidFill>
              <a:srgbClr val="0F172A"/>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